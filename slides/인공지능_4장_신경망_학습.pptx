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sldIdLst>
    <p:sldId id="307" r:id="rId2"/>
    <p:sldId id="335" r:id="rId3"/>
    <p:sldId id="334" r:id="rId4"/>
    <p:sldId id="308" r:id="rId5"/>
    <p:sldId id="309" r:id="rId6"/>
    <p:sldId id="314" r:id="rId7"/>
    <p:sldId id="310" r:id="rId8"/>
    <p:sldId id="313" r:id="rId9"/>
    <p:sldId id="311" r:id="rId10"/>
    <p:sldId id="312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5" r:id="rId21"/>
    <p:sldId id="324" r:id="rId22"/>
    <p:sldId id="326" r:id="rId23"/>
    <p:sldId id="336" r:id="rId24"/>
    <p:sldId id="327" r:id="rId25"/>
    <p:sldId id="328" r:id="rId26"/>
    <p:sldId id="329" r:id="rId27"/>
    <p:sldId id="330" r:id="rId28"/>
    <p:sldId id="331" r:id="rId29"/>
    <p:sldId id="332" r:id="rId30"/>
    <p:sldId id="333" r:id="rId3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6" autoAdjust="0"/>
    <p:restoredTop sz="84494" autoAdjust="0"/>
  </p:normalViewPr>
  <p:slideViewPr>
    <p:cSldViewPr snapToGrid="0">
      <p:cViewPr varScale="1">
        <p:scale>
          <a:sx n="136" d="100"/>
          <a:sy n="136" d="100"/>
        </p:scale>
        <p:origin x="186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42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DA34-7199-4152-B139-CF9C99ABF21A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2495EB55-4F29-4197-95E1-A5B715D579C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34714" y="6426559"/>
            <a:ext cx="367616" cy="365125"/>
          </a:xfrm>
          <a:prstGeom prst="rect">
            <a:avLst/>
          </a:prstGeom>
        </p:spPr>
        <p:txBody>
          <a:bodyPr/>
          <a:lstStyle>
            <a:lvl1pPr>
              <a:defRPr sz="800" b="0"/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17C5-633B-4C85-8C0F-0E8A1B3578B2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2B97-E62C-40A0-B78F-BD701735623C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A5F0-2015-4076-90EE-D70D0B683C4F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9EF0-A209-4797-B9D5-D9993706EC87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7AE1A-575D-498C-BD48-A00EB7F07D65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9C8B1-550D-413E-9D8B-DB541A11345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09ED-21BB-4C37-865B-F256148AE2FA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A5E-0FE9-46B1-A756-698C471C8CE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BF92-FE1E-416A-89CC-B18A2556F97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B1C4F-3B12-4648-A3D5-122AD80BDAD3}" type="datetime1">
              <a:rPr lang="ko-KR" altLang="en-US" smtClean="0"/>
              <a:t>2026-09-28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2219D-F487-4189-9F85-A13E4525EE11}" type="datetime1">
              <a:rPr lang="ko-KR" altLang="en-US" smtClean="0"/>
              <a:t>2026-09-28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BC7AB-AE76-4283-A57E-77851087E2C1}" type="datetime1">
              <a:rPr lang="ko-KR" altLang="en-US" smtClean="0"/>
              <a:t>2026-09-28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46FA3-3ED5-4576-B30E-6778D7DEE8AD}" type="datetime1">
              <a:rPr lang="ko-KR" altLang="en-US" smtClean="0"/>
              <a:t>2026-09-28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44016"/>
            <a:ext cx="7560840" cy="548680"/>
          </a:xfrm>
        </p:spPr>
        <p:txBody>
          <a:bodyPr/>
          <a:lstStyle>
            <a:lvl1pPr algn="l"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179512" y="908720"/>
            <a:ext cx="8784976" cy="5688632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2000" b="0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23994" y="6597352"/>
            <a:ext cx="442392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7AE23-F23F-45CE-9FDB-BBBFA9B01E6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장 신경망 학습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BBFC3-BF9F-42E3-B9B2-F4FD2820DDFC}"/>
              </a:ext>
            </a:extLst>
          </p:cNvPr>
          <p:cNvSpPr txBox="1"/>
          <p:nvPr/>
        </p:nvSpPr>
        <p:spPr>
          <a:xfrm>
            <a:off x="57150" y="6559550"/>
            <a:ext cx="2605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“</a:t>
            </a:r>
            <a:r>
              <a:rPr lang="ko-KR" altLang="en-US" sz="900" dirty="0"/>
              <a:t>밑바닥부터 시작하는 딥러닝</a:t>
            </a:r>
            <a:r>
              <a:rPr lang="en-US" altLang="ko-KR" sz="900" dirty="0"/>
              <a:t>” </a:t>
            </a:r>
            <a:r>
              <a:rPr lang="ko-KR" altLang="en-US" sz="900" dirty="0" err="1"/>
              <a:t>한빛미디어</a:t>
            </a:r>
            <a:r>
              <a:rPr lang="en-US" altLang="ko-KR" sz="900" dirty="0"/>
              <a:t>, 2017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466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21549-7CCC-A0A6-D674-A8CB5A2C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데이터에서 학습한다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79BB4-CA5E-70B3-77B5-8C98EA143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학습</a:t>
            </a:r>
            <a:endParaRPr lang="en-US" altLang="ko-KR" sz="2400" dirty="0"/>
          </a:p>
          <a:p>
            <a:pPr lvl="1"/>
            <a:r>
              <a:rPr lang="ko-KR" altLang="en-US" sz="2000" dirty="0"/>
              <a:t>훈련 데이터로부터 가중치 매개변수의 </a:t>
            </a:r>
            <a:r>
              <a:rPr lang="ko-KR" altLang="en-US" sz="2000" dirty="0" err="1"/>
              <a:t>최적값을</a:t>
            </a:r>
            <a:r>
              <a:rPr lang="ko-KR" altLang="en-US" sz="2000" dirty="0"/>
              <a:t> 자동으로 획득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학습의 지표</a:t>
            </a:r>
            <a:endParaRPr lang="en-US" altLang="ko-KR" sz="2400" dirty="0"/>
          </a:p>
          <a:p>
            <a:pPr lvl="1"/>
            <a:r>
              <a:rPr lang="ko-KR" altLang="en-US" sz="2000" dirty="0"/>
              <a:t>손실 함수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학습의 목표</a:t>
            </a:r>
            <a:endParaRPr lang="en-US" altLang="ko-KR" sz="2400" dirty="0"/>
          </a:p>
          <a:p>
            <a:pPr lvl="1"/>
            <a:r>
              <a:rPr lang="ko-KR" altLang="en-US" sz="2000" dirty="0"/>
              <a:t>손실 함수의 </a:t>
            </a:r>
            <a:r>
              <a:rPr lang="ko-KR" altLang="en-US" sz="2000" dirty="0" err="1"/>
              <a:t>결괏값을</a:t>
            </a:r>
            <a:r>
              <a:rPr lang="ko-KR" altLang="en-US" sz="2000" dirty="0"/>
              <a:t> 가장 작게 만드는 가중치 매개변수를 찾는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C6F8C-123E-CA33-93D7-391CC5B2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3266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CED67-F4D1-7256-39F9-24A083FA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있는 그대로</a:t>
            </a:r>
            <a:r>
              <a:rPr lang="en-US" altLang="ko-KR" dirty="0"/>
              <a:t>’ </a:t>
            </a:r>
            <a:r>
              <a:rPr lang="ko-KR" altLang="en-US" dirty="0"/>
              <a:t>학습</a:t>
            </a:r>
          </a:p>
        </p:txBody>
      </p:sp>
      <p:pic>
        <p:nvPicPr>
          <p:cNvPr id="6" name="내용 개체 틀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413D800-7212-8AE5-8B77-CA34E21F3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16" y="1790657"/>
            <a:ext cx="7468497" cy="372123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097DD5-C103-21B3-7888-DA138A85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9AC99-E73A-EF24-143E-9426EA9AFA70}"/>
              </a:ext>
            </a:extLst>
          </p:cNvPr>
          <p:cNvSpPr txBox="1"/>
          <p:nvPr/>
        </p:nvSpPr>
        <p:spPr>
          <a:xfrm>
            <a:off x="2028825" y="5433313"/>
            <a:ext cx="2915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end-to-end machine learning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EBE100-D032-9DDB-3B5C-1151D3B44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99" y="26211"/>
            <a:ext cx="2706590" cy="187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5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5B953-3AB6-493B-86DE-7F41BC528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800" dirty="0"/>
              <a:t>손실함수 </a:t>
            </a:r>
            <a:r>
              <a:rPr lang="en-US" altLang="ko-KR" sz="2800" dirty="0"/>
              <a:t>– </a:t>
            </a:r>
            <a:r>
              <a:rPr lang="ko-KR" altLang="en-US" sz="2800" dirty="0" err="1"/>
              <a:t>오차제곱합</a:t>
            </a:r>
            <a:r>
              <a:rPr lang="en-US" altLang="ko-KR" sz="2800" dirty="0"/>
              <a:t>(Sum of Squares for Error, SSE)</a:t>
            </a:r>
            <a:endParaRPr lang="ko-KR" altLang="en-US" sz="2800" dirty="0"/>
          </a:p>
        </p:txBody>
      </p:sp>
      <p:pic>
        <p:nvPicPr>
          <p:cNvPr id="10" name="내용 개체 틀 9" descr="텍스트이(가) 표시된 사진&#10;&#10;자동 생성된 설명">
            <a:extLst>
              <a:ext uri="{FF2B5EF4-FFF2-40B4-BE49-F238E27FC236}">
                <a16:creationId xmlns:a16="http://schemas.microsoft.com/office/drawing/2014/main" id="{E5903E84-FA8D-42FC-9684-7FD0B3A51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309" y="867532"/>
            <a:ext cx="3926561" cy="13013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023ED9-6109-4F6F-92C9-B7811152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E6A0B5-43E4-4370-AB9F-3ADE0361EAB8}"/>
              </a:ext>
            </a:extLst>
          </p:cNvPr>
          <p:cNvSpPr txBox="1"/>
          <p:nvPr/>
        </p:nvSpPr>
        <p:spPr>
          <a:xfrm>
            <a:off x="168217" y="1018581"/>
            <a:ext cx="686037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import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numpy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np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def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mean_squared_error</a:t>
            </a:r>
            <a:r>
              <a:rPr lang="ko-KR" altLang="en-US" sz="1400" dirty="0"/>
              <a:t>(</a:t>
            </a:r>
            <a:r>
              <a:rPr lang="ko-KR" altLang="en-US" sz="1400" dirty="0" err="1"/>
              <a:t>y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):</a:t>
            </a:r>
          </a:p>
          <a:p>
            <a:r>
              <a:rPr lang="ko-KR" altLang="en-US" sz="1400" dirty="0"/>
              <a:t> 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0.5 * </a:t>
            </a:r>
            <a:r>
              <a:rPr lang="ko-KR" altLang="en-US" sz="1400" dirty="0" err="1"/>
              <a:t>np.sum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y-t</a:t>
            </a:r>
            <a:r>
              <a:rPr lang="ko-KR" altLang="en-US" sz="1400" dirty="0"/>
              <a:t>)**2)</a:t>
            </a:r>
          </a:p>
          <a:p>
            <a:endParaRPr lang="ko-KR" altLang="en-US" sz="1400" dirty="0"/>
          </a:p>
          <a:p>
            <a:r>
              <a:rPr lang="ko-KR" altLang="en-US" sz="1400" dirty="0"/>
              <a:t>#정답 레이블(원-핫 인코딩)</a:t>
            </a:r>
          </a:p>
          <a:p>
            <a:r>
              <a:rPr lang="ko-KR" altLang="en-US" sz="1400" dirty="0" err="1"/>
              <a:t>t</a:t>
            </a:r>
            <a:r>
              <a:rPr lang="ko-KR" altLang="en-US" sz="1400" dirty="0"/>
              <a:t> = [0, 0, 1, 0, 0, 0, 0, 0, 0, 0]</a:t>
            </a:r>
          </a:p>
          <a:p>
            <a:endParaRPr lang="ko-KR" altLang="en-US" sz="1400" dirty="0"/>
          </a:p>
          <a:p>
            <a:r>
              <a:rPr lang="ko-KR" altLang="en-US" sz="1400" dirty="0"/>
              <a:t>#신경망의 출력 예1: '2'일 확률이 가장 높다고 추정함(0.6)</a:t>
            </a:r>
          </a:p>
          <a:p>
            <a:r>
              <a:rPr lang="ko-KR" altLang="en-US" sz="1400" dirty="0"/>
              <a:t>y1 = [0.1, 0.05, </a:t>
            </a:r>
            <a:r>
              <a:rPr lang="ko-KR" altLang="en-US" sz="1400" dirty="0">
                <a:solidFill>
                  <a:srgbClr val="FF0000"/>
                </a:solidFill>
              </a:rPr>
              <a:t>0.6</a:t>
            </a:r>
            <a:r>
              <a:rPr lang="ko-KR" altLang="en-US" sz="1400" dirty="0"/>
              <a:t>, 0.0, 0.05, 0.1, 0.0, </a:t>
            </a:r>
            <a:r>
              <a:rPr lang="ko-KR" altLang="en-US" sz="1400" dirty="0">
                <a:solidFill>
                  <a:srgbClr val="FF0000"/>
                </a:solidFill>
              </a:rPr>
              <a:t>0.1</a:t>
            </a:r>
            <a:r>
              <a:rPr lang="ko-KR" altLang="en-US" sz="1400" dirty="0"/>
              <a:t>, 0.0, 0.0]</a:t>
            </a:r>
          </a:p>
          <a:p>
            <a:endParaRPr lang="ko-KR" altLang="en-US" sz="1400" dirty="0"/>
          </a:p>
          <a:p>
            <a:r>
              <a:rPr lang="ko-KR" altLang="en-US" sz="1400" dirty="0"/>
              <a:t>#신경망의 출력 예2: '7'일 확률이 가장 높다고 추정함(0.6)</a:t>
            </a:r>
          </a:p>
          <a:p>
            <a:r>
              <a:rPr lang="ko-KR" altLang="en-US" sz="1400" dirty="0"/>
              <a:t>y2 = [0.1, 0.05, </a:t>
            </a:r>
            <a:r>
              <a:rPr lang="ko-KR" altLang="en-US" sz="1400" dirty="0">
                <a:solidFill>
                  <a:srgbClr val="FF0000"/>
                </a:solidFill>
              </a:rPr>
              <a:t>0.1</a:t>
            </a:r>
            <a:r>
              <a:rPr lang="ko-KR" altLang="en-US" sz="1400" dirty="0"/>
              <a:t>, 0.0, 0.05, 0.1, 0.0, </a:t>
            </a:r>
            <a:r>
              <a:rPr lang="ko-KR" altLang="en-US" sz="1400" dirty="0">
                <a:solidFill>
                  <a:srgbClr val="FF0000"/>
                </a:solidFill>
              </a:rPr>
              <a:t>0.6</a:t>
            </a:r>
            <a:r>
              <a:rPr lang="ko-KR" altLang="en-US" sz="1400" dirty="0"/>
              <a:t>, 0.0, 0.0]</a:t>
            </a:r>
          </a:p>
          <a:p>
            <a:endParaRPr lang="ko-KR" altLang="en-US" sz="1400" dirty="0"/>
          </a:p>
          <a:p>
            <a:r>
              <a:rPr lang="ko-KR" altLang="en-US" sz="1400" dirty="0"/>
              <a:t>e1 = </a:t>
            </a:r>
            <a:r>
              <a:rPr lang="ko-KR" altLang="en-US" sz="1400" dirty="0" err="1"/>
              <a:t>mean_squared_error</a:t>
            </a:r>
            <a:r>
              <a:rPr lang="ko-KR" altLang="en-US" sz="1400" dirty="0"/>
              <a:t>(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(y1),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</a:t>
            </a:r>
            <a:r>
              <a:rPr lang="ko-KR" altLang="en-US" sz="1400" dirty="0" err="1"/>
              <a:t>t</a:t>
            </a:r>
            <a:r>
              <a:rPr lang="ko-KR" altLang="en-US" sz="1400" dirty="0"/>
              <a:t>))</a:t>
            </a:r>
          </a:p>
          <a:p>
            <a:r>
              <a:rPr lang="ko-KR" altLang="en-US" sz="1400" dirty="0"/>
              <a:t>e2 = </a:t>
            </a:r>
            <a:r>
              <a:rPr lang="ko-KR" altLang="en-US" sz="1400" dirty="0" err="1"/>
              <a:t>mean_squared_error</a:t>
            </a:r>
            <a:r>
              <a:rPr lang="ko-KR" altLang="en-US" sz="1400" dirty="0"/>
              <a:t>(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(y2), </a:t>
            </a:r>
            <a:r>
              <a:rPr lang="ko-KR" altLang="en-US" sz="1400" dirty="0" err="1"/>
              <a:t>np.array</a:t>
            </a:r>
            <a:r>
              <a:rPr lang="ko-KR" altLang="en-US" sz="1400" dirty="0"/>
              <a:t>(</a:t>
            </a:r>
            <a:r>
              <a:rPr lang="ko-KR" altLang="en-US" sz="1400" dirty="0" err="1"/>
              <a:t>t</a:t>
            </a:r>
            <a:r>
              <a:rPr lang="ko-KR" altLang="en-US" sz="1400" dirty="0"/>
              <a:t>))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print</a:t>
            </a:r>
            <a:r>
              <a:rPr lang="ko-KR" altLang="en-US" sz="1400" dirty="0"/>
              <a:t>(e1)</a:t>
            </a:r>
          </a:p>
          <a:p>
            <a:r>
              <a:rPr lang="ko-KR" altLang="en-US" sz="1400" dirty="0" err="1"/>
              <a:t>print</a:t>
            </a:r>
            <a:r>
              <a:rPr lang="ko-KR" altLang="en-US" sz="1400" dirty="0"/>
              <a:t>(e2)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E6EF2D-E0E9-421E-8526-10C9251CC29B}"/>
              </a:ext>
            </a:extLst>
          </p:cNvPr>
          <p:cNvSpPr txBox="1"/>
          <p:nvPr/>
        </p:nvSpPr>
        <p:spPr>
          <a:xfrm>
            <a:off x="4824249" y="5656668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 err="1"/>
              <a:t>평균제곱오차를</a:t>
            </a:r>
            <a:r>
              <a:rPr lang="ko-KR" altLang="en-US" sz="1600" dirty="0"/>
              <a:t> 기준으로 첫 번째 추정 결과가 오차가 더 작으므로 정답에 더 가까울 것으로 판단할 수 있음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2EDBDC-22FD-4FF6-B7B4-034D99115C4E}"/>
              </a:ext>
            </a:extLst>
          </p:cNvPr>
          <p:cNvSpPr txBox="1"/>
          <p:nvPr/>
        </p:nvSpPr>
        <p:spPr>
          <a:xfrm>
            <a:off x="168217" y="5516253"/>
            <a:ext cx="4619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0.09750000000000003</a:t>
            </a:r>
          </a:p>
          <a:p>
            <a:r>
              <a:rPr lang="ko-KR" altLang="en-US" dirty="0"/>
              <a:t>0.5975</a:t>
            </a:r>
          </a:p>
        </p:txBody>
      </p:sp>
    </p:spTree>
    <p:extLst>
      <p:ext uri="{BB962C8B-B14F-4D97-AF65-F5344CB8AC3E}">
        <p14:creationId xmlns:p14="http://schemas.microsoft.com/office/powerpoint/2010/main" val="2675915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0324E-902C-4248-99DC-D9B3B6EB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손실함수 </a:t>
            </a:r>
            <a:r>
              <a:rPr lang="en-US" altLang="ko-KR" sz="2400" dirty="0"/>
              <a:t>– </a:t>
            </a:r>
            <a:r>
              <a:rPr lang="ko-KR" altLang="en-US" sz="2400" dirty="0"/>
              <a:t>교차 엔트로피 오차 </a:t>
            </a:r>
            <a:r>
              <a:rPr lang="en-US" altLang="ko-KR" sz="2400" dirty="0"/>
              <a:t>(Cross Entropy Error, CEE)</a:t>
            </a:r>
            <a:endParaRPr lang="ko-KR" altLang="en-US" sz="2400" dirty="0"/>
          </a:p>
        </p:txBody>
      </p:sp>
      <p:pic>
        <p:nvPicPr>
          <p:cNvPr id="6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5F58B1F1-B2B6-4C5E-8330-01182E99E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200" y="965915"/>
            <a:ext cx="3324514" cy="104260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4598E-FE2B-4999-8F13-7DED0980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674CD2-7D55-45F8-994B-4D7A0F229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465" y="2129692"/>
            <a:ext cx="3586057" cy="2814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F1E177-0365-47EB-90DE-C5A4186DCA15}"/>
              </a:ext>
            </a:extLst>
          </p:cNvPr>
          <p:cNvSpPr txBox="1"/>
          <p:nvPr/>
        </p:nvSpPr>
        <p:spPr>
          <a:xfrm>
            <a:off x="201799" y="1201918"/>
            <a:ext cx="65631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def</a:t>
            </a:r>
            <a:r>
              <a:rPr lang="ko-KR" altLang="en-US" dirty="0"/>
              <a:t> </a:t>
            </a:r>
            <a:r>
              <a:rPr lang="ko-KR" altLang="en-US" dirty="0" err="1"/>
              <a:t>cross_entropy_error</a:t>
            </a:r>
            <a:r>
              <a:rPr lang="ko-KR" altLang="en-US" dirty="0"/>
              <a:t>(</a:t>
            </a:r>
            <a:r>
              <a:rPr lang="ko-KR" altLang="en-US" dirty="0" err="1"/>
              <a:t>y</a:t>
            </a:r>
            <a:r>
              <a:rPr lang="ko-KR" altLang="en-US" dirty="0"/>
              <a:t>, </a:t>
            </a:r>
            <a:r>
              <a:rPr lang="ko-KR" altLang="en-US" dirty="0" err="1"/>
              <a:t>t</a:t>
            </a:r>
            <a:r>
              <a:rPr lang="ko-KR" altLang="en-US" dirty="0"/>
              <a:t>):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delta</a:t>
            </a:r>
            <a:r>
              <a:rPr lang="ko-KR" altLang="en-US" dirty="0"/>
              <a:t> = 1e-7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return</a:t>
            </a:r>
            <a:r>
              <a:rPr lang="ko-KR" altLang="en-US" dirty="0"/>
              <a:t> -</a:t>
            </a:r>
            <a:r>
              <a:rPr lang="ko-KR" altLang="en-US" dirty="0" err="1"/>
              <a:t>np.sum</a:t>
            </a:r>
            <a:r>
              <a:rPr lang="ko-KR" altLang="en-US" dirty="0"/>
              <a:t>(</a:t>
            </a:r>
            <a:r>
              <a:rPr lang="ko-KR" altLang="en-US" dirty="0" err="1"/>
              <a:t>t</a:t>
            </a:r>
            <a:r>
              <a:rPr lang="ko-KR" altLang="en-US" dirty="0"/>
              <a:t> * </a:t>
            </a:r>
            <a:r>
              <a:rPr lang="ko-KR" altLang="en-US" dirty="0" err="1"/>
              <a:t>np.log</a:t>
            </a:r>
            <a:r>
              <a:rPr lang="ko-KR" altLang="en-US" dirty="0"/>
              <a:t>(</a:t>
            </a:r>
            <a:r>
              <a:rPr lang="ko-KR" altLang="en-US" dirty="0" err="1"/>
              <a:t>y</a:t>
            </a:r>
            <a:r>
              <a:rPr lang="ko-KR" altLang="en-US" dirty="0"/>
              <a:t> + </a:t>
            </a:r>
            <a:r>
              <a:rPr lang="ko-KR" altLang="en-US" dirty="0" err="1"/>
              <a:t>delta</a:t>
            </a:r>
            <a:r>
              <a:rPr lang="ko-KR" altLang="en-US" dirty="0"/>
              <a:t>))</a:t>
            </a:r>
          </a:p>
          <a:p>
            <a:endParaRPr lang="ko-KR" altLang="en-US" dirty="0"/>
          </a:p>
          <a:p>
            <a:r>
              <a:rPr lang="ko-KR" altLang="en-US" dirty="0"/>
              <a:t>e1 = </a:t>
            </a:r>
            <a:r>
              <a:rPr lang="ko-KR" altLang="en-US" dirty="0" err="1"/>
              <a:t>cross_entropy_error</a:t>
            </a:r>
            <a:r>
              <a:rPr lang="ko-KR" altLang="en-US" dirty="0"/>
              <a:t>(</a:t>
            </a:r>
            <a:r>
              <a:rPr lang="ko-KR" altLang="en-US" dirty="0" err="1"/>
              <a:t>np.array</a:t>
            </a:r>
            <a:r>
              <a:rPr lang="ko-KR" altLang="en-US" dirty="0"/>
              <a:t>(y1), </a:t>
            </a:r>
            <a:r>
              <a:rPr lang="ko-KR" altLang="en-US" dirty="0" err="1"/>
              <a:t>np.array</a:t>
            </a:r>
            <a:r>
              <a:rPr lang="ko-KR" altLang="en-US" dirty="0"/>
              <a:t>(</a:t>
            </a:r>
            <a:r>
              <a:rPr lang="ko-KR" altLang="en-US" dirty="0" err="1"/>
              <a:t>t</a:t>
            </a:r>
            <a:r>
              <a:rPr lang="ko-KR" altLang="en-US" dirty="0"/>
              <a:t>))</a:t>
            </a:r>
          </a:p>
          <a:p>
            <a:r>
              <a:rPr lang="ko-KR" altLang="en-US" dirty="0"/>
              <a:t>e2 = </a:t>
            </a:r>
            <a:r>
              <a:rPr lang="ko-KR" altLang="en-US" dirty="0" err="1"/>
              <a:t>cross_entropy_error</a:t>
            </a:r>
            <a:r>
              <a:rPr lang="ko-KR" altLang="en-US" dirty="0"/>
              <a:t>(</a:t>
            </a:r>
            <a:r>
              <a:rPr lang="ko-KR" altLang="en-US" dirty="0" err="1"/>
              <a:t>np.array</a:t>
            </a:r>
            <a:r>
              <a:rPr lang="ko-KR" altLang="en-US" dirty="0"/>
              <a:t>(y2), </a:t>
            </a:r>
            <a:r>
              <a:rPr lang="ko-KR" altLang="en-US" dirty="0" err="1"/>
              <a:t>np.array</a:t>
            </a:r>
            <a:r>
              <a:rPr lang="ko-KR" altLang="en-US" dirty="0"/>
              <a:t>(</a:t>
            </a:r>
            <a:r>
              <a:rPr lang="ko-KR" altLang="en-US" dirty="0" err="1"/>
              <a:t>t</a:t>
            </a:r>
            <a:r>
              <a:rPr lang="ko-KR" altLang="en-US" dirty="0"/>
              <a:t>))</a:t>
            </a:r>
          </a:p>
          <a:p>
            <a:endParaRPr lang="ko-KR" altLang="en-US" dirty="0"/>
          </a:p>
          <a:p>
            <a:r>
              <a:rPr lang="ko-KR" altLang="en-US" dirty="0" err="1"/>
              <a:t>print</a:t>
            </a:r>
            <a:r>
              <a:rPr lang="ko-KR" altLang="en-US" dirty="0"/>
              <a:t>(e1)</a:t>
            </a:r>
          </a:p>
          <a:p>
            <a:r>
              <a:rPr lang="ko-KR" altLang="en-US" dirty="0" err="1"/>
              <a:t>print</a:t>
            </a:r>
            <a:r>
              <a:rPr lang="ko-KR" altLang="en-US" dirty="0"/>
              <a:t>(e2)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6699A3-A3B3-427C-A69B-4DD0986ECA37}"/>
              </a:ext>
            </a:extLst>
          </p:cNvPr>
          <p:cNvSpPr txBox="1"/>
          <p:nvPr/>
        </p:nvSpPr>
        <p:spPr>
          <a:xfrm>
            <a:off x="272743" y="4132170"/>
            <a:ext cx="46192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0.510825457099338</a:t>
            </a:r>
          </a:p>
          <a:p>
            <a:r>
              <a:rPr lang="ko-KR" altLang="en-US" dirty="0"/>
              <a:t>2.302584092994546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E6936-AEC4-9E77-A405-5166D1BA8B37}"/>
              </a:ext>
            </a:extLst>
          </p:cNvPr>
          <p:cNvSpPr txBox="1"/>
          <p:nvPr/>
        </p:nvSpPr>
        <p:spPr>
          <a:xfrm>
            <a:off x="3800475" y="5065243"/>
            <a:ext cx="495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정답에 해당하는 출력이 커질수록 </a:t>
            </a:r>
            <a:r>
              <a:rPr lang="en-US" altLang="ko-KR" dirty="0"/>
              <a:t>0</a:t>
            </a:r>
            <a:r>
              <a:rPr lang="ko-KR" altLang="en-US" dirty="0"/>
              <a:t>에 </a:t>
            </a:r>
            <a:r>
              <a:rPr lang="ko-KR" altLang="en-US" dirty="0" err="1"/>
              <a:t>가까워짐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06F83FB-E6AD-9B39-06E3-0F710793561F}"/>
              </a:ext>
            </a:extLst>
          </p:cNvPr>
          <p:cNvCxnSpPr>
            <a:cxnSpLocks/>
          </p:cNvCxnSpPr>
          <p:nvPr/>
        </p:nvCxnSpPr>
        <p:spPr>
          <a:xfrm flipH="1">
            <a:off x="2882685" y="1133428"/>
            <a:ext cx="1136542" cy="731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B08789-3C5E-08F9-9FC7-F4F17651C792}"/>
              </a:ext>
            </a:extLst>
          </p:cNvPr>
          <p:cNvSpPr txBox="1"/>
          <p:nvPr/>
        </p:nvSpPr>
        <p:spPr>
          <a:xfrm>
            <a:off x="3164681" y="768376"/>
            <a:ext cx="430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</a:t>
            </a:r>
            <a:r>
              <a:rPr lang="ko-KR" altLang="en-US" dirty="0"/>
              <a:t>함수에 </a:t>
            </a:r>
            <a:r>
              <a:rPr lang="en-US" altLang="ko-KR" dirty="0"/>
              <a:t>0</a:t>
            </a:r>
            <a:r>
              <a:rPr lang="ko-KR" altLang="en-US" dirty="0"/>
              <a:t>을 입력하면 마이너스 무한대</a:t>
            </a:r>
          </a:p>
        </p:txBody>
      </p:sp>
    </p:spTree>
    <p:extLst>
      <p:ext uri="{BB962C8B-B14F-4D97-AF65-F5344CB8AC3E}">
        <p14:creationId xmlns:p14="http://schemas.microsoft.com/office/powerpoint/2010/main" val="88590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1CD4B-855E-406C-8344-7969A015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손실함수를 사용하는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D52104-ACD7-4753-88B7-006DB161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5478038"/>
            <a:ext cx="8850201" cy="8583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인공신경망 학습의 궁극적인 목표는 높은 </a:t>
            </a:r>
            <a:r>
              <a:rPr lang="ko-KR" altLang="en-US" sz="2400" dirty="0">
                <a:solidFill>
                  <a:srgbClr val="FF0000"/>
                </a:solidFill>
              </a:rPr>
              <a:t>정확률</a:t>
            </a:r>
            <a:r>
              <a:rPr lang="ko-KR" altLang="en-US" sz="2400" dirty="0"/>
              <a:t>을 끌어내는 매개변수의 값을 찾는 것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3F695-AC2A-4BA2-A7F2-EAC47B48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20E63E-A4DE-433A-AE48-29F59C908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87" y="1144084"/>
            <a:ext cx="8195427" cy="3651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F773EC-CC1F-4C7A-87B4-7E954D2E4EB2}"/>
              </a:ext>
            </a:extLst>
          </p:cNvPr>
          <p:cNvSpPr txBox="1"/>
          <p:nvPr/>
        </p:nvSpPr>
        <p:spPr>
          <a:xfrm>
            <a:off x="96170" y="6426559"/>
            <a:ext cx="46192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https://www.kakaobrain.com/blog/113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786730F-2082-43E8-9CC0-871D9A826F39}"/>
              </a:ext>
            </a:extLst>
          </p:cNvPr>
          <p:cNvCxnSpPr>
            <a:cxnSpLocks/>
          </p:cNvCxnSpPr>
          <p:nvPr/>
        </p:nvCxnSpPr>
        <p:spPr>
          <a:xfrm flipV="1">
            <a:off x="4537000" y="3429000"/>
            <a:ext cx="1223720" cy="14738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12EFA0F-4099-45A4-8AEF-19C0ED7E6998}"/>
              </a:ext>
            </a:extLst>
          </p:cNvPr>
          <p:cNvSpPr txBox="1"/>
          <p:nvPr/>
        </p:nvSpPr>
        <p:spPr>
          <a:xfrm>
            <a:off x="3451072" y="4902873"/>
            <a:ext cx="5183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i="1" dirty="0"/>
              <a:t>왜 손실함수 대신에 정확률을 사용하지 않는지</a:t>
            </a:r>
            <a:r>
              <a:rPr lang="en-US" altLang="ko-KR" i="1" dirty="0"/>
              <a:t>?</a:t>
            </a:r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594572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23C144-6ED9-4729-A9EE-E67726C6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손실함수를 사용하는 이유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64371-438B-40A7-934E-581753BAE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2400" dirty="0"/>
              <a:t>정확률의 한계</a:t>
            </a:r>
            <a:endParaRPr lang="en-US" altLang="ko-KR" sz="2400" dirty="0"/>
          </a:p>
          <a:p>
            <a:pPr lvl="1" algn="just">
              <a:lnSpc>
                <a:spcPct val="120000"/>
              </a:lnSpc>
            </a:pPr>
            <a:r>
              <a:rPr lang="ko-KR" altLang="ko-KR" sz="2000" b="1" dirty="0"/>
              <a:t>변화에 둔감함:</a:t>
            </a:r>
            <a:r>
              <a:rPr lang="ko-KR" altLang="ko-KR" sz="2000" dirty="0"/>
              <a:t> 모델이 개 사진을 51%의 확신으로 '</a:t>
            </a:r>
            <a:r>
              <a:rPr lang="ko-KR" altLang="ko-KR" sz="2000" dirty="0" err="1"/>
              <a:t>개'라고</a:t>
            </a:r>
            <a:r>
              <a:rPr lang="ko-KR" altLang="ko-KR" sz="2000" dirty="0"/>
              <a:t> 예측하든, 99%의 확신으로 예측하든 정확도 입장에서는 똑같은 "1건 정답". 반대로 99% 확신에서 51%로 모델의 성능이 크게 떨어졌어도, 여전히 '</a:t>
            </a:r>
            <a:r>
              <a:rPr lang="ko-KR" altLang="ko-KR" sz="2000" dirty="0" err="1"/>
              <a:t>개'로</a:t>
            </a:r>
            <a:r>
              <a:rPr lang="ko-KR" altLang="ko-KR" sz="2000" dirty="0"/>
              <a:t> 분류했다면 정확도는 변하지 않</a:t>
            </a:r>
            <a:r>
              <a:rPr lang="ko-KR" altLang="en-US" sz="2000" dirty="0"/>
              <a:t>음</a:t>
            </a:r>
            <a:endParaRPr lang="en-US" altLang="ko-KR" sz="2000" dirty="0"/>
          </a:p>
          <a:p>
            <a:pPr algn="just">
              <a:lnSpc>
                <a:spcPct val="120000"/>
              </a:lnSpc>
            </a:pPr>
            <a:endParaRPr lang="en-US" altLang="ko-KR" sz="2400" dirty="0"/>
          </a:p>
          <a:p>
            <a:pPr algn="just">
              <a:lnSpc>
                <a:spcPct val="120000"/>
              </a:lnSpc>
            </a:pPr>
            <a:r>
              <a:rPr lang="ko-KR" altLang="en-US" sz="2400" dirty="0"/>
              <a:t>손실함수의 장점</a:t>
            </a:r>
            <a:endParaRPr lang="en-US" altLang="ko-KR" sz="2400" dirty="0"/>
          </a:p>
          <a:p>
            <a:pPr lvl="1" algn="just">
              <a:lnSpc>
                <a:spcPct val="120000"/>
              </a:lnSpc>
            </a:pPr>
            <a:r>
              <a:rPr lang="ko-KR" altLang="ko-KR" sz="2000" b="1" dirty="0"/>
              <a:t>미세한 변화 감지:</a:t>
            </a:r>
            <a:r>
              <a:rPr lang="ko-KR" altLang="ko-KR" sz="2000" dirty="0"/>
              <a:t> 99% 확신이 51%로 떨어지면, 손실함수의 값은 크게 증가. 비록 정답을 맞혔더라도 모델이 얼마나 불안정하게 맞혔는지를 수치로 페널티를 부여.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5F265-46C8-4131-8BB1-132B19245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048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D7E8C8-1BED-4D71-8363-36A8B31C6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인공신경망 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7ACDDE-9DB6-46B1-84AA-469CE06CE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1600" dirty="0"/>
              <a:t>손실함수의 값을 가능한 한 작게 하는 매개변수의 값을 찾는 과정</a:t>
            </a:r>
            <a:endParaRPr lang="en-US" altLang="ko-KR" sz="1600" dirty="0"/>
          </a:p>
          <a:p>
            <a:pPr algn="just">
              <a:lnSpc>
                <a:spcPct val="100000"/>
              </a:lnSpc>
            </a:pP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매개변수의 미분</a:t>
            </a:r>
            <a:r>
              <a:rPr lang="en-US" altLang="ko-KR" sz="1600" dirty="0"/>
              <a:t>(</a:t>
            </a:r>
            <a:r>
              <a:rPr lang="ko-KR" altLang="en-US" sz="1600" dirty="0"/>
              <a:t>기울기</a:t>
            </a:r>
            <a:r>
              <a:rPr lang="en-US" altLang="ko-KR" sz="1600" dirty="0"/>
              <a:t>)</a:t>
            </a:r>
            <a:r>
              <a:rPr lang="ko-KR" altLang="en-US" sz="1600" dirty="0"/>
              <a:t>를 계산하고</a:t>
            </a:r>
            <a:r>
              <a:rPr lang="en-US" altLang="ko-KR" sz="1600" dirty="0"/>
              <a:t>, </a:t>
            </a:r>
            <a:r>
              <a:rPr lang="ko-KR" altLang="en-US" sz="1600" dirty="0"/>
              <a:t>그 미분 값을 단서로 매개변수의 값을 서서히 갱신하는 과정을 반복</a:t>
            </a:r>
            <a:endParaRPr lang="en-US" altLang="ko-KR" sz="1600" dirty="0"/>
          </a:p>
          <a:p>
            <a:pPr algn="just">
              <a:lnSpc>
                <a:spcPct val="100000"/>
              </a:lnSpc>
            </a:pP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미분 값이 양수</a:t>
            </a:r>
            <a:r>
              <a:rPr lang="en-US" altLang="ko-KR" sz="1600" dirty="0"/>
              <a:t>/</a:t>
            </a:r>
            <a:r>
              <a:rPr lang="ko-KR" altLang="en-US" sz="1600" dirty="0"/>
              <a:t>음수이면 매개변수를 양</a:t>
            </a:r>
            <a:r>
              <a:rPr lang="en-US" altLang="ko-KR" sz="1600" dirty="0"/>
              <a:t>/</a:t>
            </a:r>
            <a:r>
              <a:rPr lang="ko-KR" altLang="en-US" sz="1600" dirty="0"/>
              <a:t>음의 방향으로 갱신하여 손실함수의 값을 줄임</a:t>
            </a:r>
            <a:endParaRPr lang="en-US" altLang="ko-KR" sz="16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미분 값이 </a:t>
            </a:r>
            <a:r>
              <a:rPr lang="en-US" altLang="ko-KR" sz="1600" dirty="0"/>
              <a:t>0</a:t>
            </a:r>
            <a:r>
              <a:rPr lang="ko-KR" altLang="en-US" sz="1600" dirty="0"/>
              <a:t>이면 매개변수를 양</a:t>
            </a:r>
            <a:r>
              <a:rPr lang="en-US" altLang="ko-KR" sz="1600" dirty="0"/>
              <a:t>/</a:t>
            </a:r>
            <a:r>
              <a:rPr lang="ko-KR" altLang="en-US" sz="1600" dirty="0"/>
              <a:t>음의 방향으로 갱신해도 손실함수의 값은 달라지지 않음</a:t>
            </a:r>
            <a:endParaRPr lang="en-US" altLang="ko-KR" sz="1600" dirty="0"/>
          </a:p>
          <a:p>
            <a:pPr lvl="1" algn="just">
              <a:lnSpc>
                <a:spcPct val="100000"/>
              </a:lnSpc>
            </a:pPr>
            <a:endParaRPr lang="en-US" altLang="ko-KR" sz="1400" dirty="0"/>
          </a:p>
          <a:p>
            <a:pPr algn="just">
              <a:lnSpc>
                <a:spcPct val="100000"/>
              </a:lnSpc>
            </a:pPr>
            <a:r>
              <a:rPr lang="ko-KR" altLang="en-US" sz="1600" dirty="0"/>
              <a:t>정확률의 경우 미분 값이 대부분의 장소에서 </a:t>
            </a:r>
            <a:r>
              <a:rPr lang="en-US" altLang="ko-KR" sz="1600" dirty="0"/>
              <a:t>0</a:t>
            </a:r>
            <a:r>
              <a:rPr lang="ko-KR" altLang="en-US" sz="1600" dirty="0"/>
              <a:t>이 되어 매개변수를 갱신할 수 없음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1FFAD0-C3F9-4692-8052-7F9F317C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085DB3-2C16-31D4-7AE6-80ED7595A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5" y="4189623"/>
            <a:ext cx="6660103" cy="256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51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DCD64-583B-4160-8B9D-12E4894B5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B0739-B546-4555-AC53-2B62B9D67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ko-KR" sz="2000" dirty="0"/>
              <a:t>10</a:t>
            </a:r>
            <a:r>
              <a:rPr lang="ko-KR" altLang="en-US" sz="2000" dirty="0"/>
              <a:t>분에 </a:t>
            </a:r>
            <a:r>
              <a:rPr lang="en-US" altLang="ko-KR" sz="2000" dirty="0"/>
              <a:t>2km</a:t>
            </a:r>
            <a:r>
              <a:rPr lang="ko-KR" altLang="en-US" sz="2000" dirty="0"/>
              <a:t>를 이동할 경우 속도는 </a:t>
            </a:r>
            <a:r>
              <a:rPr lang="en-US" altLang="ko-KR" sz="2000" dirty="0"/>
              <a:t>2 / 10 = 0.2 [km/</a:t>
            </a:r>
            <a:r>
              <a:rPr lang="ko-KR" altLang="en-US" sz="2000" dirty="0"/>
              <a:t>분</a:t>
            </a:r>
            <a:r>
              <a:rPr lang="en-US" altLang="ko-KR" sz="2000" dirty="0"/>
              <a:t>]</a:t>
            </a:r>
          </a:p>
          <a:p>
            <a:pPr algn="just">
              <a:lnSpc>
                <a:spcPct val="100000"/>
              </a:lnSpc>
            </a:pPr>
            <a:r>
              <a:rPr lang="ko-KR" altLang="en-US" sz="2000" dirty="0"/>
              <a:t>즉</a:t>
            </a:r>
            <a:r>
              <a:rPr lang="en-US" altLang="ko-KR" sz="2000" dirty="0"/>
              <a:t>, 1</a:t>
            </a:r>
            <a:r>
              <a:rPr lang="ko-KR" altLang="en-US" sz="2000" dirty="0"/>
              <a:t>분에 </a:t>
            </a:r>
            <a:r>
              <a:rPr lang="en-US" altLang="ko-KR" sz="2000" dirty="0"/>
              <a:t>0.2km</a:t>
            </a:r>
            <a:r>
              <a:rPr lang="ko-KR" altLang="en-US" sz="2000" dirty="0"/>
              <a:t>만큼의 변화로 이동</a:t>
            </a:r>
            <a:endParaRPr lang="en-US" altLang="ko-KR" sz="2000" dirty="0"/>
          </a:p>
          <a:p>
            <a:pPr lvl="1" algn="just">
              <a:lnSpc>
                <a:spcPct val="100000"/>
              </a:lnSpc>
            </a:pPr>
            <a:r>
              <a:rPr lang="en-US" altLang="ko-KR" sz="1800" dirty="0"/>
              <a:t>10</a:t>
            </a:r>
            <a:r>
              <a:rPr lang="ko-KR" altLang="en-US" sz="1800" dirty="0"/>
              <a:t>분 동안의 평균 속도</a:t>
            </a:r>
            <a:endParaRPr lang="en-US" altLang="ko-KR" sz="1800" dirty="0"/>
          </a:p>
          <a:p>
            <a:pPr algn="just">
              <a:lnSpc>
                <a:spcPct val="100000"/>
              </a:lnSpc>
            </a:pPr>
            <a:endParaRPr lang="en-US" altLang="ko-KR" sz="2000" dirty="0"/>
          </a:p>
          <a:p>
            <a:pPr algn="just">
              <a:lnSpc>
                <a:spcPct val="100000"/>
              </a:lnSpc>
            </a:pPr>
            <a:r>
              <a:rPr lang="ko-KR" altLang="en-US" sz="2000" dirty="0"/>
              <a:t>미분은 특정 순간의 변화량으로</a:t>
            </a:r>
            <a:r>
              <a:rPr lang="en-US" altLang="ko-KR" sz="2000" dirty="0"/>
              <a:t>, 10</a:t>
            </a:r>
            <a:r>
              <a:rPr lang="ko-KR" altLang="en-US" sz="2000" dirty="0"/>
              <a:t>분이라는 시간을 가능한 한 줄여 한 순간의 변화량 계산</a:t>
            </a:r>
            <a:endParaRPr lang="en-US" altLang="ko-KR" sz="2000" dirty="0"/>
          </a:p>
          <a:p>
            <a:pPr lvl="1" algn="just">
              <a:lnSpc>
                <a:spcPct val="100000"/>
              </a:lnSpc>
            </a:pPr>
            <a:r>
              <a:rPr lang="ko-KR" altLang="en-US" sz="1800" dirty="0"/>
              <a:t>직전 </a:t>
            </a:r>
            <a:r>
              <a:rPr lang="en-US" altLang="ko-KR" sz="1800" dirty="0"/>
              <a:t>1</a:t>
            </a:r>
            <a:r>
              <a:rPr lang="ko-KR" altLang="en-US" sz="1800" dirty="0"/>
              <a:t>분에 달린 거리</a:t>
            </a:r>
            <a:r>
              <a:rPr lang="en-US" altLang="ko-KR" sz="1800" dirty="0"/>
              <a:t>, </a:t>
            </a:r>
            <a:r>
              <a:rPr lang="ko-KR" altLang="en-US" sz="1800" dirty="0"/>
              <a:t>직전 </a:t>
            </a:r>
            <a:r>
              <a:rPr lang="en-US" altLang="ko-KR" sz="1800" dirty="0"/>
              <a:t>1</a:t>
            </a:r>
            <a:r>
              <a:rPr lang="ko-KR" altLang="en-US" sz="1800" dirty="0"/>
              <a:t>초에 달린 거리</a:t>
            </a:r>
            <a:r>
              <a:rPr lang="en-US" altLang="ko-KR" sz="1800" dirty="0"/>
              <a:t>, </a:t>
            </a:r>
            <a:r>
              <a:rPr lang="ko-KR" altLang="en-US" sz="1800" dirty="0"/>
              <a:t>직전 </a:t>
            </a:r>
            <a:r>
              <a:rPr lang="en-US" altLang="ko-KR" sz="1800" dirty="0"/>
              <a:t>0.1</a:t>
            </a:r>
            <a:r>
              <a:rPr lang="ko-KR" altLang="en-US" sz="1800" dirty="0"/>
              <a:t>초에 달린 거리</a:t>
            </a:r>
            <a:r>
              <a:rPr lang="en-US" altLang="ko-KR" sz="1800" dirty="0"/>
              <a:t>, …</a:t>
            </a:r>
          </a:p>
          <a:p>
            <a:pPr algn="just">
              <a:lnSpc>
                <a:spcPct val="100000"/>
              </a:lnSpc>
            </a:pPr>
            <a:endParaRPr lang="en-US" altLang="ko-KR" sz="2000" dirty="0"/>
          </a:p>
          <a:p>
            <a:pPr algn="just">
              <a:lnSpc>
                <a:spcPct val="100000"/>
              </a:lnSpc>
            </a:pPr>
            <a:endParaRPr lang="en-US" altLang="ko-KR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459044-BC30-4F53-A157-C763FC36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15FC780-EA5C-4D6E-8B4A-13E8E7AC8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722" y="4116476"/>
            <a:ext cx="3200564" cy="7493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5E823A6-13EA-A799-AED7-994CD7F7AB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5" y="3764408"/>
            <a:ext cx="3200564" cy="26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7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CF7BA-DCD3-4061-91E0-5968517F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수치 미분</a:t>
            </a:r>
            <a:r>
              <a:rPr lang="en-US" altLang="ko-KR" dirty="0"/>
              <a:t>(</a:t>
            </a:r>
            <a:r>
              <a:rPr lang="ko-KR" altLang="en-US" dirty="0"/>
              <a:t>근사치로 계산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80DC0-EF5C-4E77-BA88-84762C1BA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2585544"/>
            <a:ext cx="8850201" cy="375086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/>
              <a:t>문제 </a:t>
            </a:r>
            <a:r>
              <a:rPr lang="en-US" altLang="ko-KR" sz="2000" dirty="0"/>
              <a:t>#1: </a:t>
            </a:r>
            <a:r>
              <a:rPr lang="ko-KR" altLang="en-US" sz="2000" dirty="0"/>
              <a:t>반올림 오차</a:t>
            </a:r>
            <a:r>
              <a:rPr lang="en-US" altLang="ko-KR" sz="2000" dirty="0"/>
              <a:t>(rounding error)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작은 값</a:t>
            </a:r>
            <a:r>
              <a:rPr lang="en-US" altLang="ko-KR" sz="1800" dirty="0"/>
              <a:t>(</a:t>
            </a:r>
            <a:r>
              <a:rPr lang="ko-KR" altLang="en-US" sz="1800" dirty="0"/>
              <a:t>가령 소수점 </a:t>
            </a:r>
            <a:r>
              <a:rPr lang="en-US" altLang="ko-KR" sz="1800" dirty="0"/>
              <a:t>8</a:t>
            </a:r>
            <a:r>
              <a:rPr lang="ko-KR" altLang="en-US" sz="1800" dirty="0"/>
              <a:t>자리 이하</a:t>
            </a:r>
            <a:r>
              <a:rPr lang="en-US" altLang="ko-KR" sz="1800" dirty="0"/>
              <a:t>)</a:t>
            </a:r>
            <a:r>
              <a:rPr lang="ko-KR" altLang="en-US" sz="1800" dirty="0"/>
              <a:t>이 생략되어 최종 계산 결과에 오차가 생김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문제</a:t>
            </a:r>
            <a:r>
              <a:rPr lang="en-US" altLang="ko-KR" sz="2000" dirty="0"/>
              <a:t>#2: </a:t>
            </a:r>
            <a:r>
              <a:rPr lang="ko-KR" altLang="en-US" sz="2000" dirty="0"/>
              <a:t>함수 </a:t>
            </a:r>
            <a:r>
              <a:rPr lang="en-US" altLang="ko-KR" sz="2000" dirty="0"/>
              <a:t>f</a:t>
            </a:r>
            <a:r>
              <a:rPr lang="ko-KR" altLang="en-US" sz="2000" dirty="0"/>
              <a:t>의 차분</a:t>
            </a:r>
            <a:endParaRPr lang="en-US" altLang="ko-KR" sz="20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위의 구현은 </a:t>
            </a:r>
            <a:r>
              <a:rPr lang="en-US" altLang="ko-KR" sz="1800" dirty="0"/>
              <a:t>(</a:t>
            </a:r>
            <a:r>
              <a:rPr lang="en-US" altLang="ko-KR" sz="1800" dirty="0" err="1"/>
              <a:t>x+h</a:t>
            </a:r>
            <a:r>
              <a:rPr lang="en-US" altLang="ko-KR" sz="1800" dirty="0"/>
              <a:t>)</a:t>
            </a:r>
            <a:r>
              <a:rPr lang="ko-KR" altLang="en-US" sz="1800" dirty="0"/>
              <a:t>와 </a:t>
            </a:r>
            <a:r>
              <a:rPr lang="en-US" altLang="ko-KR" sz="1800" dirty="0"/>
              <a:t>x </a:t>
            </a:r>
            <a:r>
              <a:rPr lang="ko-KR" altLang="en-US" sz="1800" dirty="0"/>
              <a:t>사이의 기울기에 해당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F23D8-93D6-4356-B025-A853597E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79BD108-CCAD-419C-B3D8-5E8C9FDF9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556" y="1389713"/>
            <a:ext cx="3200564" cy="7493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7888F5C-71EA-4D38-AC70-F77531DA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4" y="3283957"/>
            <a:ext cx="1901552" cy="80065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F35053-2554-4744-8272-7F8AB5FDF4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114" y="3384012"/>
            <a:ext cx="3452067" cy="28713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0A52C3-9D01-2BA6-5E31-67C6FBB84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126" y="1032162"/>
            <a:ext cx="4040885" cy="129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8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AC1E3-36CD-4470-8E6C-BA7A7163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개선된 수치 미분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DC9E4-40C7-4E3D-80A7-9144ACB9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8744B3-3709-40C2-A635-6CFFBBE2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674" y="3785928"/>
            <a:ext cx="7060005" cy="26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F0102E-4B99-909D-3320-47D74C91E7D0}"/>
              </a:ext>
            </a:extLst>
          </p:cNvPr>
          <p:cNvSpPr txBox="1"/>
          <p:nvPr/>
        </p:nvSpPr>
        <p:spPr>
          <a:xfrm>
            <a:off x="2708366" y="6393417"/>
            <a:ext cx="357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진정한 미분의 값은 각각 </a:t>
            </a:r>
            <a:r>
              <a:rPr lang="en-US" altLang="ko-KR" dirty="0"/>
              <a:t>0.2</a:t>
            </a:r>
            <a:r>
              <a:rPr lang="ko-KR" altLang="en-US" dirty="0"/>
              <a:t>와 </a:t>
            </a:r>
            <a:r>
              <a:rPr lang="en-US" altLang="ko-KR" dirty="0"/>
              <a:t>0.3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55BE42-59B7-C509-9B18-C29563B7A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89"/>
          <a:stretch>
            <a:fillRect/>
          </a:stretch>
        </p:blipFill>
        <p:spPr>
          <a:xfrm>
            <a:off x="65206" y="1219199"/>
            <a:ext cx="2470058" cy="22675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858399-5ECD-6A9A-FE37-396F33FA14EA}"/>
              </a:ext>
            </a:extLst>
          </p:cNvPr>
          <p:cNvSpPr txBox="1"/>
          <p:nvPr/>
        </p:nvSpPr>
        <p:spPr>
          <a:xfrm>
            <a:off x="2272769" y="2183826"/>
            <a:ext cx="171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중심</a:t>
            </a:r>
            <a:r>
              <a:rPr lang="en-US" altLang="ko-KR" dirty="0"/>
              <a:t>/</a:t>
            </a:r>
            <a:r>
              <a:rPr lang="ko-KR" altLang="en-US" dirty="0"/>
              <a:t>중앙 차분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EBBFE80-C329-CFFB-1D20-6E23B2C13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589" y="1189986"/>
            <a:ext cx="3069094" cy="69467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408D720-7085-AF9C-DBCA-D436456DB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524" y="149334"/>
            <a:ext cx="3233513" cy="342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84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9AA24-F6F6-4609-8FD1-C7C7AA28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편미분</a:t>
            </a:r>
            <a:endParaRPr lang="ko-KR" altLang="en-US" dirty="0"/>
          </a:p>
        </p:txBody>
      </p:sp>
      <p:pic>
        <p:nvPicPr>
          <p:cNvPr id="10" name="내용 개체 틀 9" descr="텍스트이(가) 표시된 사진&#10;&#10;자동 생성된 설명">
            <a:extLst>
              <a:ext uri="{FF2B5EF4-FFF2-40B4-BE49-F238E27FC236}">
                <a16:creationId xmlns:a16="http://schemas.microsoft.com/office/drawing/2014/main" id="{C501AFB2-91A9-4996-847B-18124CD65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63" y="965915"/>
            <a:ext cx="2273417" cy="50802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C8F515-5661-4CBF-A820-9A6511E0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425012A-C850-4C13-92A7-C576746E6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273" y="3139196"/>
            <a:ext cx="4803825" cy="317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777F7A-EF40-A88A-BE92-BED0D06EA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13" y="351693"/>
            <a:ext cx="4471223" cy="299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7D608-23BB-4D57-AEE7-C029EF23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편미분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DA64D-C7BD-4882-9BDC-5D06D3D71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en-US" altLang="ko-KR" baseline="-25000" dirty="0"/>
              <a:t>0</a:t>
            </a:r>
            <a:r>
              <a:rPr lang="en-US" altLang="ko-KR" dirty="0"/>
              <a:t> = 3, x</a:t>
            </a:r>
            <a:r>
              <a:rPr lang="en-US" altLang="ko-KR" baseline="-25000" dirty="0"/>
              <a:t>1</a:t>
            </a:r>
            <a:r>
              <a:rPr lang="en-US" altLang="ko-KR" dirty="0"/>
              <a:t> = 4</a:t>
            </a:r>
            <a:r>
              <a:rPr lang="ko-KR" altLang="en-US" dirty="0"/>
              <a:t>일 때</a:t>
            </a:r>
            <a:r>
              <a:rPr lang="en-US" altLang="ko-KR" dirty="0"/>
              <a:t>, X</a:t>
            </a:r>
            <a:r>
              <a:rPr lang="en-US" altLang="ko-KR" baseline="-25000" dirty="0"/>
              <a:t>0 </a:t>
            </a:r>
            <a:r>
              <a:rPr lang="ko-KR" altLang="en-US" dirty="0"/>
              <a:t>에 대한 </a:t>
            </a:r>
            <a:r>
              <a:rPr lang="ko-KR" altLang="en-US" dirty="0" err="1"/>
              <a:t>편미분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en-US" altLang="ko-KR" baseline="-25000" dirty="0"/>
              <a:t>0</a:t>
            </a:r>
            <a:r>
              <a:rPr lang="en-US" altLang="ko-KR" dirty="0"/>
              <a:t> = 3, x</a:t>
            </a:r>
            <a:r>
              <a:rPr lang="en-US" altLang="ko-KR" baseline="-25000" dirty="0"/>
              <a:t>1</a:t>
            </a:r>
            <a:r>
              <a:rPr lang="en-US" altLang="ko-KR" dirty="0"/>
              <a:t> = 4</a:t>
            </a:r>
            <a:r>
              <a:rPr lang="ko-KR" altLang="en-US" dirty="0"/>
              <a:t>일 때</a:t>
            </a:r>
            <a:r>
              <a:rPr lang="en-US" altLang="ko-KR" dirty="0"/>
              <a:t>, X</a:t>
            </a:r>
            <a:r>
              <a:rPr lang="en-US" altLang="ko-KR" baseline="-25000" dirty="0"/>
              <a:t>1 </a:t>
            </a:r>
            <a:r>
              <a:rPr lang="ko-KR" altLang="en-US" dirty="0"/>
              <a:t>에 대한 </a:t>
            </a:r>
            <a:r>
              <a:rPr lang="ko-KR" altLang="en-US" dirty="0" err="1"/>
              <a:t>편미분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8B5B5-FBA4-414A-86FF-0861C95F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5" name="내용 개체 틀 9" descr="텍스트이(가) 표시된 사진&#10;&#10;자동 생성된 설명">
            <a:extLst>
              <a:ext uri="{FF2B5EF4-FFF2-40B4-BE49-F238E27FC236}">
                <a16:creationId xmlns:a16="http://schemas.microsoft.com/office/drawing/2014/main" id="{B37361B0-8423-4DB6-A061-4FA6BC7CE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172" y="248953"/>
            <a:ext cx="2273417" cy="5080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AD699F-92D2-DB81-0166-03F121F59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18" y="1712921"/>
            <a:ext cx="4115374" cy="16004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3567D77-E1C8-FC2B-0383-2E5381950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520" y="4527113"/>
            <a:ext cx="433448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7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789DC-5229-459B-9616-D24CA884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기울기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B46ED-6795-4F8C-80FB-B8D10FBDB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ko-KR" altLang="en-US" dirty="0"/>
              <a:t>모든 변수의 </a:t>
            </a:r>
            <a:r>
              <a:rPr lang="ko-KR" altLang="en-US" dirty="0" err="1"/>
              <a:t>편미분을</a:t>
            </a:r>
            <a:r>
              <a:rPr lang="ko-KR" altLang="en-US" dirty="0"/>
              <a:t> 벡터로 정리한 것을 기울기</a:t>
            </a:r>
            <a:r>
              <a:rPr lang="en-US" altLang="ko-KR" dirty="0"/>
              <a:t>(gradient)</a:t>
            </a:r>
            <a:r>
              <a:rPr lang="ko-KR" altLang="en-US" dirty="0"/>
              <a:t>라고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0F4C6-B3FC-402C-9C91-0A8A1F2F7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320F470-8DCE-8C2E-09E4-64181C7F0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488" y="1607405"/>
            <a:ext cx="2991267" cy="6001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7275615-1C76-1CEA-2302-04CFA7887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3" y="2301349"/>
            <a:ext cx="4723889" cy="383641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D8A2402-D5CF-0282-B7FA-7B680441E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929" y="3247418"/>
            <a:ext cx="5440578" cy="204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5F063-44C8-4548-8AA0-2A83085B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기울기 계산 </a:t>
            </a:r>
            <a:r>
              <a:rPr lang="en-US" altLang="ko-KR" dirty="0"/>
              <a:t>(</a:t>
            </a:r>
            <a:r>
              <a:rPr lang="ko-KR" altLang="en-US" dirty="0"/>
              <a:t>배치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1598DA-0BDD-4B1E-9B96-B1F005DE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93DA14-CB26-4887-A045-5903869A59ED}"/>
              </a:ext>
            </a:extLst>
          </p:cNvPr>
          <p:cNvSpPr txBox="1"/>
          <p:nvPr/>
        </p:nvSpPr>
        <p:spPr>
          <a:xfrm>
            <a:off x="4383034" y="1739362"/>
            <a:ext cx="46192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[[-6., -0., -6.],</a:t>
            </a:r>
          </a:p>
          <a:p>
            <a:r>
              <a:rPr lang="ko-KR" altLang="en-US" sz="1100" dirty="0"/>
              <a:t>  [-8., -4., -0.]]</a:t>
            </a:r>
            <a:endParaRPr lang="en-US" altLang="ko-KR" sz="11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DD8FAB-BE7F-7BA0-9861-0409BE07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47" y="885969"/>
            <a:ext cx="6887536" cy="28102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07E06E4-745E-2B33-C588-955F4D46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904" y="4123617"/>
            <a:ext cx="613495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25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E12CE3-190A-84EB-C435-804879E29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9" y="839298"/>
            <a:ext cx="5760012" cy="432581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CE5A9F0C-1ED6-47C7-A6E0-B530747CD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328" y="214753"/>
            <a:ext cx="4309837" cy="285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1B7643B-8E28-4AF7-94DF-ED009444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기울기 계산 </a:t>
            </a:r>
            <a:r>
              <a:rPr lang="en-US" altLang="ko-KR" dirty="0"/>
              <a:t>(</a:t>
            </a:r>
            <a:r>
              <a:rPr lang="ko-KR" altLang="en-US" dirty="0"/>
              <a:t>배치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3C9E33-7A0D-462C-A26A-ADADB5E9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2B5E616-E218-4BE2-B6C3-7781BB1FE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766" y="3857614"/>
            <a:ext cx="4603655" cy="30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754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0314D-DFFD-47FE-958A-05BE29B2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경사 </a:t>
            </a:r>
            <a:r>
              <a:rPr lang="ko-KR" altLang="en-US" dirty="0" err="1"/>
              <a:t>하강법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DE0A4-3F33-47B3-92E3-A2C9F17E5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ko-KR" altLang="en-US" sz="2000" dirty="0"/>
              <a:t>기울기 정보를 활용해서 손실함수의 최솟값을 찾는 방법</a:t>
            </a:r>
            <a:endParaRPr lang="en-US" altLang="ko-KR" sz="2000" dirty="0"/>
          </a:p>
          <a:p>
            <a:pPr algn="just">
              <a:lnSpc>
                <a:spcPct val="100000"/>
              </a:lnSpc>
            </a:pPr>
            <a:endParaRPr lang="en-US" altLang="ko-KR" sz="2000" dirty="0"/>
          </a:p>
          <a:p>
            <a:pPr algn="just">
              <a:lnSpc>
                <a:spcPct val="100000"/>
              </a:lnSpc>
            </a:pPr>
            <a:r>
              <a:rPr lang="ko-KR" altLang="en-US" sz="2000" dirty="0"/>
              <a:t>현 위치에서 기울어진 방향으로 일정 거리만큼 이동</a:t>
            </a:r>
            <a:endParaRPr lang="en-US" altLang="ko-KR" sz="2000" dirty="0"/>
          </a:p>
          <a:p>
            <a:pPr algn="just">
              <a:lnSpc>
                <a:spcPct val="100000"/>
              </a:lnSpc>
            </a:pPr>
            <a:r>
              <a:rPr lang="ko-KR" altLang="en-US" sz="2000" dirty="0"/>
              <a:t>이동한 곳에서도 마찬가지로 기울기를 구하고</a:t>
            </a:r>
            <a:r>
              <a:rPr lang="en-US" altLang="ko-KR" sz="2000" dirty="0"/>
              <a:t>, </a:t>
            </a:r>
            <a:r>
              <a:rPr lang="ko-KR" altLang="en-US" sz="2000" dirty="0"/>
              <a:t>또 그 기울어진 방향으로 나아가기를 반복하여 서서히 손실함수의 값을 줄임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B41825-9E41-4B62-8ECB-4CF242EA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49ED8F0-6B16-4BA3-A3CA-900A1B189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642" y="3191513"/>
            <a:ext cx="4309837" cy="2852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C787D9AE-E38A-43C5-AE48-8D77F38A5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304" y="3562575"/>
            <a:ext cx="1943200" cy="148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51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B5285-6766-4CDF-A8EA-6445914C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경사 </a:t>
            </a:r>
            <a:r>
              <a:rPr lang="ko-KR" altLang="en-US" dirty="0" err="1"/>
              <a:t>하강법</a:t>
            </a:r>
            <a:r>
              <a:rPr lang="ko-KR" altLang="en-US" dirty="0"/>
              <a:t>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F2EE02-8B1B-4920-9A4E-4CFD935B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10241B5-518F-495A-87FD-D493616AF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62" y="4199021"/>
            <a:ext cx="365760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749CA2-329C-2BCD-89DA-2C3BF181A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30" y="938654"/>
            <a:ext cx="3889499" cy="20298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0F1C3F-6779-FAE3-7D10-F0A2C2192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714" y="1347922"/>
            <a:ext cx="5283701" cy="26221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0DB6C26-9BAE-CA9C-D26E-011597530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258" y="3414586"/>
            <a:ext cx="1707462" cy="2815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DDE5AC-14DF-48F1-2A07-0189706F7DA8}"/>
              </a:ext>
            </a:extLst>
          </p:cNvPr>
          <p:cNvSpPr txBox="1"/>
          <p:nvPr/>
        </p:nvSpPr>
        <p:spPr>
          <a:xfrm>
            <a:off x="6567267" y="3000934"/>
            <a:ext cx="1076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ko-KR" sz="1800" b="0" dirty="0" err="1">
                <a:solidFill>
                  <a:schemeClr val="tx1"/>
                </a:solidFill>
                <a:effectLst/>
                <a:latin typeface="+mn-lt"/>
              </a:rPr>
              <a:t>x_history</a:t>
            </a:r>
            <a:endParaRPr lang="ko-KR" altLang="ko-KR" sz="105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12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68B49-9F6D-48B0-9411-17EFF245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신경망에서의 기울기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48BBCF-F418-4EF5-A57D-D152AFBA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EA4056F-A7B5-4F1C-8C1B-C0E6F48A6058}"/>
              </a:ext>
            </a:extLst>
          </p:cNvPr>
          <p:cNvSpPr/>
          <p:nvPr/>
        </p:nvSpPr>
        <p:spPr>
          <a:xfrm>
            <a:off x="1053137" y="1132437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46520E1-A582-4029-AA97-4FDFA1EF4C0D}"/>
              </a:ext>
            </a:extLst>
          </p:cNvPr>
          <p:cNvSpPr/>
          <p:nvPr/>
        </p:nvSpPr>
        <p:spPr>
          <a:xfrm>
            <a:off x="1053136" y="1964857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CAAE8B4-3987-4C73-A210-8A648A495AB1}"/>
              </a:ext>
            </a:extLst>
          </p:cNvPr>
          <p:cNvSpPr/>
          <p:nvPr/>
        </p:nvSpPr>
        <p:spPr>
          <a:xfrm>
            <a:off x="2610769" y="889647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4302EAC-48DF-40FA-94CB-3C352BBA6CE2}"/>
              </a:ext>
            </a:extLst>
          </p:cNvPr>
          <p:cNvSpPr/>
          <p:nvPr/>
        </p:nvSpPr>
        <p:spPr>
          <a:xfrm>
            <a:off x="2610769" y="1618234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AB955BF-210E-4946-A8DA-2D9BAC287CE9}"/>
              </a:ext>
            </a:extLst>
          </p:cNvPr>
          <p:cNvSpPr/>
          <p:nvPr/>
        </p:nvSpPr>
        <p:spPr>
          <a:xfrm>
            <a:off x="2610769" y="2450436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388FC07-F413-4E2C-A888-1A25E0237401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 flipV="1">
            <a:off x="1538716" y="1132437"/>
            <a:ext cx="1072053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CA6D15A-03C9-44A8-B99D-B7BC69EB9CE0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1538716" y="1375227"/>
            <a:ext cx="1072053" cy="485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2AA8854-6DFA-4477-8897-CF33B0E13B7C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1538716" y="1375227"/>
            <a:ext cx="1072053" cy="131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471EA35-0EAD-48CA-A1D9-2A29C3D090B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1538715" y="1132437"/>
            <a:ext cx="1072054" cy="1075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E70E899-E001-4333-A2D5-BCC4CEBB84C4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1538715" y="1861024"/>
            <a:ext cx="1072054" cy="346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FAD5BC2-EEB2-49A4-8FB4-6AC0C1970EC5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1538715" y="2207647"/>
            <a:ext cx="1072054" cy="48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 descr="텍스트이(가) 표시된 사진&#10;&#10;자동 생성된 설명">
            <a:extLst>
              <a:ext uri="{FF2B5EF4-FFF2-40B4-BE49-F238E27FC236}">
                <a16:creationId xmlns:a16="http://schemas.microsoft.com/office/drawing/2014/main" id="{D0ECDBD4-94EF-4707-B05A-8B61C6D51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19" y="710447"/>
            <a:ext cx="2730640" cy="17399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8321200-D9E2-0B04-3644-657BB28D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74" y="3019589"/>
            <a:ext cx="4976397" cy="358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49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F3DE7A-779B-445B-BF14-C3D4E5F1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신경망에서의 기울기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D53E5-38EA-4B8F-99F5-0C459FCB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231B29-414E-7876-C11E-040F585AD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62" y="1086336"/>
            <a:ext cx="8520460" cy="5065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22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68564F-BE55-E1F6-F631-21F8603DF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0" y="1300218"/>
            <a:ext cx="6023668" cy="479203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3CFB30-3959-4F50-825F-1211A766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신경망에서의 기울기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28E928-B991-4E13-AE59-608BEDD2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79C1BDE-B538-4360-9AD7-B2713EA48BE3}"/>
              </a:ext>
            </a:extLst>
          </p:cNvPr>
          <p:cNvSpPr/>
          <p:nvPr/>
        </p:nvSpPr>
        <p:spPr>
          <a:xfrm>
            <a:off x="6072878" y="606145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6942D6E-D3CF-4E20-855B-761A4B98D988}"/>
              </a:ext>
            </a:extLst>
          </p:cNvPr>
          <p:cNvSpPr/>
          <p:nvPr/>
        </p:nvSpPr>
        <p:spPr>
          <a:xfrm>
            <a:off x="6072877" y="1438565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EE1F012-7099-4012-9D0A-43B6FB2190BF}"/>
              </a:ext>
            </a:extLst>
          </p:cNvPr>
          <p:cNvSpPr/>
          <p:nvPr/>
        </p:nvSpPr>
        <p:spPr>
          <a:xfrm>
            <a:off x="7630510" y="363355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2B8AD2D-F79E-4FCA-B11B-83573B38005C}"/>
              </a:ext>
            </a:extLst>
          </p:cNvPr>
          <p:cNvSpPr/>
          <p:nvPr/>
        </p:nvSpPr>
        <p:spPr>
          <a:xfrm>
            <a:off x="7630510" y="1091942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C9B5A61-97D0-47CE-9CA3-054FBE0C6D22}"/>
              </a:ext>
            </a:extLst>
          </p:cNvPr>
          <p:cNvSpPr/>
          <p:nvPr/>
        </p:nvSpPr>
        <p:spPr>
          <a:xfrm>
            <a:off x="7630510" y="1924144"/>
            <a:ext cx="485579" cy="4855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7E8BE4C-345D-4F11-986D-765A20ACA58E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6558457" y="606145"/>
            <a:ext cx="1072053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EF3B526-BC4E-45A2-A720-7CAD20ABC8D9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6558457" y="848935"/>
            <a:ext cx="1072053" cy="485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9AAFADB-005F-4D6C-89C0-BB09BF341FA1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6558457" y="848935"/>
            <a:ext cx="1072053" cy="1317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A677EEA-22C8-473C-8053-3F26296C2492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 flipV="1">
            <a:off x="6558456" y="606145"/>
            <a:ext cx="1072054" cy="1075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F97837A-FBC4-496B-8A74-BB329B43475A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6558456" y="1334732"/>
            <a:ext cx="1072054" cy="346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E6833AA-A24C-48F5-9609-B7D93350EB3F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>
            <a:off x="6558456" y="1681355"/>
            <a:ext cx="1072054" cy="485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A061F43-2E61-4704-8DBD-EC147338E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808" y="2639584"/>
            <a:ext cx="24193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69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743F2-8F80-4A05-8B90-F6E2E3310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신경망에서의 기울기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A7823-AC8C-4788-897F-45B151CE5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CAC1DAED-653F-4091-AF76-D40FF34E5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074" y="536731"/>
            <a:ext cx="2730640" cy="17399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ECA2E7-AE00-4BD2-9400-6024ED06DCAC}"/>
              </a:ext>
            </a:extLst>
          </p:cNvPr>
          <p:cNvSpPr txBox="1"/>
          <p:nvPr/>
        </p:nvSpPr>
        <p:spPr>
          <a:xfrm>
            <a:off x="4242603" y="4395020"/>
            <a:ext cx="461929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W</a:t>
            </a:r>
            <a:r>
              <a:rPr lang="en-US" altLang="ko-KR" sz="1400" baseline="-25000" dirty="0"/>
              <a:t>21</a:t>
            </a:r>
            <a:r>
              <a:rPr lang="ko-KR" altLang="en-US" sz="1400" dirty="0"/>
              <a:t>을 </a:t>
            </a:r>
            <a:r>
              <a:rPr lang="en-US" altLang="ko-KR" sz="1400" dirty="0"/>
              <a:t>h</a:t>
            </a:r>
            <a:r>
              <a:rPr lang="ko-KR" altLang="en-US" sz="1400" dirty="0"/>
              <a:t>만큼 늘리면 손실함수의 값은 </a:t>
            </a:r>
            <a:r>
              <a:rPr lang="en-US" altLang="ko-KR" sz="1400" dirty="0"/>
              <a:t>0.45h</a:t>
            </a:r>
            <a:r>
              <a:rPr lang="ko-KR" altLang="en-US" sz="1400" dirty="0"/>
              <a:t>만큼 </a:t>
            </a:r>
            <a:r>
              <a:rPr lang="ko-KR" altLang="en-US" sz="1400" dirty="0">
                <a:solidFill>
                  <a:srgbClr val="00B0F0"/>
                </a:solidFill>
              </a:rPr>
              <a:t>증가</a:t>
            </a:r>
            <a:endParaRPr lang="en-US" altLang="ko-KR" sz="1400" dirty="0">
              <a:solidFill>
                <a:srgbClr val="00B0F0"/>
              </a:solidFill>
            </a:endParaRPr>
          </a:p>
          <a:p>
            <a:r>
              <a:rPr lang="en-US" altLang="ko-KR" sz="1400" dirty="0"/>
              <a:t>W</a:t>
            </a:r>
            <a:r>
              <a:rPr lang="en-US" altLang="ko-KR" sz="1400" baseline="-25000" dirty="0"/>
              <a:t>32</a:t>
            </a:r>
            <a:r>
              <a:rPr lang="ko-KR" altLang="en-US" sz="1400" dirty="0"/>
              <a:t>를 </a:t>
            </a:r>
            <a:r>
              <a:rPr lang="en-US" altLang="ko-KR" sz="1400" dirty="0"/>
              <a:t>h</a:t>
            </a:r>
            <a:r>
              <a:rPr lang="ko-KR" altLang="en-US" sz="1400" dirty="0"/>
              <a:t>만큼 늘리면 손실함수의 값은 </a:t>
            </a:r>
            <a:r>
              <a:rPr lang="en-US" altLang="ko-KR" sz="1400" dirty="0"/>
              <a:t>0.75h</a:t>
            </a:r>
            <a:r>
              <a:rPr lang="ko-KR" altLang="en-US" sz="1400" dirty="0"/>
              <a:t>만큼 </a:t>
            </a:r>
            <a:r>
              <a:rPr lang="ko-KR" altLang="en-US" sz="1400" dirty="0">
                <a:solidFill>
                  <a:srgbClr val="FF0000"/>
                </a:solidFill>
              </a:rPr>
              <a:t>감소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/>
          </a:p>
          <a:p>
            <a:r>
              <a:rPr lang="ko-KR" altLang="en-US" sz="1400" dirty="0"/>
              <a:t>따라서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손실함수의 값을 줄이기 위해서는 </a:t>
            </a:r>
            <a:endParaRPr lang="en-US" altLang="ko-KR" sz="1400" dirty="0"/>
          </a:p>
          <a:p>
            <a:r>
              <a:rPr lang="en-US" altLang="ko-KR" sz="1400" dirty="0"/>
              <a:t>W</a:t>
            </a:r>
            <a:r>
              <a:rPr lang="en-US" altLang="ko-KR" sz="1400" baseline="-25000" dirty="0"/>
              <a:t>21</a:t>
            </a:r>
            <a:r>
              <a:rPr lang="ko-KR" altLang="en-US" sz="1400" dirty="0"/>
              <a:t>은 음의 방향으로 갱신</a:t>
            </a:r>
            <a:endParaRPr lang="en-US" altLang="ko-KR" sz="1400" dirty="0"/>
          </a:p>
          <a:p>
            <a:r>
              <a:rPr lang="en-US" altLang="ko-KR" sz="1400" dirty="0"/>
              <a:t>W</a:t>
            </a:r>
            <a:r>
              <a:rPr lang="en-US" altLang="ko-KR" sz="1400" baseline="-25000" dirty="0"/>
              <a:t>32 </a:t>
            </a:r>
            <a:r>
              <a:rPr lang="ko-KR" altLang="en-US" sz="1400" dirty="0"/>
              <a:t>은 양의 방향으로 갱신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64AA3B-7A14-C50F-78AD-3D948980C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42" y="1087901"/>
            <a:ext cx="3628206" cy="51138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6F262E-B993-ABAD-0D9C-1F40CCB322B4}"/>
              </a:ext>
            </a:extLst>
          </p:cNvPr>
          <p:cNvSpPr txBox="1"/>
          <p:nvPr/>
        </p:nvSpPr>
        <p:spPr>
          <a:xfrm>
            <a:off x="4208584" y="3429000"/>
            <a:ext cx="4358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[[ 0.04820902 </a:t>
            </a:r>
            <a:r>
              <a:rPr lang="ko-KR" altLang="ko-KR" sz="1800" b="0" i="0" dirty="0">
                <a:solidFill>
                  <a:srgbClr val="00B0F0"/>
                </a:solidFill>
                <a:effectLst/>
                <a:latin typeface="+mn-lt"/>
              </a:rPr>
              <a:t>0.45424891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 -0.50245793] [ 0.07231353 0.68137337 </a:t>
            </a:r>
            <a:r>
              <a:rPr lang="ko-KR" altLang="ko-KR" sz="1800" b="0" i="0" dirty="0">
                <a:solidFill>
                  <a:srgbClr val="FF0000"/>
                </a:solidFill>
                <a:effectLst/>
                <a:latin typeface="+mn-lt"/>
              </a:rPr>
              <a:t>-0.7536869 </a:t>
            </a:r>
            <a:r>
              <a:rPr lang="ko-KR" altLang="ko-KR" sz="1800" b="0" i="0" dirty="0">
                <a:solidFill>
                  <a:schemeClr val="tx1"/>
                </a:solidFill>
                <a:effectLst/>
                <a:latin typeface="+mn-lt"/>
              </a:rPr>
              <a:t>]]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CD7169D-87CA-2DEB-AB9A-479001661F91}"/>
              </a:ext>
            </a:extLst>
          </p:cNvPr>
          <p:cNvCxnSpPr>
            <a:endCxn id="11" idx="1"/>
          </p:cNvCxnSpPr>
          <p:nvPr/>
        </p:nvCxnSpPr>
        <p:spPr>
          <a:xfrm flipV="1">
            <a:off x="1448972" y="3752166"/>
            <a:ext cx="2759612" cy="2243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074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05D48-A4EB-F8AC-BC8E-68A558FBD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numeric_gradient</a:t>
            </a:r>
            <a:r>
              <a:rPr lang="en-US" altLang="ko-KR" sz="2400" dirty="0"/>
              <a:t> </a:t>
            </a:r>
            <a:r>
              <a:rPr lang="ko-KR" altLang="en-US" sz="2400" dirty="0"/>
              <a:t>함수의 작동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95A41-6343-61B8-B841-7835B0E0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3A03A53-9BFB-CAB7-28AF-8EF0F75E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44" y="1134728"/>
            <a:ext cx="2228940" cy="20228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E8CC3B-2015-BF41-BA15-C163BF16A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517" y="1134729"/>
            <a:ext cx="2295180" cy="20185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E43766-584F-7500-088F-6F606AD87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676" y="1134729"/>
            <a:ext cx="2297776" cy="2088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3814D4B-3270-CBA5-DA91-D7685DA3A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35" y="3700450"/>
            <a:ext cx="2448973" cy="219939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5C8521A-E9BE-65D8-6A95-FDCF8F881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8739" y="3683929"/>
            <a:ext cx="2475751" cy="223616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CC41546-BB50-5163-2941-BAB999CAC0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1259" y="3682067"/>
            <a:ext cx="2489413" cy="2236162"/>
          </a:xfrm>
          <a:prstGeom prst="rect">
            <a:avLst/>
          </a:prstGeom>
        </p:spPr>
      </p:pic>
      <p:pic>
        <p:nvPicPr>
          <p:cNvPr id="22" name="그림 21" descr="텍스트이(가) 표시된 사진&#10;&#10;자동 생성된 설명">
            <a:extLst>
              <a:ext uri="{FF2B5EF4-FFF2-40B4-BE49-F238E27FC236}">
                <a16:creationId xmlns:a16="http://schemas.microsoft.com/office/drawing/2014/main" id="{28B0463D-4038-5BFE-D94A-01ACA168BD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40"/>
          <a:stretch>
            <a:fillRect/>
          </a:stretch>
        </p:blipFill>
        <p:spPr>
          <a:xfrm>
            <a:off x="6129261" y="166215"/>
            <a:ext cx="2730640" cy="7997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655A96-520C-20E5-B0B5-46EAD62C9B22}"/>
              </a:ext>
            </a:extLst>
          </p:cNvPr>
          <p:cNvSpPr/>
          <p:nvPr/>
        </p:nvSpPr>
        <p:spPr>
          <a:xfrm>
            <a:off x="618978" y="1636540"/>
            <a:ext cx="623668" cy="133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4F250F-79CB-A7E5-E2F7-B0CB9B8CC5E5}"/>
              </a:ext>
            </a:extLst>
          </p:cNvPr>
          <p:cNvSpPr/>
          <p:nvPr/>
        </p:nvSpPr>
        <p:spPr>
          <a:xfrm>
            <a:off x="618978" y="2259156"/>
            <a:ext cx="623668" cy="133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93FF771-EFB4-B394-ACE2-3964EC54C34C}"/>
              </a:ext>
            </a:extLst>
          </p:cNvPr>
          <p:cNvSpPr/>
          <p:nvPr/>
        </p:nvSpPr>
        <p:spPr>
          <a:xfrm>
            <a:off x="586153" y="2890098"/>
            <a:ext cx="623668" cy="133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592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799EC-F321-4EC2-BBAF-A386245C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신경망 학습 알고리즘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51003-DDF9-42C5-8E34-AFDC9D8AE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800" dirty="0"/>
              <a:t>신경망에는 가중치와 편향이 있고</a:t>
            </a:r>
            <a:r>
              <a:rPr lang="en-US" altLang="ko-KR" sz="1800" dirty="0"/>
              <a:t>, </a:t>
            </a:r>
            <a:r>
              <a:rPr lang="ko-KR" altLang="en-US" sz="1800" dirty="0"/>
              <a:t>이 가중치와 편향을 훈련 데이터에 적응하도록 조정하는 과정을 학습이라 함</a:t>
            </a:r>
            <a:endParaRPr lang="en-US" altLang="ko-KR" sz="1800" dirty="0"/>
          </a:p>
          <a:p>
            <a:pPr algn="just">
              <a:lnSpc>
                <a:spcPct val="120000"/>
              </a:lnSpc>
            </a:pPr>
            <a:endParaRPr lang="en-US" altLang="ko-KR" sz="1800" dirty="0"/>
          </a:p>
          <a:p>
            <a:pPr algn="just">
              <a:lnSpc>
                <a:spcPct val="120000"/>
              </a:lnSpc>
            </a:pPr>
            <a:r>
              <a:rPr lang="en-US" altLang="ko-KR" sz="1800" dirty="0"/>
              <a:t>1</a:t>
            </a:r>
            <a:r>
              <a:rPr lang="ko-KR" altLang="en-US" sz="1800" dirty="0"/>
              <a:t>단계</a:t>
            </a:r>
            <a:r>
              <a:rPr lang="en-US" altLang="ko-KR" sz="1800" dirty="0"/>
              <a:t>: </a:t>
            </a:r>
            <a:r>
              <a:rPr lang="ko-KR" altLang="en-US" sz="1800" dirty="0"/>
              <a:t>미니배치</a:t>
            </a:r>
            <a:endParaRPr lang="en-US" altLang="ko-KR" sz="1800" dirty="0"/>
          </a:p>
          <a:p>
            <a:pPr lvl="1" algn="just">
              <a:lnSpc>
                <a:spcPct val="120000"/>
              </a:lnSpc>
            </a:pPr>
            <a:r>
              <a:rPr lang="ko-KR" altLang="en-US" sz="1600" dirty="0"/>
              <a:t>훈련데이터 중 일부를 무작위로 가져옴 </a:t>
            </a:r>
            <a:r>
              <a:rPr lang="en-US" altLang="ko-KR" sz="1600" dirty="0"/>
              <a:t>--&gt; </a:t>
            </a:r>
            <a:r>
              <a:rPr lang="ko-KR" altLang="en-US" sz="1600" dirty="0"/>
              <a:t>확률적 경사 </a:t>
            </a:r>
            <a:r>
              <a:rPr lang="ko-KR" altLang="en-US" sz="1600" dirty="0" err="1"/>
              <a:t>하강법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en-US" altLang="ko-KR" sz="1800" dirty="0"/>
              <a:t>2</a:t>
            </a:r>
            <a:r>
              <a:rPr lang="ko-KR" altLang="en-US" sz="1800" dirty="0"/>
              <a:t>단계</a:t>
            </a:r>
            <a:r>
              <a:rPr lang="en-US" altLang="ko-KR" sz="1800" dirty="0"/>
              <a:t>: </a:t>
            </a:r>
            <a:r>
              <a:rPr lang="ko-KR" altLang="en-US" sz="1800" dirty="0"/>
              <a:t>기울기 산출</a:t>
            </a:r>
            <a:endParaRPr lang="en-US" altLang="ko-KR" sz="1800" dirty="0"/>
          </a:p>
          <a:p>
            <a:pPr lvl="1" algn="just">
              <a:lnSpc>
                <a:spcPct val="120000"/>
              </a:lnSpc>
            </a:pPr>
            <a:r>
              <a:rPr lang="ko-KR" altLang="en-US" sz="1600" dirty="0"/>
              <a:t>미니배치의 손실함수 값을 줄이기 위해 각 가중치 매개변수의 기울기를 구함</a:t>
            </a:r>
            <a:endParaRPr lang="en-US" altLang="ko-KR" sz="1600" dirty="0"/>
          </a:p>
          <a:p>
            <a:pPr lvl="1" algn="just">
              <a:lnSpc>
                <a:spcPct val="120000"/>
              </a:lnSpc>
            </a:pPr>
            <a:r>
              <a:rPr lang="ko-KR" altLang="en-US" sz="1600" dirty="0"/>
              <a:t>기울기는 손실함수의 값을 가장 작게 하는 방향을 제시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en-US" altLang="ko-KR" sz="1800" dirty="0"/>
              <a:t>3</a:t>
            </a:r>
            <a:r>
              <a:rPr lang="ko-KR" altLang="en-US" sz="1800" dirty="0"/>
              <a:t>단계</a:t>
            </a:r>
            <a:r>
              <a:rPr lang="en-US" altLang="ko-KR" sz="1800" dirty="0"/>
              <a:t>: </a:t>
            </a:r>
            <a:r>
              <a:rPr lang="ko-KR" altLang="en-US" sz="1800" dirty="0"/>
              <a:t>매기변수 갱신</a:t>
            </a:r>
            <a:endParaRPr lang="en-US" altLang="ko-KR" sz="1800" dirty="0"/>
          </a:p>
          <a:p>
            <a:pPr lvl="1" algn="just">
              <a:lnSpc>
                <a:spcPct val="120000"/>
              </a:lnSpc>
            </a:pPr>
            <a:r>
              <a:rPr lang="ko-KR" altLang="en-US" sz="1600" dirty="0"/>
              <a:t>가중치 매개변수를 기울기 방향으로 아주 조금 갱신</a:t>
            </a:r>
            <a:endParaRPr lang="en-US" altLang="ko-KR" sz="1600" dirty="0"/>
          </a:p>
          <a:p>
            <a:pPr algn="just">
              <a:lnSpc>
                <a:spcPct val="120000"/>
              </a:lnSpc>
            </a:pPr>
            <a:r>
              <a:rPr lang="en-US" altLang="ko-KR" sz="1800" dirty="0"/>
              <a:t>4</a:t>
            </a:r>
            <a:r>
              <a:rPr lang="ko-KR" altLang="en-US" sz="1800" dirty="0"/>
              <a:t>단계</a:t>
            </a:r>
            <a:r>
              <a:rPr lang="en-US" altLang="ko-KR" sz="1800" dirty="0"/>
              <a:t>: </a:t>
            </a:r>
            <a:r>
              <a:rPr lang="ko-KR" altLang="en-US" sz="1800" dirty="0"/>
              <a:t>반복</a:t>
            </a:r>
            <a:endParaRPr lang="en-US" altLang="ko-KR" sz="1800" dirty="0"/>
          </a:p>
          <a:p>
            <a:pPr lvl="1" algn="just">
              <a:lnSpc>
                <a:spcPct val="120000"/>
              </a:lnSpc>
            </a:pPr>
            <a:r>
              <a:rPr lang="en-US" altLang="ko-KR" sz="1600" dirty="0"/>
              <a:t>1~3</a:t>
            </a:r>
            <a:r>
              <a:rPr lang="ko-KR" altLang="en-US" sz="1600" dirty="0"/>
              <a:t>단계를 반복</a:t>
            </a:r>
            <a:endParaRPr lang="en-US" altLang="ko-KR" sz="1600" dirty="0"/>
          </a:p>
          <a:p>
            <a:pPr lvl="1" algn="just">
              <a:lnSpc>
                <a:spcPct val="120000"/>
              </a:lnSpc>
            </a:pPr>
            <a:endParaRPr lang="en-US" altLang="ko-KR" sz="1600" dirty="0"/>
          </a:p>
          <a:p>
            <a:pPr lvl="1" algn="just">
              <a:lnSpc>
                <a:spcPct val="120000"/>
              </a:lnSpc>
            </a:pP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5DC383-7B36-4C6F-BA73-CE1398AD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45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A0AE3-4A1C-44D2-89B1-2AB8BF2C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신경망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C4F26-C10F-42E2-B785-9A172FB4A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A19604-FD77-B0CB-D123-6DDB2C411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69" y="1632649"/>
            <a:ext cx="8370277" cy="391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75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1A97D-FDF2-43E0-85A6-704AEA89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신경망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42F36-5366-4398-93B4-9B5361CC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D9A5A6-1BDF-6AB8-C781-5A43F073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0" y="1631994"/>
            <a:ext cx="8178018" cy="405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70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9C190-860D-4CA8-B3AA-9CD28960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신경망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1583B-0EB6-4FF0-AB6C-A09EADCC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22D332-1A3C-5059-8F02-95955FEB7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55" y="862819"/>
            <a:ext cx="6530369" cy="570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910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8612F-72F7-4F29-839F-3F3BA947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층 신경망 클래스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B2B46-ECE2-4153-95D9-7991CB1A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9A34D1-47AA-449C-2CC9-33262C14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31" y="1003495"/>
            <a:ext cx="4035569" cy="555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73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91E71-5D80-4D4F-BB63-A2FE5BE1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미니배치 학습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07D3CF-0243-485C-AF1D-74DC727C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33A973-84CB-5897-E14C-B30203167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58" y="1269820"/>
            <a:ext cx="7648135" cy="452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65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22CCD-134E-43EE-A1F0-1767973A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미니배치 학습 구현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9A17CE-B215-487A-B9CF-29FCDB2C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5E363E-9D44-E422-78CC-3CB035744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4" y="1341516"/>
            <a:ext cx="9040837" cy="452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75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17795</TotalTime>
  <Words>993</Words>
  <Application>Microsoft Office PowerPoint</Application>
  <PresentationFormat>화면 슬라이드 쇼(4:3)</PresentationFormat>
  <Paragraphs>168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맑은 고딕</vt:lpstr>
      <vt:lpstr>Arial</vt:lpstr>
      <vt:lpstr>Calibri</vt:lpstr>
      <vt:lpstr>Calibri Light</vt:lpstr>
      <vt:lpstr>Courier New</vt:lpstr>
      <vt:lpstr>Wingdings</vt:lpstr>
      <vt:lpstr>Office 테마</vt:lpstr>
      <vt:lpstr>4장 신경망 학습</vt:lpstr>
      <vt:lpstr>데이터에서 학습한다!</vt:lpstr>
      <vt:lpstr>‘있는 그대로’ 학습</vt:lpstr>
      <vt:lpstr>손실함수 – 오차제곱합(Sum of Squares for Error, SSE)</vt:lpstr>
      <vt:lpstr>손실함수 – 교차 엔트로피 오차 (Cross Entropy Error, CEE)</vt:lpstr>
      <vt:lpstr>손실함수를 사용하는 이유?</vt:lpstr>
      <vt:lpstr>손실함수를 사용하는 이유?</vt:lpstr>
      <vt:lpstr>인공신경망 학습</vt:lpstr>
      <vt:lpstr>미분</vt:lpstr>
      <vt:lpstr>수치 미분(근사치로 계산)</vt:lpstr>
      <vt:lpstr>개선된 수치 미분</vt:lpstr>
      <vt:lpstr>편미분</vt:lpstr>
      <vt:lpstr>편미분</vt:lpstr>
      <vt:lpstr>기울기</vt:lpstr>
      <vt:lpstr>기울기 계산 (배치)</vt:lpstr>
      <vt:lpstr>기울기 계산 (배치)</vt:lpstr>
      <vt:lpstr>경사 하강법</vt:lpstr>
      <vt:lpstr>경사 하강법 구현</vt:lpstr>
      <vt:lpstr>신경망에서의 기울기</vt:lpstr>
      <vt:lpstr>신경망에서의 기울기</vt:lpstr>
      <vt:lpstr>신경망에서의 기울기</vt:lpstr>
      <vt:lpstr>신경망에서의 기울기</vt:lpstr>
      <vt:lpstr>numeric_gradient 함수의 작동 과정</vt:lpstr>
      <vt:lpstr>신경망 학습 알고리즘 정리</vt:lpstr>
      <vt:lpstr>2층 신경망 클래스 구현</vt:lpstr>
      <vt:lpstr>2층 신경망 클래스 구현</vt:lpstr>
      <vt:lpstr>2층 신경망 클래스 구현</vt:lpstr>
      <vt:lpstr>2층 신경망 클래스 구현</vt:lpstr>
      <vt:lpstr>미니배치 학습 구현</vt:lpstr>
      <vt:lpstr>미니배치 학습 구현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644</cp:revision>
  <cp:lastPrinted>2016-10-13T23:42:19Z</cp:lastPrinted>
  <dcterms:created xsi:type="dcterms:W3CDTF">2016-09-30T16:23:03Z</dcterms:created>
  <dcterms:modified xsi:type="dcterms:W3CDTF">2026-09-28T00:52:38Z</dcterms:modified>
</cp:coreProperties>
</file>