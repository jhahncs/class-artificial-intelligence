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307" r:id="rId2"/>
    <p:sldId id="308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76" autoAdjust="0"/>
    <p:restoredTop sz="92729" autoAdjust="0"/>
  </p:normalViewPr>
  <p:slideViewPr>
    <p:cSldViewPr snapToGrid="0">
      <p:cViewPr varScale="1">
        <p:scale>
          <a:sx n="147" d="100"/>
          <a:sy n="147" d="100"/>
        </p:scale>
        <p:origin x="2436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04E4A-07F7-4F02-B3E2-C3B5C1401BF2}" type="datetimeFigureOut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A09A4-BA45-48FF-8C1A-293E53166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DDA34-7199-4152-B139-CF9C99ABF21A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30" y="107548"/>
            <a:ext cx="8850201" cy="8583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5280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46504"/>
            <a:ext cx="2057400" cy="365125"/>
          </a:xfrm>
        </p:spPr>
        <p:txBody>
          <a:bodyPr/>
          <a:lstStyle/>
          <a:p>
            <a:fld id="{2495EB55-4F29-4197-95E1-A5B715D579C4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46504"/>
            <a:ext cx="30861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34714" y="6426559"/>
            <a:ext cx="367616" cy="365125"/>
          </a:xfrm>
          <a:prstGeom prst="rect">
            <a:avLst/>
          </a:prstGeom>
        </p:spPr>
        <p:txBody>
          <a:bodyPr/>
          <a:lstStyle>
            <a:lvl1pPr>
              <a:defRPr sz="800" b="0"/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917C5-633B-4C85-8C0F-0E8A1B3578B2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2B97-E62C-40A0-B78F-BD701735623C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EA5F0-2015-4076-90EE-D70D0B683C4F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49EF0-A209-4797-B9D5-D9993706EC87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7AE1A-575D-498C-BD48-A00EB7F07D65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9C8B1-550D-413E-9D8B-DB541A113454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09ED-21BB-4C37-865B-F256148AE2FA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A5E-0FE9-46B1-A756-698C471C8CE4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BF92-FE1E-416A-89CC-B18A2556F974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7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BB1C4F-3B12-4648-A3D5-122AD80BDAD3}" type="datetime1">
              <a:rPr lang="ko-KR" altLang="en-US" smtClean="0"/>
              <a:t>2023-09-13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29522C62-A2CC-4D4B-B236-5A4E2840B6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55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2219D-F487-4189-9F85-A13E4525EE11}" type="datetime1">
              <a:rPr lang="ko-KR" altLang="en-US" smtClean="0"/>
              <a:t>2023-09-13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005F6450-F049-4D29-A92C-0D9D1E715E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93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3BC7AB-AE76-4283-A57E-77851087E2C1}" type="datetime1">
              <a:rPr lang="ko-KR" altLang="en-US" smtClean="0"/>
              <a:t>2023-09-13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DBF13599-2EB2-4F77-8517-1EB74F3E4D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36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646FA3-3ED5-4576-B30E-6778D7DEE8AD}" type="datetime1">
              <a:rPr lang="ko-KR" altLang="en-US" smtClean="0"/>
              <a:t>2023-09-13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97627" y="6362520"/>
            <a:ext cx="20574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41178C87-A3B4-4516-BF8E-6B60B525655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730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섹션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44016"/>
            <a:ext cx="7560840" cy="548680"/>
          </a:xfrm>
        </p:spPr>
        <p:txBody>
          <a:bodyPr/>
          <a:lstStyle>
            <a:lvl1pPr algn="l">
              <a:defRPr sz="2400" b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124744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64496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6804248" y="764704"/>
            <a:ext cx="2339752" cy="0"/>
          </a:xfrm>
          <a:prstGeom prst="line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0" y="764704"/>
            <a:ext cx="2339752" cy="0"/>
          </a:xfrm>
          <a:prstGeom prst="line">
            <a:avLst/>
          </a:prstGeom>
          <a:ln w="762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/>
          <p:cNvSpPr>
            <a:spLocks noGrp="1"/>
          </p:cNvSpPr>
          <p:nvPr>
            <p:ph idx="10"/>
          </p:nvPr>
        </p:nvSpPr>
        <p:spPr>
          <a:xfrm>
            <a:off x="179512" y="908720"/>
            <a:ext cx="8784976" cy="5688632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  <a:defRPr sz="2000" b="0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6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600"/>
            </a:lvl3pPr>
            <a:lvl4pPr marL="809625" indent="-180975">
              <a:spcAft>
                <a:spcPts val="300"/>
              </a:spcAft>
              <a:buSzPct val="96000"/>
              <a:defRPr sz="1400"/>
            </a:lvl4pPr>
            <a:lvl5pPr marL="990600" indent="-180975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523994" y="6597352"/>
            <a:ext cx="442392" cy="253281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0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7AE23-F23F-45CE-9FDB-BBBFA9B01E64}" type="datetime1">
              <a:rPr lang="ko-KR" altLang="en-US" smtClean="0"/>
              <a:t>2023-09-13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38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퍼셉트론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BBFC3-BF9F-42E3-B9B2-F4FD2820DDFC}"/>
              </a:ext>
            </a:extLst>
          </p:cNvPr>
          <p:cNvSpPr txBox="1"/>
          <p:nvPr/>
        </p:nvSpPr>
        <p:spPr>
          <a:xfrm>
            <a:off x="57150" y="6559550"/>
            <a:ext cx="26052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“</a:t>
            </a:r>
            <a:r>
              <a:rPr lang="ko-KR" altLang="en-US" sz="900" dirty="0"/>
              <a:t>밑바닥부터 시작하는 딥러닝</a:t>
            </a:r>
            <a:r>
              <a:rPr lang="en-US" altLang="ko-KR" sz="900" dirty="0"/>
              <a:t>” </a:t>
            </a:r>
            <a:r>
              <a:rPr lang="ko-KR" altLang="en-US" sz="900" dirty="0" err="1"/>
              <a:t>한빛미디어</a:t>
            </a:r>
            <a:r>
              <a:rPr lang="en-US" altLang="ko-KR" sz="900" dirty="0"/>
              <a:t>, 2017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34663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CA0E2-A126-45F9-B6DC-7432B549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32C3856-2DD0-5F56-0E11-4B5AB1AEE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다수의 신호를 입력으로 받아 하나의 신호를 출력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실제 전류와 달리 신호는 흐른다</a:t>
            </a:r>
            <a:r>
              <a:rPr lang="en-US" altLang="ko-KR" dirty="0"/>
              <a:t>/</a:t>
            </a:r>
            <a:r>
              <a:rPr lang="ko-KR" altLang="en-US" dirty="0"/>
              <a:t>안 흐른다</a:t>
            </a:r>
            <a:r>
              <a:rPr lang="en-US" altLang="ko-KR" dirty="0"/>
              <a:t>(1</a:t>
            </a:r>
            <a:r>
              <a:rPr lang="ko-KR" altLang="en-US" dirty="0"/>
              <a:t>이나 </a:t>
            </a:r>
            <a:r>
              <a:rPr lang="en-US" altLang="ko-KR" dirty="0"/>
              <a:t>0)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94B888-A00D-4592-B78C-E054ECE1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pic>
        <p:nvPicPr>
          <p:cNvPr id="9" name="그림 8" descr="원, 도표, 화이트, 라인이(가) 표시된 사진&#10;&#10;자동 생성된 설명">
            <a:extLst>
              <a:ext uri="{FF2B5EF4-FFF2-40B4-BE49-F238E27FC236}">
                <a16:creationId xmlns:a16="http://schemas.microsoft.com/office/drawing/2014/main" id="{F370BBBB-D348-5E80-7E4F-0E467982D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544" y="2770557"/>
            <a:ext cx="2997354" cy="27306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E6744B-F173-833B-621A-65E6EC358711}"/>
              </a:ext>
            </a:extLst>
          </p:cNvPr>
          <p:cNvSpPr txBox="1"/>
          <p:nvPr/>
        </p:nvSpPr>
        <p:spPr>
          <a:xfrm>
            <a:off x="1368357" y="5591350"/>
            <a:ext cx="2484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입력이 </a:t>
            </a:r>
            <a:r>
              <a:rPr lang="en-US" altLang="ko-KR" dirty="0"/>
              <a:t>2</a:t>
            </a:r>
            <a:r>
              <a:rPr lang="ko-KR" altLang="en-US" dirty="0"/>
              <a:t>개인 </a:t>
            </a:r>
            <a:r>
              <a:rPr lang="ko-KR" altLang="en-US" dirty="0" err="1"/>
              <a:t>퍼셉트론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8130AE9-9B15-BB61-77E7-209F1637316D}"/>
              </a:ext>
            </a:extLst>
          </p:cNvPr>
          <p:cNvCxnSpPr>
            <a:cxnSpLocks/>
          </p:cNvCxnSpPr>
          <p:nvPr/>
        </p:nvCxnSpPr>
        <p:spPr>
          <a:xfrm flipH="1">
            <a:off x="4014898" y="3991104"/>
            <a:ext cx="745788" cy="907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B532A5-7B7B-D565-8435-E88C9B4546C2}"/>
              </a:ext>
            </a:extLst>
          </p:cNvPr>
          <p:cNvSpPr txBox="1"/>
          <p:nvPr/>
        </p:nvSpPr>
        <p:spPr>
          <a:xfrm>
            <a:off x="4708186" y="3766545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뉴런 혹은 노드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32DEBCF-44D2-58AA-0836-59417CE483DA}"/>
              </a:ext>
            </a:extLst>
          </p:cNvPr>
          <p:cNvCxnSpPr>
            <a:cxnSpLocks/>
          </p:cNvCxnSpPr>
          <p:nvPr/>
        </p:nvCxnSpPr>
        <p:spPr>
          <a:xfrm flipH="1">
            <a:off x="2678966" y="2957209"/>
            <a:ext cx="667658" cy="5315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7917724-B9E5-0828-BA7F-4B451FF7C7DB}"/>
              </a:ext>
            </a:extLst>
          </p:cNvPr>
          <p:cNvSpPr txBox="1"/>
          <p:nvPr/>
        </p:nvSpPr>
        <p:spPr>
          <a:xfrm>
            <a:off x="3332587" y="27274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가중치</a:t>
            </a:r>
          </a:p>
        </p:txBody>
      </p:sp>
      <p:pic>
        <p:nvPicPr>
          <p:cNvPr id="19" name="그림 18" descr="폰트, 텍스트, 화이트, 친필이(가) 표시된 사진&#10;&#10;자동 생성된 설명">
            <a:extLst>
              <a:ext uri="{FF2B5EF4-FFF2-40B4-BE49-F238E27FC236}">
                <a16:creationId xmlns:a16="http://schemas.microsoft.com/office/drawing/2014/main" id="{6542B460-AD8F-3B30-1AE9-502291A39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792" y="4626100"/>
            <a:ext cx="3124361" cy="965250"/>
          </a:xfrm>
          <a:prstGeom prst="rect">
            <a:avLst/>
          </a:prstGeom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28BE9151-B0A7-AA1E-91CC-960E3CFACA2D}"/>
              </a:ext>
            </a:extLst>
          </p:cNvPr>
          <p:cNvCxnSpPr>
            <a:cxnSpLocks/>
          </p:cNvCxnSpPr>
          <p:nvPr/>
        </p:nvCxnSpPr>
        <p:spPr>
          <a:xfrm flipH="1">
            <a:off x="7295745" y="4030997"/>
            <a:ext cx="514795" cy="6771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38269F0-396E-1F0D-5BF7-7812A2EC0758}"/>
              </a:ext>
            </a:extLst>
          </p:cNvPr>
          <p:cNvSpPr txBox="1"/>
          <p:nvPr/>
        </p:nvSpPr>
        <p:spPr>
          <a:xfrm>
            <a:off x="7319458" y="371256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임계값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345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8A5A8-ADE1-91DA-10BC-589AA29E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AND </a:t>
            </a:r>
            <a:r>
              <a:rPr lang="ko-KR" altLang="en-US" dirty="0"/>
              <a:t>게이트</a:t>
            </a:r>
          </a:p>
        </p:txBody>
      </p:sp>
      <p:pic>
        <p:nvPicPr>
          <p:cNvPr id="8" name="내용 개체 틀 7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0342507C-A64C-C7D6-C5E8-61B5287D1A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59" y="1147921"/>
            <a:ext cx="2819917" cy="1984386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FF3588-8299-E18B-1AAA-A5C98EB2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043BD7-C681-6C4C-534D-3D0E02581321}"/>
                  </a:ext>
                </a:extLst>
              </p:cNvPr>
              <p:cNvSpPr txBox="1"/>
              <p:nvPr/>
            </p:nvSpPr>
            <p:spPr>
              <a:xfrm>
                <a:off x="3068234" y="1480245"/>
                <a:ext cx="607576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/>
                  <a:t>어떻게 </a:t>
                </a:r>
                <a:r>
                  <a:rPr lang="en-US" altLang="ko-KR" dirty="0"/>
                  <a:t>AND</a:t>
                </a:r>
                <a:r>
                  <a:rPr lang="ko-KR" altLang="en-US" dirty="0"/>
                  <a:t>게이트를 </a:t>
                </a:r>
                <a:r>
                  <a:rPr lang="ko-KR" altLang="en-US" dirty="0" err="1"/>
                  <a:t>퍼셉트론으로</a:t>
                </a:r>
                <a:r>
                  <a:rPr lang="ko-KR" altLang="en-US" dirty="0"/>
                  <a:t> 표현할 수 있을까</a:t>
                </a:r>
                <a:r>
                  <a:rPr lang="en-US" altLang="ko-KR" dirty="0"/>
                  <a:t>?</a:t>
                </a:r>
              </a:p>
              <a:p>
                <a:endParaRPr lang="en-US" altLang="ko-KR" dirty="0"/>
              </a:p>
              <a:p>
                <a:r>
                  <a:rPr lang="en-US" altLang="ko-KR" dirty="0">
                    <a:sym typeface="Wingdings" panose="05000000000000000000" pitchFamily="2" charset="2"/>
                  </a:rPr>
                  <a:t></a:t>
                </a:r>
              </a:p>
              <a:p>
                <a:endParaRPr lang="en-US" altLang="ko-KR" dirty="0">
                  <a:sym typeface="Wingdings" panose="05000000000000000000" pitchFamily="2" charset="2"/>
                </a:endParaRPr>
              </a:p>
              <a:p>
                <a:r>
                  <a:rPr lang="ko-KR" altLang="en-US" dirty="0"/>
                  <a:t>위 진리표대로 작동하도록 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 err="1"/>
                  <a:t>의</a:t>
                </a:r>
                <a:r>
                  <a:rPr lang="ko-KR" altLang="en-US" dirty="0"/>
                  <a:t> 값을 정하는 것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043BD7-C681-6C4C-534D-3D0E02581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234" y="1480245"/>
                <a:ext cx="6075766" cy="1477328"/>
              </a:xfrm>
              <a:prstGeom prst="rect">
                <a:avLst/>
              </a:prstGeom>
              <a:blipFill>
                <a:blip r:embed="rId3"/>
                <a:stretch>
                  <a:fillRect l="-802" t="-3306" b="-57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83EE96D1-F8B9-6359-7834-001E683E8D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240488"/>
                  </p:ext>
                </p:extLst>
              </p:nvPr>
            </p:nvGraphicFramePr>
            <p:xfrm>
              <a:off x="1997413" y="3904768"/>
              <a:ext cx="495462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1540">
                      <a:extLst>
                        <a:ext uri="{9D8B030D-6E8A-4147-A177-3AD203B41FA5}">
                          <a16:colId xmlns:a16="http://schemas.microsoft.com/office/drawing/2014/main" val="361621004"/>
                        </a:ext>
                      </a:extLst>
                    </a:gridCol>
                    <a:gridCol w="1651540">
                      <a:extLst>
                        <a:ext uri="{9D8B030D-6E8A-4147-A177-3AD203B41FA5}">
                          <a16:colId xmlns:a16="http://schemas.microsoft.com/office/drawing/2014/main" val="3139053360"/>
                        </a:ext>
                      </a:extLst>
                    </a:gridCol>
                    <a:gridCol w="1651540">
                      <a:extLst>
                        <a:ext uri="{9D8B030D-6E8A-4147-A177-3AD203B41FA5}">
                          <a16:colId xmlns:a16="http://schemas.microsoft.com/office/drawing/2014/main" val="40821381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57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0.7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084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0.8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4914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7139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83EE96D1-F8B9-6359-7834-001E683E8D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1240488"/>
                  </p:ext>
                </p:extLst>
              </p:nvPr>
            </p:nvGraphicFramePr>
            <p:xfrm>
              <a:off x="1997413" y="3904768"/>
              <a:ext cx="4954620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51540">
                      <a:extLst>
                        <a:ext uri="{9D8B030D-6E8A-4147-A177-3AD203B41FA5}">
                          <a16:colId xmlns:a16="http://schemas.microsoft.com/office/drawing/2014/main" val="361621004"/>
                        </a:ext>
                      </a:extLst>
                    </a:gridCol>
                    <a:gridCol w="1651540">
                      <a:extLst>
                        <a:ext uri="{9D8B030D-6E8A-4147-A177-3AD203B41FA5}">
                          <a16:colId xmlns:a16="http://schemas.microsoft.com/office/drawing/2014/main" val="3139053360"/>
                        </a:ext>
                      </a:extLst>
                    </a:gridCol>
                    <a:gridCol w="1651540">
                      <a:extLst>
                        <a:ext uri="{9D8B030D-6E8A-4147-A177-3AD203B41FA5}">
                          <a16:colId xmlns:a16="http://schemas.microsoft.com/office/drawing/2014/main" val="40821381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69" t="-1639" r="-201107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1639" r="-100368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200738" t="-1639" r="-738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257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0.7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084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0.8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4914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1.0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7139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03862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D6756F-501C-0E3D-5879-F719F5B55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NAND </a:t>
            </a:r>
            <a:r>
              <a:rPr lang="ko-KR" altLang="en-US" dirty="0"/>
              <a:t>게이트와 </a:t>
            </a:r>
            <a:r>
              <a:rPr lang="en-US" altLang="ko-KR" dirty="0"/>
              <a:t>OR </a:t>
            </a:r>
            <a:r>
              <a:rPr lang="ko-KR" altLang="en-US" dirty="0"/>
              <a:t>게이트</a:t>
            </a:r>
          </a:p>
        </p:txBody>
      </p:sp>
      <p:pic>
        <p:nvPicPr>
          <p:cNvPr id="6" name="내용 개체 틀 5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16243236-B515-6268-33CF-44C7CEA59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090" y="1378953"/>
            <a:ext cx="2909196" cy="205004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99024-95B0-3277-F72D-01D70B3A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10">
                <a:extLst>
                  <a:ext uri="{FF2B5EF4-FFF2-40B4-BE49-F238E27FC236}">
                    <a16:creationId xmlns:a16="http://schemas.microsoft.com/office/drawing/2014/main" id="{332CD23C-9F18-BB5D-6134-1AE473F299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6383254"/>
                  </p:ext>
                </p:extLst>
              </p:nvPr>
            </p:nvGraphicFramePr>
            <p:xfrm>
              <a:off x="700392" y="3846404"/>
              <a:ext cx="2727384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9128">
                      <a:extLst>
                        <a:ext uri="{9D8B030D-6E8A-4147-A177-3AD203B41FA5}">
                          <a16:colId xmlns:a16="http://schemas.microsoft.com/office/drawing/2014/main" val="361621004"/>
                        </a:ext>
                      </a:extLst>
                    </a:gridCol>
                    <a:gridCol w="909128">
                      <a:extLst>
                        <a:ext uri="{9D8B030D-6E8A-4147-A177-3AD203B41FA5}">
                          <a16:colId xmlns:a16="http://schemas.microsoft.com/office/drawing/2014/main" val="3139053360"/>
                        </a:ext>
                      </a:extLst>
                    </a:gridCol>
                    <a:gridCol w="909128">
                      <a:extLst>
                        <a:ext uri="{9D8B030D-6E8A-4147-A177-3AD203B41FA5}">
                          <a16:colId xmlns:a16="http://schemas.microsoft.com/office/drawing/2014/main" val="40821381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57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-0.7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084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4914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7139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10">
                <a:extLst>
                  <a:ext uri="{FF2B5EF4-FFF2-40B4-BE49-F238E27FC236}">
                    <a16:creationId xmlns:a16="http://schemas.microsoft.com/office/drawing/2014/main" id="{332CD23C-9F18-BB5D-6134-1AE473F299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6383254"/>
                  </p:ext>
                </p:extLst>
              </p:nvPr>
            </p:nvGraphicFramePr>
            <p:xfrm>
              <a:off x="700392" y="3846404"/>
              <a:ext cx="2727384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9128">
                      <a:extLst>
                        <a:ext uri="{9D8B030D-6E8A-4147-A177-3AD203B41FA5}">
                          <a16:colId xmlns:a16="http://schemas.microsoft.com/office/drawing/2014/main" val="361621004"/>
                        </a:ext>
                      </a:extLst>
                    </a:gridCol>
                    <a:gridCol w="909128">
                      <a:extLst>
                        <a:ext uri="{9D8B030D-6E8A-4147-A177-3AD203B41FA5}">
                          <a16:colId xmlns:a16="http://schemas.microsoft.com/office/drawing/2014/main" val="3139053360"/>
                        </a:ext>
                      </a:extLst>
                    </a:gridCol>
                    <a:gridCol w="909128">
                      <a:extLst>
                        <a:ext uri="{9D8B030D-6E8A-4147-A177-3AD203B41FA5}">
                          <a16:colId xmlns:a16="http://schemas.microsoft.com/office/drawing/2014/main" val="40821381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667" t="-1639" r="-200667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1342" t="-1639" r="-102013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1333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257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-0.5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-0.7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084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4914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71393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그림 8" descr="텍스트, 라인, 도표, 스크린샷이(가) 표시된 사진&#10;&#10;자동 생성된 설명">
            <a:extLst>
              <a:ext uri="{FF2B5EF4-FFF2-40B4-BE49-F238E27FC236}">
                <a16:creationId xmlns:a16="http://schemas.microsoft.com/office/drawing/2014/main" id="{437E4111-DBD4-E06E-4A22-9882146A8D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186" y="1336358"/>
            <a:ext cx="3029516" cy="20926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E741A6E7-E436-F1BA-9D79-95008136A7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674314"/>
                  </p:ext>
                </p:extLst>
              </p:nvPr>
            </p:nvGraphicFramePr>
            <p:xfrm>
              <a:off x="4863831" y="3846404"/>
              <a:ext cx="2727384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9128">
                      <a:extLst>
                        <a:ext uri="{9D8B030D-6E8A-4147-A177-3AD203B41FA5}">
                          <a16:colId xmlns:a16="http://schemas.microsoft.com/office/drawing/2014/main" val="361621004"/>
                        </a:ext>
                      </a:extLst>
                    </a:gridCol>
                    <a:gridCol w="909128">
                      <a:extLst>
                        <a:ext uri="{9D8B030D-6E8A-4147-A177-3AD203B41FA5}">
                          <a16:colId xmlns:a16="http://schemas.microsoft.com/office/drawing/2014/main" val="3139053360"/>
                        </a:ext>
                      </a:extLst>
                    </a:gridCol>
                    <a:gridCol w="909128">
                      <a:extLst>
                        <a:ext uri="{9D8B030D-6E8A-4147-A177-3AD203B41FA5}">
                          <a16:colId xmlns:a16="http://schemas.microsoft.com/office/drawing/2014/main" val="40821381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257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084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4914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7139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E741A6E7-E436-F1BA-9D79-95008136A7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674314"/>
                  </p:ext>
                </p:extLst>
              </p:nvPr>
            </p:nvGraphicFramePr>
            <p:xfrm>
              <a:off x="4863831" y="3846404"/>
              <a:ext cx="2727384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09128">
                      <a:extLst>
                        <a:ext uri="{9D8B030D-6E8A-4147-A177-3AD203B41FA5}">
                          <a16:colId xmlns:a16="http://schemas.microsoft.com/office/drawing/2014/main" val="361621004"/>
                        </a:ext>
                      </a:extLst>
                    </a:gridCol>
                    <a:gridCol w="909128">
                      <a:extLst>
                        <a:ext uri="{9D8B030D-6E8A-4147-A177-3AD203B41FA5}">
                          <a16:colId xmlns:a16="http://schemas.microsoft.com/office/drawing/2014/main" val="3139053360"/>
                        </a:ext>
                      </a:extLst>
                    </a:gridCol>
                    <a:gridCol w="909128">
                      <a:extLst>
                        <a:ext uri="{9D8B030D-6E8A-4147-A177-3AD203B41FA5}">
                          <a16:colId xmlns:a16="http://schemas.microsoft.com/office/drawing/2014/main" val="40821381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667" t="-1639" r="-200667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1342" t="-1639" r="-102013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1639" r="-1333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257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084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4914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7139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402400B-AFFA-03F4-F0F3-04B5B648FEB7}"/>
              </a:ext>
            </a:extLst>
          </p:cNvPr>
          <p:cNvSpPr txBox="1"/>
          <p:nvPr/>
        </p:nvSpPr>
        <p:spPr>
          <a:xfrm>
            <a:off x="1429385" y="5559736"/>
            <a:ext cx="60757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퍼셉트론의</a:t>
            </a:r>
            <a:r>
              <a:rPr lang="ko-KR" altLang="en-US" dirty="0"/>
              <a:t> 구조는 </a:t>
            </a:r>
            <a:r>
              <a:rPr lang="en-US" altLang="ko-KR" dirty="0"/>
              <a:t>AND, NAND, OR </a:t>
            </a:r>
            <a:r>
              <a:rPr lang="ko-KR" altLang="en-US" dirty="0"/>
              <a:t>게이트에서 모두 같음</a:t>
            </a:r>
            <a:endParaRPr lang="en-US" altLang="ko-KR" dirty="0"/>
          </a:p>
          <a:p>
            <a:r>
              <a:rPr lang="ko-KR" altLang="en-US" dirty="0"/>
              <a:t>다른 것은 매개변수</a:t>
            </a:r>
            <a:r>
              <a:rPr lang="en-US" altLang="ko-KR" dirty="0"/>
              <a:t>(</a:t>
            </a:r>
            <a:r>
              <a:rPr lang="ko-KR" altLang="en-US" dirty="0"/>
              <a:t>가중치와 </a:t>
            </a:r>
            <a:r>
              <a:rPr lang="ko-KR" altLang="en-US" dirty="0" err="1"/>
              <a:t>임계값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9756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5CE82-E946-A095-F828-627D08A4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퍼셉트론</a:t>
            </a:r>
            <a:r>
              <a:rPr lang="ko-KR" altLang="en-US" dirty="0"/>
              <a:t> 구현하기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799A5B-4FE5-A4C3-36BD-BE7B8571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표 10">
                <a:extLst>
                  <a:ext uri="{FF2B5EF4-FFF2-40B4-BE49-F238E27FC236}">
                    <a16:creationId xmlns:a16="http://schemas.microsoft.com/office/drawing/2014/main" id="{D4A2F5CD-6E48-705C-E460-39C41337D7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275651"/>
                  </p:ext>
                </p:extLst>
              </p:nvPr>
            </p:nvGraphicFramePr>
            <p:xfrm>
              <a:off x="5445714" y="5050184"/>
              <a:ext cx="2819916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9972">
                      <a:extLst>
                        <a:ext uri="{9D8B030D-6E8A-4147-A177-3AD203B41FA5}">
                          <a16:colId xmlns:a16="http://schemas.microsoft.com/office/drawing/2014/main" val="361621004"/>
                        </a:ext>
                      </a:extLst>
                    </a:gridCol>
                    <a:gridCol w="939972">
                      <a:extLst>
                        <a:ext uri="{9D8B030D-6E8A-4147-A177-3AD203B41FA5}">
                          <a16:colId xmlns:a16="http://schemas.microsoft.com/office/drawing/2014/main" val="3139053360"/>
                        </a:ext>
                      </a:extLst>
                    </a:gridCol>
                    <a:gridCol w="939972">
                      <a:extLst>
                        <a:ext uri="{9D8B030D-6E8A-4147-A177-3AD203B41FA5}">
                          <a16:colId xmlns:a16="http://schemas.microsoft.com/office/drawing/2014/main" val="40821381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dirty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ko-KR" altLang="en-US" sz="1400" dirty="0"/>
                        </a:p>
                      </a:txBody>
                      <a:tcPr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257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084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4914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71393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표 10">
                <a:extLst>
                  <a:ext uri="{FF2B5EF4-FFF2-40B4-BE49-F238E27FC236}">
                    <a16:creationId xmlns:a16="http://schemas.microsoft.com/office/drawing/2014/main" id="{D4A2F5CD-6E48-705C-E460-39C41337D7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275651"/>
                  </p:ext>
                </p:extLst>
              </p:nvPr>
            </p:nvGraphicFramePr>
            <p:xfrm>
              <a:off x="5445714" y="5050184"/>
              <a:ext cx="2819916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9972">
                      <a:extLst>
                        <a:ext uri="{9D8B030D-6E8A-4147-A177-3AD203B41FA5}">
                          <a16:colId xmlns:a16="http://schemas.microsoft.com/office/drawing/2014/main" val="361621004"/>
                        </a:ext>
                      </a:extLst>
                    </a:gridCol>
                    <a:gridCol w="939972">
                      <a:extLst>
                        <a:ext uri="{9D8B030D-6E8A-4147-A177-3AD203B41FA5}">
                          <a16:colId xmlns:a16="http://schemas.microsoft.com/office/drawing/2014/main" val="3139053360"/>
                        </a:ext>
                      </a:extLst>
                    </a:gridCol>
                    <a:gridCol w="939972">
                      <a:extLst>
                        <a:ext uri="{9D8B030D-6E8A-4147-A177-3AD203B41FA5}">
                          <a16:colId xmlns:a16="http://schemas.microsoft.com/office/drawing/2014/main" val="408213818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649" t="-1639" r="-201948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639" r="-100645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1299" t="-1639" r="-1299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2570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0.7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0844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0.5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0.8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4914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/>
                            <a:t>1.0</a:t>
                          </a:r>
                          <a:endParaRPr lang="ko-KR" alt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071393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내용 개체 틀 7" descr="텍스트, 스크린샷, 번호, 라인이(가) 표시된 사진&#10;&#10;자동 생성된 설명">
            <a:extLst>
              <a:ext uri="{FF2B5EF4-FFF2-40B4-BE49-F238E27FC236}">
                <a16:creationId xmlns:a16="http://schemas.microsoft.com/office/drawing/2014/main" id="{F2F8D56F-709D-D85E-D410-CAAC69287E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862" y="134716"/>
            <a:ext cx="2819917" cy="198438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B94BEDD-748D-2F4B-A6D7-2BB636017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51" y="1119940"/>
            <a:ext cx="2956816" cy="4618120"/>
          </a:xfrm>
          <a:prstGeom prst="rect">
            <a:avLst/>
          </a:prstGeom>
        </p:spPr>
      </p:pic>
      <p:pic>
        <p:nvPicPr>
          <p:cNvPr id="13" name="내용 개체 틀 12" descr="원, 도표, 화이트, 라인이(가) 표시된 사진&#10;&#10;자동 생성된 설명">
            <a:extLst>
              <a:ext uri="{FF2B5EF4-FFF2-40B4-BE49-F238E27FC236}">
                <a16:creationId xmlns:a16="http://schemas.microsoft.com/office/drawing/2014/main" id="{2E03D658-6532-29A9-8CB8-EF88349A2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425" y="2219323"/>
            <a:ext cx="2997354" cy="27306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A79140-B354-1855-76EF-33954ADFC01A}"/>
              </a:ext>
            </a:extLst>
          </p:cNvPr>
          <p:cNvSpPr txBox="1"/>
          <p:nvPr/>
        </p:nvSpPr>
        <p:spPr>
          <a:xfrm>
            <a:off x="6463896" y="2638717"/>
            <a:ext cx="4764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0.5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7A4F20-6B81-4E21-073A-EECC1B06F5C4}"/>
              </a:ext>
            </a:extLst>
          </p:cNvPr>
          <p:cNvSpPr txBox="1"/>
          <p:nvPr/>
        </p:nvSpPr>
        <p:spPr>
          <a:xfrm>
            <a:off x="6314408" y="3609674"/>
            <a:ext cx="4764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0.5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21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2D078-4DCF-AAA8-244F-EB7FBB7B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가중치와 편향 도입</a:t>
            </a:r>
          </a:p>
        </p:txBody>
      </p:sp>
      <p:pic>
        <p:nvPicPr>
          <p:cNvPr id="6" name="내용 개체 틀 5" descr="폰트, 텍스트, 친필, 화이트이(가) 표시된 사진&#10;&#10;자동 생성된 설명">
            <a:extLst>
              <a:ext uri="{FF2B5EF4-FFF2-40B4-BE49-F238E27FC236}">
                <a16:creationId xmlns:a16="http://schemas.microsoft.com/office/drawing/2014/main" id="{6993CCD9-CF29-C43B-C8C1-8220B18EF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73" y="3646634"/>
            <a:ext cx="3568883" cy="87634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30DE67-7F6D-5AB3-98DB-94447DDE7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7" name="그림 6" descr="폰트, 텍스트, 화이트, 친필이(가) 표시된 사진&#10;&#10;자동 생성된 설명">
            <a:extLst>
              <a:ext uri="{FF2B5EF4-FFF2-40B4-BE49-F238E27FC236}">
                <a16:creationId xmlns:a16="http://schemas.microsoft.com/office/drawing/2014/main" id="{2FFEE2D6-58D3-815F-DBAA-07C77845A3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775" y="1409486"/>
            <a:ext cx="3124361" cy="9652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6C8BFF-CBF9-C4DC-1372-B011F9D0A130}"/>
                  </a:ext>
                </a:extLst>
              </p:cNvPr>
              <p:cNvSpPr txBox="1"/>
              <p:nvPr/>
            </p:nvSpPr>
            <p:spPr>
              <a:xfrm>
                <a:off x="1727439" y="2874140"/>
                <a:ext cx="46173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dirty="0"/>
                  <a:t>로 치환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6C8BFF-CBF9-C4DC-1372-B011F9D0A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7439" y="2874140"/>
                <a:ext cx="4617394" cy="369332"/>
              </a:xfrm>
              <a:prstGeom prst="rect">
                <a:avLst/>
              </a:prstGeom>
              <a:blipFill>
                <a:blip r:embed="rId4"/>
                <a:stretch>
                  <a:fillRect t="-11475" b="-213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CA57D18-54A8-B24F-4765-3EC7BC53BE04}"/>
              </a:ext>
            </a:extLst>
          </p:cNvPr>
          <p:cNvSpPr txBox="1"/>
          <p:nvPr/>
        </p:nvSpPr>
        <p:spPr>
          <a:xfrm>
            <a:off x="605776" y="5000861"/>
            <a:ext cx="4322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입력 신호에 가중치를 곱한 값과 편향을 합하여</a:t>
            </a:r>
            <a:r>
              <a:rPr lang="en-US" altLang="ko-KR" dirty="0"/>
              <a:t>, </a:t>
            </a:r>
            <a:r>
              <a:rPr lang="ko-KR" altLang="en-US" dirty="0"/>
              <a:t>그 값이 </a:t>
            </a:r>
            <a:r>
              <a:rPr lang="en-US" altLang="ko-KR" dirty="0"/>
              <a:t>0</a:t>
            </a:r>
            <a:r>
              <a:rPr lang="ko-KR" altLang="en-US" dirty="0"/>
              <a:t>을 넘으면 </a:t>
            </a:r>
            <a:r>
              <a:rPr lang="en-US" altLang="ko-KR" dirty="0"/>
              <a:t>1</a:t>
            </a:r>
            <a:r>
              <a:rPr lang="ko-KR" altLang="en-US" dirty="0"/>
              <a:t>을 출력하고 그렇지 않으면 </a:t>
            </a:r>
            <a:r>
              <a:rPr lang="en-US" altLang="ko-KR" dirty="0"/>
              <a:t>0</a:t>
            </a:r>
            <a:r>
              <a:rPr lang="ko-KR" altLang="en-US" dirty="0"/>
              <a:t>을 출력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CF2C46C-0058-F361-14D4-77E57E076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4254" y="1180786"/>
            <a:ext cx="3534268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21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2FDE6-A157-61B9-8280-A27E0ABA4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가중치와 편향 도입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C554F9-65E9-86A4-0599-F3543DA11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770" y="1056068"/>
            <a:ext cx="4112560" cy="5280338"/>
          </a:xfrm>
        </p:spPr>
        <p:txBody>
          <a:bodyPr/>
          <a:lstStyle/>
          <a:p>
            <a:pPr algn="just"/>
            <a:r>
              <a:rPr lang="ko-KR" altLang="en-US" dirty="0"/>
              <a:t>가중치는 각 입력 신호가 결과에 주는 영향력</a:t>
            </a:r>
            <a:r>
              <a:rPr lang="en-US" altLang="ko-KR" dirty="0"/>
              <a:t>(</a:t>
            </a:r>
            <a:r>
              <a:rPr lang="ko-KR" altLang="en-US" dirty="0"/>
              <a:t>중요도</a:t>
            </a:r>
            <a:r>
              <a:rPr lang="en-US" altLang="ko-KR" dirty="0"/>
              <a:t>)</a:t>
            </a:r>
            <a:r>
              <a:rPr lang="ko-KR" altLang="en-US" dirty="0"/>
              <a:t>을 조절하는 매개변수</a:t>
            </a:r>
            <a:endParaRPr lang="en-US" altLang="ko-KR" dirty="0"/>
          </a:p>
          <a:p>
            <a:pPr algn="just"/>
            <a:endParaRPr lang="en-US" altLang="ko-KR" dirty="0"/>
          </a:p>
          <a:p>
            <a:pPr algn="just"/>
            <a:r>
              <a:rPr lang="ko-KR" altLang="en-US" dirty="0"/>
              <a:t>편향은 뉴런이 얼마나 쉽게 활성화</a:t>
            </a:r>
            <a:r>
              <a:rPr lang="en-US" altLang="ko-KR" dirty="0"/>
              <a:t>(</a:t>
            </a:r>
            <a:r>
              <a:rPr lang="ko-KR" altLang="en-US" dirty="0"/>
              <a:t>결과로 </a:t>
            </a:r>
            <a:r>
              <a:rPr lang="en-US" altLang="ko-KR" dirty="0"/>
              <a:t>1</a:t>
            </a:r>
            <a:r>
              <a:rPr lang="ko-KR" altLang="en-US" dirty="0"/>
              <a:t>을 출력</a:t>
            </a:r>
            <a:r>
              <a:rPr lang="en-US" altLang="ko-KR" dirty="0"/>
              <a:t>)</a:t>
            </a:r>
            <a:r>
              <a:rPr lang="ko-KR" altLang="en-US" dirty="0" err="1"/>
              <a:t>하느냐를</a:t>
            </a:r>
            <a:r>
              <a:rPr lang="ko-KR" altLang="en-US" dirty="0"/>
              <a:t> 조정하는 매개변수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56AC3F-47AB-32ED-DF74-615BC0920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0DC862-18F2-1198-6B34-C6313F384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45" y="1288224"/>
            <a:ext cx="3802710" cy="47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68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98849-4DFF-8794-8DAD-9B13E0FD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NAND </a:t>
            </a:r>
            <a:r>
              <a:rPr lang="ko-KR" altLang="en-US" dirty="0"/>
              <a:t>게이트와 </a:t>
            </a:r>
            <a:r>
              <a:rPr lang="en-US" altLang="ko-KR" dirty="0"/>
              <a:t>OR </a:t>
            </a:r>
            <a:r>
              <a:rPr lang="ko-KR" altLang="en-US" dirty="0"/>
              <a:t>게이트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C75151-BDA9-C0CF-66FF-873599544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A198E-112C-CEA4-7E63-BF1F331D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3787E2-6F29-8EE7-A7FC-F71FC495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31" y="1556424"/>
            <a:ext cx="3468504" cy="393379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28FFAA-F798-67EC-EE69-4DDF18073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069" y="1556424"/>
            <a:ext cx="3531234" cy="403155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6BB624E-9081-9A12-CFA1-505175D100ED}"/>
              </a:ext>
            </a:extLst>
          </p:cNvPr>
          <p:cNvSpPr/>
          <p:nvPr/>
        </p:nvSpPr>
        <p:spPr>
          <a:xfrm>
            <a:off x="1712068" y="2036323"/>
            <a:ext cx="920885" cy="26589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DC95E2-1AA3-539D-529C-AE07D79A0B2A}"/>
              </a:ext>
            </a:extLst>
          </p:cNvPr>
          <p:cNvSpPr/>
          <p:nvPr/>
        </p:nvSpPr>
        <p:spPr>
          <a:xfrm>
            <a:off x="6177065" y="2036323"/>
            <a:ext cx="787940" cy="26589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A154BC-025C-96C4-0D46-DC777E6F3E98}"/>
              </a:ext>
            </a:extLst>
          </p:cNvPr>
          <p:cNvSpPr/>
          <p:nvPr/>
        </p:nvSpPr>
        <p:spPr>
          <a:xfrm>
            <a:off x="5389125" y="2277592"/>
            <a:ext cx="479896" cy="26589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FA9259-A921-F84E-7591-7682CD67F413}"/>
              </a:ext>
            </a:extLst>
          </p:cNvPr>
          <p:cNvSpPr/>
          <p:nvPr/>
        </p:nvSpPr>
        <p:spPr>
          <a:xfrm>
            <a:off x="943583" y="2232878"/>
            <a:ext cx="479896" cy="265890"/>
          </a:xfrm>
          <a:prstGeom prst="rect">
            <a:avLst/>
          </a:prstGeom>
          <a:noFill/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8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A96A6-6BD3-110B-E18F-3735CFD4E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XOR </a:t>
            </a:r>
            <a:r>
              <a:rPr lang="ko-KR" altLang="en-US" dirty="0"/>
              <a:t>게이트</a:t>
            </a:r>
          </a:p>
        </p:txBody>
      </p:sp>
      <p:pic>
        <p:nvPicPr>
          <p:cNvPr id="8" name="내용 개체 틀 7" descr="라인, 도표, 스크린샷, 번호이(가) 표시된 사진&#10;&#10;자동 생성된 설명">
            <a:extLst>
              <a:ext uri="{FF2B5EF4-FFF2-40B4-BE49-F238E27FC236}">
                <a16:creationId xmlns:a16="http://schemas.microsoft.com/office/drawing/2014/main" id="{267F7849-A5D6-97CA-07F4-D137990B0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807" y="1652678"/>
            <a:ext cx="2042048" cy="238072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0D2B94-FFAF-7B96-F0B7-86DF864A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C27B7E-583C-BC8C-0246-5E9D1B17C3D3}"/>
              </a:ext>
            </a:extLst>
          </p:cNvPr>
          <p:cNvSpPr txBox="1"/>
          <p:nvPr/>
        </p:nvSpPr>
        <p:spPr>
          <a:xfrm>
            <a:off x="2660605" y="4281992"/>
            <a:ext cx="4322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퍼센트론으로 구현하려면 가중치 매개변수 값을 어떻게 설정하면 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615C9-6D14-CE26-FE37-C46079E46E1E}"/>
              </a:ext>
            </a:extLst>
          </p:cNvPr>
          <p:cNvSpPr txBox="1"/>
          <p:nvPr/>
        </p:nvSpPr>
        <p:spPr>
          <a:xfrm>
            <a:off x="3237778" y="1135035"/>
            <a:ext cx="4322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XOR </a:t>
            </a:r>
            <a:r>
              <a:rPr lang="ko-KR" altLang="en-US" dirty="0"/>
              <a:t>게이트 </a:t>
            </a:r>
            <a:r>
              <a:rPr lang="en-US" altLang="ko-KR" dirty="0"/>
              <a:t>= </a:t>
            </a:r>
            <a:r>
              <a:rPr lang="ko-KR" altLang="en-US" dirty="0"/>
              <a:t>배타적 논리합</a:t>
            </a:r>
          </a:p>
        </p:txBody>
      </p:sp>
    </p:spTree>
    <p:extLst>
      <p:ext uri="{BB962C8B-B14F-4D97-AF65-F5344CB8AC3E}">
        <p14:creationId xmlns:p14="http://schemas.microsoft.com/office/powerpoint/2010/main" val="1485806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E3793-966C-9469-F290-70A8A5FB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 </a:t>
            </a:r>
            <a:r>
              <a:rPr lang="ko-KR" altLang="en-US" dirty="0"/>
              <a:t>게이트 복습</a:t>
            </a:r>
          </a:p>
        </p:txBody>
      </p:sp>
      <p:pic>
        <p:nvPicPr>
          <p:cNvPr id="6" name="내용 개체 틀 5" descr="폰트, 텍스트, 화이트, 서예이(가) 표시된 사진&#10;&#10;자동 생성된 설명">
            <a:extLst>
              <a:ext uri="{FF2B5EF4-FFF2-40B4-BE49-F238E27FC236}">
                <a16:creationId xmlns:a16="http://schemas.microsoft.com/office/drawing/2014/main" id="{E9448791-2212-0217-A53F-7E2666488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6201" y="1489714"/>
            <a:ext cx="3155346" cy="84455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F7E771-A8B4-48AE-755E-CD0557DC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7" name="그림 6" descr="텍스트, 라인, 도표, 스크린샷이(가) 표시된 사진&#10;&#10;자동 생성된 설명">
            <a:extLst>
              <a:ext uri="{FF2B5EF4-FFF2-40B4-BE49-F238E27FC236}">
                <a16:creationId xmlns:a16="http://schemas.microsoft.com/office/drawing/2014/main" id="{C565A04B-6DDD-A71A-ABE7-24418F71F8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24" y="988615"/>
            <a:ext cx="2251304" cy="1555091"/>
          </a:xfrm>
          <a:prstGeom prst="rect">
            <a:avLst/>
          </a:prstGeom>
        </p:spPr>
      </p:pic>
      <p:pic>
        <p:nvPicPr>
          <p:cNvPr id="9" name="그림 8" descr="라인, 도표, 그래프, 평행이(가) 표시된 사진&#10;&#10;자동 생성된 설명">
            <a:extLst>
              <a:ext uri="{FF2B5EF4-FFF2-40B4-BE49-F238E27FC236}">
                <a16:creationId xmlns:a16="http://schemas.microsoft.com/office/drawing/2014/main" id="{5C64748C-C31C-CB7C-2489-B2CDBBE9F8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292" y="2805786"/>
            <a:ext cx="3499818" cy="343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2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72BE4-B7E6-8FFF-7FAC-DDB108CF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XOR </a:t>
            </a:r>
            <a:r>
              <a:rPr lang="ko-KR" altLang="en-US" dirty="0"/>
              <a:t>게이트</a:t>
            </a:r>
          </a:p>
        </p:txBody>
      </p:sp>
      <p:pic>
        <p:nvPicPr>
          <p:cNvPr id="6" name="내용 개체 틀 5" descr="라인, 안테나이(가) 표시된 사진&#10;&#10;자동 생성된 설명">
            <a:extLst>
              <a:ext uri="{FF2B5EF4-FFF2-40B4-BE49-F238E27FC236}">
                <a16:creationId xmlns:a16="http://schemas.microsoft.com/office/drawing/2014/main" id="{D647BFA8-D98E-7425-67B1-28948335A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31" y="854650"/>
            <a:ext cx="5329485" cy="528002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20454F-D41D-CAFC-F334-F6E1C7AE0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665FF-E984-416A-D6E5-F7E7FAC5256C}"/>
              </a:ext>
            </a:extLst>
          </p:cNvPr>
          <p:cNvSpPr txBox="1"/>
          <p:nvPr/>
        </p:nvSpPr>
        <p:spPr>
          <a:xfrm>
            <a:off x="4677474" y="1713017"/>
            <a:ext cx="383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직선 하나로 영역을 나눌 수 있을까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B08BF7-EDCE-C77D-9B71-E812D94F1879}"/>
              </a:ext>
            </a:extLst>
          </p:cNvPr>
          <p:cNvSpPr txBox="1"/>
          <p:nvPr/>
        </p:nvSpPr>
        <p:spPr>
          <a:xfrm>
            <a:off x="3954692" y="6051966"/>
            <a:ext cx="486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퍼셉트론으로는</a:t>
            </a:r>
            <a:r>
              <a:rPr lang="ko-KR" altLang="en-US" dirty="0"/>
              <a:t> </a:t>
            </a:r>
            <a:r>
              <a:rPr lang="en-US" altLang="ko-KR" dirty="0"/>
              <a:t>XOR </a:t>
            </a:r>
            <a:r>
              <a:rPr lang="ko-KR" altLang="en-US" dirty="0"/>
              <a:t>게이트를 표현할 수 없음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365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59A01-C79D-F80C-49D5-B1E5A702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선형과 비선형</a:t>
            </a:r>
          </a:p>
        </p:txBody>
      </p:sp>
      <p:pic>
        <p:nvPicPr>
          <p:cNvPr id="6" name="내용 개체 틀 5" descr="도표, 라인, 스케치이(가) 표시된 사진&#10;&#10;자동 생성된 설명">
            <a:extLst>
              <a:ext uri="{FF2B5EF4-FFF2-40B4-BE49-F238E27FC236}">
                <a16:creationId xmlns:a16="http://schemas.microsoft.com/office/drawing/2014/main" id="{6D303294-DC6C-DFC7-B88D-A8105FDE2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419" y="1193672"/>
            <a:ext cx="5334274" cy="500405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A5AA77-310D-63E8-46CA-E758FC17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8175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D86A-9CA9-8EE5-3392-68FEA220F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해결책 </a:t>
            </a:r>
            <a:r>
              <a:rPr lang="en-US" altLang="ko-KR" dirty="0"/>
              <a:t>– </a:t>
            </a:r>
            <a:r>
              <a:rPr lang="ko-KR" altLang="en-US" dirty="0"/>
              <a:t>기존 게이트 조합하기</a:t>
            </a:r>
          </a:p>
        </p:txBody>
      </p:sp>
      <p:pic>
        <p:nvPicPr>
          <p:cNvPr id="6" name="내용 개체 틀 5" descr="폰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C42EA04D-0B69-7F75-FE5A-DB05FBA4E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729" y="1573556"/>
            <a:ext cx="5461281" cy="107955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B96E83-C9B7-0B00-B2DA-7CA37DAB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8" name="그림 7" descr="도표, 라인, 스케치, 평면도이(가) 표시된 사진&#10;&#10;자동 생성된 설명">
            <a:extLst>
              <a:ext uri="{FF2B5EF4-FFF2-40B4-BE49-F238E27FC236}">
                <a16:creationId xmlns:a16="http://schemas.microsoft.com/office/drawing/2014/main" id="{A0B04D94-BC76-52C6-1E3E-1B7DEBF63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284" y="3272101"/>
            <a:ext cx="4521432" cy="149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01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C6722-55EB-51AA-B7C8-783F1A9F5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게이트 조합하기</a:t>
            </a:r>
          </a:p>
        </p:txBody>
      </p:sp>
      <p:pic>
        <p:nvPicPr>
          <p:cNvPr id="6" name="내용 개체 틀 5" descr="도표, 스케치, 라인, 폰트이(가) 표시된 사진&#10;&#10;자동 생성된 설명">
            <a:extLst>
              <a:ext uri="{FF2B5EF4-FFF2-40B4-BE49-F238E27FC236}">
                <a16:creationId xmlns:a16="http://schemas.microsoft.com/office/drawing/2014/main" id="{69AAD2E8-71A2-0DB5-220F-A7033C61A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36" y="2757889"/>
            <a:ext cx="4546834" cy="1460575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F55B11-1F41-B6ED-00CA-5507E62C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7" name="내용 개체 틀 5" descr="폰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7D5904C7-EB94-EAB8-7EE0-942E95FEB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82" y="1126083"/>
            <a:ext cx="5461281" cy="1079555"/>
          </a:xfrm>
          <a:prstGeom prst="rect">
            <a:avLst/>
          </a:prstGeom>
        </p:spPr>
      </p:pic>
      <p:pic>
        <p:nvPicPr>
          <p:cNvPr id="9" name="그림 8" descr="텍스트, 번호, 스크린샷, 도표이(가) 표시된 사진&#10;&#10;자동 생성된 설명">
            <a:extLst>
              <a:ext uri="{FF2B5EF4-FFF2-40B4-BE49-F238E27FC236}">
                <a16:creationId xmlns:a16="http://schemas.microsoft.com/office/drawing/2014/main" id="{D2E469EC-4578-2579-87DE-D65EFB6731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688" y="3871258"/>
            <a:ext cx="3773169" cy="267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22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FF951-B758-DE12-6F5F-ABA1FE0D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XOR </a:t>
            </a:r>
            <a:r>
              <a:rPr lang="ko-KR" altLang="en-US" dirty="0"/>
              <a:t>게이트 구현하기</a:t>
            </a:r>
          </a:p>
        </p:txBody>
      </p:sp>
      <p:pic>
        <p:nvPicPr>
          <p:cNvPr id="8" name="내용 개체 틀 7" descr="도표, 원, 라인, 디자인이(가) 표시된 사진&#10;&#10;자동 생성된 설명">
            <a:extLst>
              <a:ext uri="{FF2B5EF4-FFF2-40B4-BE49-F238E27FC236}">
                <a16:creationId xmlns:a16="http://schemas.microsoft.com/office/drawing/2014/main" id="{858216B4-FA06-C378-A638-A56AAE20D2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2954"/>
            <a:ext cx="4893096" cy="2809213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8C73A7-E50B-6F45-1B20-CC3B1257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6BEC57-2737-99E4-A8E9-6F8DB61EB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364" y="1862954"/>
            <a:ext cx="3673158" cy="3132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36D188-6216-9B87-1FDF-3DCCF4724BCC}"/>
              </a:ext>
            </a:extLst>
          </p:cNvPr>
          <p:cNvSpPr txBox="1"/>
          <p:nvPr/>
        </p:nvSpPr>
        <p:spPr>
          <a:xfrm>
            <a:off x="705654" y="5018592"/>
            <a:ext cx="176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층 </a:t>
            </a:r>
            <a:r>
              <a:rPr lang="ko-KR" altLang="en-US" dirty="0" err="1"/>
              <a:t>퍼셉트론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762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17303</TotalTime>
  <Words>252</Words>
  <Application>Microsoft Office PowerPoint</Application>
  <PresentationFormat>화면 슬라이드 쇼(4:3)</PresentationFormat>
  <Paragraphs>89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맑은 고딕</vt:lpstr>
      <vt:lpstr>Arial</vt:lpstr>
      <vt:lpstr>Calibri</vt:lpstr>
      <vt:lpstr>Calibri Light</vt:lpstr>
      <vt:lpstr>Cambria Math</vt:lpstr>
      <vt:lpstr>Wingdings</vt:lpstr>
      <vt:lpstr>Office 테마</vt:lpstr>
      <vt:lpstr>퍼셉트론</vt:lpstr>
      <vt:lpstr>퍼셉트론</vt:lpstr>
      <vt:lpstr>AND 게이트</vt:lpstr>
      <vt:lpstr>NAND 게이트와 OR 게이트</vt:lpstr>
      <vt:lpstr>퍼셉트론 구현하기</vt:lpstr>
      <vt:lpstr>가중치와 편향 도입</vt:lpstr>
      <vt:lpstr>가중치와 편향 도입</vt:lpstr>
      <vt:lpstr>NAND 게이트와 OR 게이트</vt:lpstr>
      <vt:lpstr>XOR 게이트</vt:lpstr>
      <vt:lpstr>OR 게이트 복습</vt:lpstr>
      <vt:lpstr>XOR 게이트</vt:lpstr>
      <vt:lpstr>선형과 비선형</vt:lpstr>
      <vt:lpstr>해결책 – 기존 게이트 조합하기</vt:lpstr>
      <vt:lpstr>기존 게이트 조합하기</vt:lpstr>
      <vt:lpstr>XOR 게이트 구현하기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for 2-hop Labeling of Dynamic Directed Acyclic Graphs</dc:title>
  <dc:creator>Windows 사용자</dc:creator>
  <cp:lastModifiedBy>안진현</cp:lastModifiedBy>
  <cp:revision>612</cp:revision>
  <cp:lastPrinted>2016-10-13T23:42:19Z</cp:lastPrinted>
  <dcterms:created xsi:type="dcterms:W3CDTF">2016-09-30T16:23:03Z</dcterms:created>
  <dcterms:modified xsi:type="dcterms:W3CDTF">2023-09-13T08:21:53Z</dcterms:modified>
</cp:coreProperties>
</file>