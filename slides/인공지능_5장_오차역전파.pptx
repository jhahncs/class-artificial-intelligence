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4"/>
  </p:notesMasterIdLst>
  <p:sldIdLst>
    <p:sldId id="307" r:id="rId2"/>
    <p:sldId id="348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34" r:id="rId12"/>
    <p:sldId id="33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36" r:id="rId24"/>
    <p:sldId id="326" r:id="rId25"/>
    <p:sldId id="327" r:id="rId26"/>
    <p:sldId id="328" r:id="rId27"/>
    <p:sldId id="329" r:id="rId28"/>
    <p:sldId id="330" r:id="rId29"/>
    <p:sldId id="331" r:id="rId30"/>
    <p:sldId id="332" r:id="rId31"/>
    <p:sldId id="333" r:id="rId32"/>
    <p:sldId id="337" r:id="rId33"/>
    <p:sldId id="338" r:id="rId34"/>
    <p:sldId id="344" r:id="rId35"/>
    <p:sldId id="345" r:id="rId36"/>
    <p:sldId id="346" r:id="rId37"/>
    <p:sldId id="340" r:id="rId38"/>
    <p:sldId id="339" r:id="rId39"/>
    <p:sldId id="341" r:id="rId40"/>
    <p:sldId id="347" r:id="rId41"/>
    <p:sldId id="342" r:id="rId42"/>
    <p:sldId id="343" r:id="rId43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76" autoAdjust="0"/>
    <p:restoredTop sz="92729" autoAdjust="0"/>
  </p:normalViewPr>
  <p:slideViewPr>
    <p:cSldViewPr snapToGrid="0">
      <p:cViewPr varScale="1">
        <p:scale>
          <a:sx n="149" d="100"/>
          <a:sy n="149" d="100"/>
        </p:scale>
        <p:origin x="2388" y="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04E4A-07F7-4F02-B3E2-C3B5C1401BF2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A09A4-BA45-48FF-8C1A-293E53166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6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DDA34-7199-4152-B139-CF9C99ABF21A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601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130" y="107548"/>
            <a:ext cx="8850201" cy="858367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129" y="1056068"/>
            <a:ext cx="8850201" cy="5280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46504"/>
            <a:ext cx="2057400" cy="365125"/>
          </a:xfrm>
        </p:spPr>
        <p:txBody>
          <a:bodyPr/>
          <a:lstStyle/>
          <a:p>
            <a:fld id="{2495EB55-4F29-4197-95E1-A5B715D579C4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46504"/>
            <a:ext cx="30861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34714" y="6426559"/>
            <a:ext cx="367616" cy="365125"/>
          </a:xfrm>
          <a:prstGeom prst="rect">
            <a:avLst/>
          </a:prstGeom>
        </p:spPr>
        <p:txBody>
          <a:bodyPr/>
          <a:lstStyle>
            <a:lvl1pPr>
              <a:defRPr sz="800" b="0"/>
            </a:lvl1pPr>
          </a:lstStyle>
          <a:p>
            <a:fld id="{B4844BEB-34CB-469D-8313-83BA6B52212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1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917C5-633B-4C85-8C0F-0E8A1B3578B2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55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2B97-E62C-40A0-B78F-BD701735623C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8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A5F0-2015-4076-90EE-D70D0B683C4F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8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49EF0-A209-4797-B9D5-D9993706EC87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27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7AE1A-575D-498C-BD48-A00EB7F07D65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59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9C8B1-550D-413E-9D8B-DB541A113454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3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09ED-21BB-4C37-865B-F256148AE2FA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81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4A5E-0FE9-46B1-A756-698C471C8CE4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98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BF92-FE1E-416A-89CC-B18A2556F974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371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BB1C4F-3B12-4648-A3D5-122AD80BDAD3}" type="datetime1">
              <a:rPr lang="ko-KR" altLang="en-US" smtClean="0"/>
              <a:t>2026-10-12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29522C62-A2CC-4D4B-B236-5A4E2840B6D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9551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F2219D-F487-4189-9F85-A13E4525EE11}" type="datetime1">
              <a:rPr lang="ko-KR" altLang="en-US" smtClean="0"/>
              <a:t>2026-10-12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005F6450-F049-4D29-A92C-0D9D1E715E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0931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3BC7AB-AE76-4283-A57E-77851087E2C1}" type="datetime1">
              <a:rPr lang="ko-KR" altLang="en-US" smtClean="0"/>
              <a:t>2026-10-12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DBF13599-2EB2-4F77-8517-1EB74F3E4DB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4360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646FA3-3ED5-4576-B30E-6778D7DEE8AD}" type="datetime1">
              <a:rPr lang="ko-KR" altLang="en-US" smtClean="0"/>
              <a:t>2026-10-12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41178C87-A3B4-4516-BF8E-6B60B525655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0730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섹션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144016"/>
            <a:ext cx="7560840" cy="548680"/>
          </a:xfrm>
        </p:spPr>
        <p:txBody>
          <a:bodyPr/>
          <a:lstStyle>
            <a:lvl1pPr algn="l">
              <a:defRPr sz="2400" b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764704"/>
            <a:ext cx="2339752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764704"/>
            <a:ext cx="2339752" cy="0"/>
          </a:xfrm>
          <a:prstGeom prst="line">
            <a:avLst/>
          </a:prstGeom>
          <a:ln w="76200"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764704"/>
            <a:ext cx="2339752" cy="0"/>
          </a:xfrm>
          <a:prstGeom prst="line">
            <a:avLst/>
          </a:prstGeom>
          <a:ln w="76200">
            <a:solidFill>
              <a:schemeClr val="accent5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764704"/>
            <a:ext cx="2339752" cy="0"/>
          </a:xfrm>
          <a:prstGeom prst="line">
            <a:avLst/>
          </a:prstGeom>
          <a:ln w="762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179512" y="908720"/>
            <a:ext cx="8784976" cy="5688632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Wingdings" pitchFamily="2" charset="2"/>
              <a:buChar char="n"/>
              <a:defRPr sz="2000" b="0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600"/>
            </a:lvl3pPr>
            <a:lvl4pPr marL="809625" indent="-180975">
              <a:spcAft>
                <a:spcPts val="300"/>
              </a:spcAft>
              <a:buSzPct val="96000"/>
              <a:defRPr sz="1400"/>
            </a:lvl4pPr>
            <a:lvl5pPr marL="990600" indent="-180975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523994" y="6597352"/>
            <a:ext cx="442392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08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7AE23-F23F-45CE-9FDB-BBBFA9B01E64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38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오차역전파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EBBFC3-BF9F-42E3-B9B2-F4FD2820DDFC}"/>
              </a:ext>
            </a:extLst>
          </p:cNvPr>
          <p:cNvSpPr txBox="1"/>
          <p:nvPr/>
        </p:nvSpPr>
        <p:spPr>
          <a:xfrm>
            <a:off x="57150" y="6559550"/>
            <a:ext cx="26052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“</a:t>
            </a:r>
            <a:r>
              <a:rPr lang="ko-KR" altLang="en-US" sz="900" dirty="0"/>
              <a:t>밑바닥부터 시작하는 딥러닝</a:t>
            </a:r>
            <a:r>
              <a:rPr lang="en-US" altLang="ko-KR" sz="900" dirty="0"/>
              <a:t>” </a:t>
            </a:r>
            <a:r>
              <a:rPr lang="ko-KR" altLang="en-US" sz="900" dirty="0" err="1"/>
              <a:t>한빛미디어</a:t>
            </a:r>
            <a:r>
              <a:rPr lang="en-US" altLang="ko-KR" sz="900" dirty="0"/>
              <a:t>, 2017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346635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8AC300-289D-9F9F-54A2-8ADB28AE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453DF0-84DD-EE3F-5F6B-17E00D354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E23295-27E9-57EB-BAEB-C129351913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40"/>
          <a:stretch>
            <a:fillRect/>
          </a:stretch>
        </p:blipFill>
        <p:spPr>
          <a:xfrm>
            <a:off x="264628" y="965915"/>
            <a:ext cx="6960842" cy="319553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AFF7DC7-D538-4815-8BC4-E47ADA8F8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753" y="1693731"/>
            <a:ext cx="1257413" cy="19254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F82E96-4D59-67BB-5E51-3B109678A98A}"/>
              </a:ext>
            </a:extLst>
          </p:cNvPr>
          <p:cNvSpPr txBox="1"/>
          <p:nvPr/>
        </p:nvSpPr>
        <p:spPr>
          <a:xfrm>
            <a:off x="5161659" y="1454950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신경망의 예측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357BAF-8F3E-731C-CFCF-C326FFB92C31}"/>
              </a:ext>
            </a:extLst>
          </p:cNvPr>
          <p:cNvSpPr txBox="1"/>
          <p:nvPr/>
        </p:nvSpPr>
        <p:spPr>
          <a:xfrm>
            <a:off x="7949752" y="145495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정답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785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EB8E6-4640-4FA6-9E66-2ED69E2AC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8171CD-D63D-4005-9DA3-E8591541B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ko-KR" altLang="en-US" dirty="0"/>
              <a:t>수치 미분은 단순하고 구현도 쉽지만 계산 시간이 오래 걸린다는 단점이 있음</a:t>
            </a:r>
            <a:endParaRPr lang="en-US" altLang="ko-KR" dirty="0"/>
          </a:p>
          <a:p>
            <a:pPr algn="just">
              <a:lnSpc>
                <a:spcPct val="100000"/>
              </a:lnSpc>
            </a:pPr>
            <a:r>
              <a:rPr lang="ko-KR" altLang="en-US" dirty="0"/>
              <a:t>이번 장에서는 가중치 매개변수의 기울기를 효율적으로 계산하는 </a:t>
            </a:r>
            <a:r>
              <a:rPr lang="en-US" altLang="ko-KR" dirty="0"/>
              <a:t>'</a:t>
            </a:r>
            <a:r>
              <a:rPr lang="ko-KR" altLang="en-US" dirty="0" err="1"/>
              <a:t>오차역전파법</a:t>
            </a:r>
            <a:r>
              <a:rPr lang="en-US" altLang="ko-KR" dirty="0"/>
              <a:t>(backpropagation)'</a:t>
            </a:r>
            <a:r>
              <a:rPr lang="ko-KR" altLang="en-US" dirty="0"/>
              <a:t>을 배워보자</a:t>
            </a:r>
            <a:r>
              <a:rPr lang="en-US" altLang="ko-KR" dirty="0"/>
              <a:t>.</a:t>
            </a:r>
          </a:p>
          <a:p>
            <a:pPr algn="just">
              <a:lnSpc>
                <a:spcPct val="100000"/>
              </a:lnSpc>
            </a:pPr>
            <a:endParaRPr lang="en-US" altLang="ko-KR" dirty="0"/>
          </a:p>
          <a:p>
            <a:pPr algn="just">
              <a:lnSpc>
                <a:spcPct val="100000"/>
              </a:lnSpc>
            </a:pPr>
            <a:r>
              <a:rPr lang="ko-KR" altLang="en-US" dirty="0" err="1"/>
              <a:t>오차역전파법을</a:t>
            </a:r>
            <a:r>
              <a:rPr lang="ko-KR" altLang="en-US" dirty="0"/>
              <a:t> 제대로 이해하는 방법</a:t>
            </a:r>
            <a:endParaRPr lang="en-US" altLang="ko-KR" dirty="0"/>
          </a:p>
          <a:p>
            <a:pPr lvl="1" algn="just">
              <a:lnSpc>
                <a:spcPct val="100000"/>
              </a:lnSpc>
            </a:pPr>
            <a:r>
              <a:rPr lang="ko-KR" altLang="en-US" dirty="0"/>
              <a:t>수식</a:t>
            </a:r>
            <a:endParaRPr lang="en-US" altLang="ko-KR" dirty="0"/>
          </a:p>
          <a:p>
            <a:pPr lvl="1" algn="just">
              <a:lnSpc>
                <a:spcPct val="100000"/>
              </a:lnSpc>
            </a:pPr>
            <a:r>
              <a:rPr lang="ko-KR" altLang="en-US" dirty="0"/>
              <a:t>계산 그래프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296A2F-08E5-4329-8179-429FF9499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914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FD3A15-3FE0-47A2-A07E-E16F056D9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계산 그래프</a:t>
            </a:r>
            <a:r>
              <a:rPr lang="en-US" altLang="ko-KR" dirty="0"/>
              <a:t>(computational graph)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F6C72D-04C3-478F-94EE-E36AAD6FB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계산 과정을 그래프로 나타낸 것</a:t>
            </a:r>
            <a:endParaRPr lang="en-US" altLang="ko-KR" dirty="0"/>
          </a:p>
          <a:p>
            <a:r>
              <a:rPr lang="ko-KR" altLang="en-US" dirty="0"/>
              <a:t>그래프는</a:t>
            </a:r>
            <a:r>
              <a:rPr lang="en-US" altLang="ko-KR" dirty="0"/>
              <a:t> </a:t>
            </a:r>
            <a:r>
              <a:rPr lang="ko-KR" altLang="en-US" dirty="0"/>
              <a:t>복수의 노드</a:t>
            </a:r>
            <a:r>
              <a:rPr lang="en-US" altLang="ko-KR" dirty="0"/>
              <a:t>(node)</a:t>
            </a:r>
            <a:r>
              <a:rPr lang="ko-KR" altLang="en-US" dirty="0"/>
              <a:t>와 에지</a:t>
            </a:r>
            <a:r>
              <a:rPr lang="en-US" altLang="ko-KR" dirty="0"/>
              <a:t>(edge)</a:t>
            </a:r>
            <a:r>
              <a:rPr lang="ko-KR" altLang="en-US" dirty="0"/>
              <a:t>를 가짐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F9DF38-29FF-4EFA-AEB3-52A7F532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1026" name="Picture 2" descr="TIL] 자료구조 Graph 이해하기. Graph | by gKYOe | Medium">
            <a:extLst>
              <a:ext uri="{FF2B5EF4-FFF2-40B4-BE49-F238E27FC236}">
                <a16:creationId xmlns:a16="http://schemas.microsoft.com/office/drawing/2014/main" id="{9724C6CA-5336-410F-8A0F-40088A1E0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059" y="2317433"/>
            <a:ext cx="4648200" cy="368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6252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2E8167-D936-436A-BB28-312B20D8E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계산 그래프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A68081-896B-4F62-86B0-DCF5DAE09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ko-KR" altLang="en-US" dirty="0"/>
              <a:t>문제 </a:t>
            </a:r>
            <a:r>
              <a:rPr lang="en-US" altLang="ko-KR" dirty="0"/>
              <a:t>1: </a:t>
            </a:r>
            <a:r>
              <a:rPr lang="ko-KR" altLang="en-US" dirty="0"/>
              <a:t>현빈 군은 슈퍼에서 </a:t>
            </a:r>
            <a:r>
              <a:rPr lang="en-US" altLang="ko-KR" dirty="0"/>
              <a:t>1</a:t>
            </a:r>
            <a:r>
              <a:rPr lang="ko-KR" altLang="en-US" dirty="0"/>
              <a:t>개에 </a:t>
            </a:r>
            <a:r>
              <a:rPr lang="en-US" altLang="ko-KR" dirty="0"/>
              <a:t>100</a:t>
            </a:r>
            <a:r>
              <a:rPr lang="ko-KR" altLang="en-US" dirty="0"/>
              <a:t>원인 사과를 </a:t>
            </a:r>
            <a:r>
              <a:rPr lang="en-US" altLang="ko-KR" dirty="0"/>
              <a:t>2</a:t>
            </a:r>
            <a:r>
              <a:rPr lang="ko-KR" altLang="en-US" dirty="0"/>
              <a:t>개 샀다</a:t>
            </a:r>
            <a:r>
              <a:rPr lang="en-US" altLang="ko-KR" dirty="0"/>
              <a:t>. </a:t>
            </a:r>
            <a:r>
              <a:rPr lang="ko-KR" altLang="en-US" dirty="0"/>
              <a:t>이때 지불 금액을 구하라</a:t>
            </a:r>
            <a:r>
              <a:rPr lang="en-US" altLang="ko-KR" dirty="0"/>
              <a:t>.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소비세가 </a:t>
            </a:r>
            <a:r>
              <a:rPr lang="en-US" altLang="ko-KR" dirty="0"/>
              <a:t>10% </a:t>
            </a:r>
            <a:r>
              <a:rPr lang="ko-KR" altLang="en-US" dirty="0"/>
              <a:t>부과된다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E20009-FFF2-42C2-AEE9-70AACA9D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2D79ABB-5709-4C4D-8CA9-5C59C7374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57500"/>
            <a:ext cx="9144000" cy="1141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896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91E53-8280-4058-96E8-6788B6DA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계산 그래프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0EE2B7-2742-4A24-A8F8-9340D814E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1: </a:t>
            </a:r>
            <a:r>
              <a:rPr lang="ko-KR" altLang="en-US" dirty="0"/>
              <a:t>현빈 군은 슈퍼에서 </a:t>
            </a:r>
            <a:r>
              <a:rPr lang="en-US" altLang="ko-KR" dirty="0"/>
              <a:t>1</a:t>
            </a:r>
            <a:r>
              <a:rPr lang="ko-KR" altLang="en-US" dirty="0"/>
              <a:t>개에 </a:t>
            </a:r>
            <a:r>
              <a:rPr lang="en-US" altLang="ko-KR" dirty="0"/>
              <a:t>100</a:t>
            </a:r>
            <a:r>
              <a:rPr lang="ko-KR" altLang="en-US" dirty="0"/>
              <a:t>원인 사과를 </a:t>
            </a:r>
            <a:r>
              <a:rPr lang="en-US" altLang="ko-KR" dirty="0"/>
              <a:t>2</a:t>
            </a:r>
            <a:r>
              <a:rPr lang="ko-KR" altLang="en-US" dirty="0"/>
              <a:t>개 샀다</a:t>
            </a:r>
            <a:r>
              <a:rPr lang="en-US" altLang="ko-KR" dirty="0"/>
              <a:t>. </a:t>
            </a:r>
            <a:r>
              <a:rPr lang="ko-KR" altLang="en-US" dirty="0"/>
              <a:t>이때 지불 금액을 구하라</a:t>
            </a:r>
            <a:r>
              <a:rPr lang="en-US" altLang="ko-KR" dirty="0"/>
              <a:t>.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소비세가 </a:t>
            </a:r>
            <a:r>
              <a:rPr lang="en-US" altLang="ko-KR" dirty="0"/>
              <a:t>10% </a:t>
            </a:r>
            <a:r>
              <a:rPr lang="ko-KR" altLang="en-US" dirty="0"/>
              <a:t>부과된다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BB90AF-5079-4A5D-B4C7-E02BB053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29E9EB2-050C-4921-AAF7-7E86AD6B9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31193"/>
            <a:ext cx="9144000" cy="308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428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CA35B5-060A-4015-B8FD-8462D305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계산 그래프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221946-EA6D-4791-B299-3F1B617D8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ko-KR" altLang="en-US" dirty="0"/>
              <a:t>문제 </a:t>
            </a:r>
            <a:r>
              <a:rPr lang="en-US" altLang="ko-KR" dirty="0"/>
              <a:t>2 : </a:t>
            </a:r>
            <a:r>
              <a:rPr lang="ko-KR" altLang="en-US" dirty="0"/>
              <a:t>현빈 군은 슈퍼에서 사과를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귤을 </a:t>
            </a:r>
            <a:r>
              <a:rPr lang="en-US" altLang="ko-KR" dirty="0"/>
              <a:t>3</a:t>
            </a:r>
            <a:r>
              <a:rPr lang="ko-KR" altLang="en-US" dirty="0"/>
              <a:t>개 샀다</a:t>
            </a:r>
            <a:r>
              <a:rPr lang="en-US" altLang="ko-KR" dirty="0"/>
              <a:t>. </a:t>
            </a:r>
            <a:r>
              <a:rPr lang="ko-KR" altLang="en-US" dirty="0"/>
              <a:t>사과는 </a:t>
            </a:r>
            <a:r>
              <a:rPr lang="en-US" altLang="ko-KR" dirty="0"/>
              <a:t>1</a:t>
            </a:r>
            <a:r>
              <a:rPr lang="ko-KR" altLang="en-US" dirty="0"/>
              <a:t>개에 </a:t>
            </a:r>
            <a:r>
              <a:rPr lang="en-US" altLang="ko-KR" dirty="0"/>
              <a:t>100</a:t>
            </a:r>
            <a:r>
              <a:rPr lang="ko-KR" altLang="en-US" dirty="0"/>
              <a:t>원</a:t>
            </a:r>
            <a:r>
              <a:rPr lang="en-US" altLang="ko-KR" dirty="0"/>
              <a:t>, </a:t>
            </a:r>
            <a:r>
              <a:rPr lang="ko-KR" altLang="en-US" dirty="0"/>
              <a:t>귤은 </a:t>
            </a:r>
            <a:r>
              <a:rPr lang="en-US" altLang="ko-KR" dirty="0"/>
              <a:t>1</a:t>
            </a:r>
            <a:r>
              <a:rPr lang="ko-KR" altLang="en-US" dirty="0"/>
              <a:t>개에 </a:t>
            </a:r>
            <a:r>
              <a:rPr lang="en-US" altLang="ko-KR" dirty="0"/>
              <a:t>150</a:t>
            </a:r>
            <a:r>
              <a:rPr lang="ko-KR" altLang="en-US" dirty="0"/>
              <a:t>원이다</a:t>
            </a:r>
            <a:r>
              <a:rPr lang="en-US" altLang="ko-KR" dirty="0"/>
              <a:t>. </a:t>
            </a:r>
            <a:r>
              <a:rPr lang="ko-KR" altLang="en-US" dirty="0"/>
              <a:t>소비세가 </a:t>
            </a:r>
            <a:r>
              <a:rPr lang="en-US" altLang="ko-KR" dirty="0"/>
              <a:t>10%</a:t>
            </a:r>
            <a:r>
              <a:rPr lang="ko-KR" altLang="en-US" dirty="0"/>
              <a:t>일 때 지불 금액을 구하라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1E5962-F14E-40BE-A1B2-345A711DB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B0B9DB2-0430-4E17-B33D-01717590C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75619"/>
            <a:ext cx="9144000" cy="376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2721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5EFCE5-B6E9-43BB-88F2-316DADBB3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계산 그래프를 이용한 문제풀이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69F607-EB62-415E-8FEE-74F2A3607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ko-KR" dirty="0"/>
              <a:t>1. </a:t>
            </a:r>
            <a:r>
              <a:rPr lang="ko-KR" altLang="en-US" dirty="0"/>
              <a:t>계산 그래프를 구성한다</a:t>
            </a:r>
            <a:r>
              <a:rPr lang="en-US" altLang="ko-KR" dirty="0"/>
              <a:t>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ko-KR" dirty="0"/>
              <a:t>2. </a:t>
            </a:r>
            <a:r>
              <a:rPr lang="ko-KR" altLang="en-US" dirty="0"/>
              <a:t>그래프에서 계산을 왼쪽에서 오른쪽으로 진행한다</a:t>
            </a:r>
            <a:r>
              <a:rPr lang="en-US" altLang="ko-KR" dirty="0"/>
              <a:t>.</a:t>
            </a:r>
          </a:p>
          <a:p>
            <a:pPr algn="just">
              <a:lnSpc>
                <a:spcPct val="100000"/>
              </a:lnSpc>
            </a:pPr>
            <a:endParaRPr lang="en-US" altLang="ko-KR" dirty="0"/>
          </a:p>
          <a:p>
            <a:pPr algn="just">
              <a:lnSpc>
                <a:spcPct val="100000"/>
              </a:lnSpc>
            </a:pPr>
            <a:endParaRPr lang="en-US" altLang="ko-KR" dirty="0"/>
          </a:p>
          <a:p>
            <a:pPr algn="just">
              <a:lnSpc>
                <a:spcPct val="100000"/>
              </a:lnSpc>
            </a:pPr>
            <a:r>
              <a:rPr lang="ko-KR" altLang="en-US" dirty="0" err="1"/>
              <a:t>순전파</a:t>
            </a:r>
            <a:r>
              <a:rPr lang="en-US" altLang="ko-KR" dirty="0"/>
              <a:t> (forward propagation)</a:t>
            </a:r>
          </a:p>
          <a:p>
            <a:pPr lvl="1" algn="just">
              <a:lnSpc>
                <a:spcPct val="100000"/>
              </a:lnSpc>
            </a:pPr>
            <a:r>
              <a:rPr lang="ko-KR" altLang="en-US" dirty="0"/>
              <a:t>계산 그래프의 출발점으로부터 종착점으로의 전파</a:t>
            </a:r>
            <a:endParaRPr lang="en-US" altLang="ko-KR" dirty="0"/>
          </a:p>
          <a:p>
            <a:pPr algn="just">
              <a:lnSpc>
                <a:spcPct val="100000"/>
              </a:lnSpc>
            </a:pPr>
            <a:r>
              <a:rPr lang="ko-KR" altLang="en-US" dirty="0" err="1"/>
              <a:t>역전파</a:t>
            </a:r>
            <a:r>
              <a:rPr lang="en-US" altLang="ko-KR" dirty="0"/>
              <a:t>(backward propagation)</a:t>
            </a:r>
            <a:r>
              <a:rPr lang="ko-KR" altLang="en-US" dirty="0"/>
              <a:t> </a:t>
            </a:r>
            <a:endParaRPr lang="en-US" altLang="ko-KR" dirty="0"/>
          </a:p>
          <a:p>
            <a:pPr lvl="1" algn="just">
              <a:lnSpc>
                <a:spcPct val="100000"/>
              </a:lnSpc>
            </a:pPr>
            <a:r>
              <a:rPr lang="ko-KR" altLang="en-US" dirty="0"/>
              <a:t>계산 그래프의 종착점에서 출발점으로의 전파</a:t>
            </a:r>
            <a:endParaRPr lang="en-US" altLang="ko-KR" dirty="0"/>
          </a:p>
          <a:p>
            <a:pPr algn="just">
              <a:lnSpc>
                <a:spcPct val="100000"/>
              </a:lnSpc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CD42A7-99F7-4874-9D37-2E12305A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9302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29C4F-5D72-43C2-9340-582B112B0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국소적 계산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EA3269-F202-4345-BB9D-ECD6EA8C8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ko-KR" altLang="en-US" sz="1600" dirty="0"/>
              <a:t>계산 그래프의 특징은 </a:t>
            </a:r>
            <a:r>
              <a:rPr lang="en-US" altLang="ko-KR" sz="1600" dirty="0"/>
              <a:t>'</a:t>
            </a:r>
            <a:r>
              <a:rPr lang="ko-KR" altLang="en-US" sz="1600" dirty="0"/>
              <a:t>국소적 계산</a:t>
            </a:r>
            <a:r>
              <a:rPr lang="en-US" altLang="ko-KR" sz="1600" dirty="0"/>
              <a:t>'</a:t>
            </a:r>
            <a:r>
              <a:rPr lang="ko-KR" altLang="en-US" sz="1600" dirty="0"/>
              <a:t>을 전파함으로써 최종 결과를 얻는다는 점에 있음</a:t>
            </a:r>
            <a:endParaRPr lang="en-US" altLang="ko-KR" sz="1600" dirty="0"/>
          </a:p>
          <a:p>
            <a:pPr algn="just">
              <a:lnSpc>
                <a:spcPct val="100000"/>
              </a:lnSpc>
            </a:pPr>
            <a:r>
              <a:rPr lang="ko-KR" altLang="en-US" sz="1600" dirty="0"/>
              <a:t>국소적 계산은 결국 전체에 어떤 일이 벌어지든 상관없이 자신과 관계된 정보만으로 결과를 출력할 수 있다는 것</a:t>
            </a:r>
            <a:endParaRPr lang="en-US" altLang="ko-KR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41AABA-664C-45E5-8505-EB5B214EE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58C7699-F7C7-4359-A7E3-F7A76332B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99369"/>
            <a:ext cx="9144000" cy="4237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286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E09B9-DACD-43C2-BE49-E22A3950D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계산 그래프의 이점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80826B-2A11-45A0-9E7A-B246492B5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en-US" altLang="ko-KR" dirty="0"/>
              <a:t>'</a:t>
            </a:r>
            <a:r>
              <a:rPr lang="ko-KR" altLang="en-US" dirty="0"/>
              <a:t>국소적 계산</a:t>
            </a:r>
            <a:r>
              <a:rPr lang="en-US" altLang="ko-KR" dirty="0"/>
              <a:t>’</a:t>
            </a:r>
          </a:p>
          <a:p>
            <a:pPr lvl="1" algn="just">
              <a:lnSpc>
                <a:spcPct val="100000"/>
              </a:lnSpc>
            </a:pPr>
            <a:r>
              <a:rPr lang="ko-KR" altLang="en-US" dirty="0"/>
              <a:t>전체가 복잡해도 각 노드에서 단순한 계산에 집중할 수 있게 해 문제를 단순화시킬 수 있음</a:t>
            </a:r>
            <a:endParaRPr lang="en-US" altLang="ko-KR" dirty="0"/>
          </a:p>
          <a:p>
            <a:pPr lvl="1" algn="just">
              <a:lnSpc>
                <a:spcPct val="100000"/>
              </a:lnSpc>
            </a:pPr>
            <a:endParaRPr lang="en-US" altLang="ko-KR" dirty="0"/>
          </a:p>
          <a:p>
            <a:pPr algn="just">
              <a:lnSpc>
                <a:spcPct val="100000"/>
              </a:lnSpc>
            </a:pPr>
            <a:r>
              <a:rPr lang="ko-KR" altLang="en-US" dirty="0"/>
              <a:t>계산 그래프는 중간 계산 결과를 모두 보관할 수 있음</a:t>
            </a:r>
            <a:endParaRPr lang="en-US" altLang="ko-KR" dirty="0"/>
          </a:p>
          <a:p>
            <a:pPr algn="just">
              <a:lnSpc>
                <a:spcPct val="100000"/>
              </a:lnSpc>
            </a:pPr>
            <a:endParaRPr lang="en-US" altLang="ko-KR" dirty="0"/>
          </a:p>
          <a:p>
            <a:pPr algn="just">
              <a:lnSpc>
                <a:spcPct val="100000"/>
              </a:lnSpc>
            </a:pPr>
            <a:r>
              <a:rPr lang="ko-KR" altLang="en-US" dirty="0"/>
              <a:t>역전파를　통해 </a:t>
            </a:r>
            <a:r>
              <a:rPr lang="en-US" altLang="ko-KR"/>
              <a:t>‘</a:t>
            </a:r>
            <a:r>
              <a:rPr lang="ko-KR" altLang="en-US"/>
              <a:t>미분</a:t>
            </a:r>
            <a:r>
              <a:rPr lang="en-US" altLang="ko-KR" dirty="0"/>
              <a:t>’</a:t>
            </a:r>
            <a:r>
              <a:rPr lang="ko-KR" altLang="en-US" dirty="0"/>
              <a:t>을　효율적으로　계산할　수　있음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9E9457-4E69-4F90-B159-2BA95C9D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0093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6E3BA0-E213-C470-8D8B-9B1996AA0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ko-KR" altLang="en-US" sz="3200" dirty="0"/>
              <a:t>사과　가격에　대한　지불　금액의　미분</a:t>
            </a:r>
          </a:p>
        </p:txBody>
      </p:sp>
      <p:pic>
        <p:nvPicPr>
          <p:cNvPr id="6" name="내용 개체 틀 5" descr="텍스트, 도표, 스크린샷, 라인이(가) 표시된 사진&#10;&#10;자동 생성된 설명">
            <a:extLst>
              <a:ext uri="{FF2B5EF4-FFF2-40B4-BE49-F238E27FC236}">
                <a16:creationId xmlns:a16="http://schemas.microsoft.com/office/drawing/2014/main" id="{0A48D778-DEEA-366C-5FC3-F8ADC13DC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001" y="2724636"/>
            <a:ext cx="7721997" cy="2502029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120358-6D62-3121-3BA7-D529BE234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828D96-C142-39DC-EC4C-133930C67958}"/>
                  </a:ext>
                </a:extLst>
              </p:cNvPr>
              <p:cNvSpPr txBox="1"/>
              <p:nvPr/>
            </p:nvSpPr>
            <p:spPr>
              <a:xfrm>
                <a:off x="375813" y="1083012"/>
                <a:ext cx="5091132" cy="1053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>
                    <a:latin typeface="+mn-ea"/>
                  </a:rPr>
                  <a:t>사과 값 </a:t>
                </a:r>
                <a:r>
                  <a:rPr lang="en-US" altLang="ko-KR" dirty="0">
                    <a:latin typeface="+mn-ea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ko-KR" dirty="0">
                  <a:latin typeface="+mn-ea"/>
                </a:endParaRPr>
              </a:p>
              <a:p>
                <a:r>
                  <a:rPr lang="ko-KR" altLang="en-US" dirty="0">
                    <a:latin typeface="+mn-ea"/>
                  </a:rPr>
                  <a:t>지불금액</a:t>
                </a:r>
                <a:r>
                  <a:rPr lang="en-US" altLang="ko-KR" dirty="0">
                    <a:latin typeface="+mn-ea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altLang="ko-KR" dirty="0">
                  <a:latin typeface="+mn-ea"/>
                </a:endParaRPr>
              </a:p>
              <a:p>
                <a:r>
                  <a:rPr lang="ko-KR" altLang="en-US" dirty="0">
                    <a:latin typeface="+mn-ea"/>
                  </a:rPr>
                  <a:t>사과 가격에 대한 지불 금액의 미분</a:t>
                </a:r>
                <a:r>
                  <a:rPr lang="en-US" altLang="ko-KR" dirty="0">
                    <a:latin typeface="+mn-ea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ko-KR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828D96-C142-39DC-EC4C-133930C67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13" y="1083012"/>
                <a:ext cx="5091132" cy="1053558"/>
              </a:xfrm>
              <a:prstGeom prst="rect">
                <a:avLst/>
              </a:prstGeom>
              <a:blipFill>
                <a:blip r:embed="rId3"/>
                <a:stretch>
                  <a:fillRect l="-1078" t="-3488" b="-2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8CE7E85-A25C-D687-042B-7C5C4B25F35B}"/>
              </a:ext>
            </a:extLst>
          </p:cNvPr>
          <p:cNvSpPr txBox="1"/>
          <p:nvPr/>
        </p:nvSpPr>
        <p:spPr>
          <a:xfrm>
            <a:off x="4533090" y="1553981"/>
            <a:ext cx="3579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사과 값이 </a:t>
            </a:r>
            <a:r>
              <a:rPr lang="en-US" altLang="ko-KR" dirty="0"/>
              <a:t>‘</a:t>
            </a:r>
            <a:r>
              <a:rPr lang="ko-KR" altLang="en-US" dirty="0"/>
              <a:t>아주 조금</a:t>
            </a:r>
            <a:r>
              <a:rPr lang="en-US" altLang="ko-KR" dirty="0"/>
              <a:t>‘ </a:t>
            </a:r>
            <a:r>
              <a:rPr lang="ko-KR" altLang="en-US" dirty="0"/>
              <a:t>올랐을 때 지불 금액이 얼마나 증가하느냐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D9E225-7FD8-0FEB-0FA8-034FBD9FCC23}"/>
                  </a:ext>
                </a:extLst>
              </p:cNvPr>
              <p:cNvSpPr txBox="1"/>
              <p:nvPr/>
            </p:nvSpPr>
            <p:spPr>
              <a:xfrm>
                <a:off x="1958422" y="5451822"/>
                <a:ext cx="514933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>
                    <a:latin typeface="+mn-ea"/>
                  </a:rPr>
                  <a:t>사과 가격에 대한 지불 금액의 미분 값은 </a:t>
                </a:r>
                <a:r>
                  <a:rPr lang="en-US" altLang="ko-KR" dirty="0">
                    <a:latin typeface="+mn-ea"/>
                  </a:rPr>
                  <a:t>2.2 </a:t>
                </a:r>
                <a:r>
                  <a:rPr lang="en-US" altLang="ko-KR" dirty="0">
                    <a:latin typeface="+mn-ea"/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latin typeface="+mn-ea"/>
                    <a:sym typeface="Wingdings" panose="05000000000000000000" pitchFamily="2" charset="2"/>
                  </a:rPr>
                  <a:t>사과가</a:t>
                </a:r>
                <a:r>
                  <a:rPr lang="en-US" altLang="ko-KR" dirty="0">
                    <a:latin typeface="+mn-ea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</m:oMath>
                </a14:m>
                <a:r>
                  <a:rPr lang="ko-KR" altLang="en-US" dirty="0">
                    <a:latin typeface="+mn-ea"/>
                    <a:sym typeface="Wingdings" panose="05000000000000000000" pitchFamily="2" charset="2"/>
                  </a:rPr>
                  <a:t>원 오르면 최종금액은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2.2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</m:oMath>
                </a14:m>
                <a:r>
                  <a:rPr lang="ko-KR" altLang="en-US" dirty="0">
                    <a:latin typeface="+mn-ea"/>
                    <a:sym typeface="Wingdings" panose="05000000000000000000" pitchFamily="2" charset="2"/>
                  </a:rPr>
                  <a:t>원 증가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D9E225-7FD8-0FEB-0FA8-034FBD9FC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422" y="5451822"/>
                <a:ext cx="5149336" cy="646331"/>
              </a:xfrm>
              <a:prstGeom prst="rect">
                <a:avLst/>
              </a:prstGeom>
              <a:blipFill>
                <a:blip r:embed="rId4"/>
                <a:stretch>
                  <a:fillRect l="-947" t="-4717" b="-122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5673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A2EBD5-DEB6-DC07-FE9B-0E3981540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계산 그래프의 </a:t>
            </a:r>
            <a:r>
              <a:rPr lang="ko-KR" altLang="en-US" dirty="0" err="1"/>
              <a:t>역전파</a:t>
            </a:r>
            <a:endParaRPr lang="ko-KR" altLang="en-US" dirty="0"/>
          </a:p>
        </p:txBody>
      </p:sp>
      <p:pic>
        <p:nvPicPr>
          <p:cNvPr id="6" name="내용 개체 틀 5" descr="도표, 라인, 폰트, 스케치이(가) 표시된 사진&#10;&#10;자동 생성된 설명">
            <a:extLst>
              <a:ext uri="{FF2B5EF4-FFF2-40B4-BE49-F238E27FC236}">
                <a16:creationId xmlns:a16="http://schemas.microsoft.com/office/drawing/2014/main" id="{4FBCF85B-98F9-3C48-9E89-021FF636E6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487" y="2121405"/>
            <a:ext cx="3581584" cy="137167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E4DDF-1587-A4E6-4F5A-9AE7697AD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D075F3-B22E-3CE3-6394-979F1B920FD0}"/>
                  </a:ext>
                </a:extLst>
              </p:cNvPr>
              <p:cNvSpPr txBox="1"/>
              <p:nvPr/>
            </p:nvSpPr>
            <p:spPr>
              <a:xfrm>
                <a:off x="949501" y="3968886"/>
                <a:ext cx="7244997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/>
                  <a:t>국소적인 </a:t>
                </a:r>
                <a:r>
                  <a:rPr lang="ko-KR" altLang="en-US" dirty="0"/>
                  <a:t>미분</a:t>
                </a:r>
                <a:r>
                  <a:rPr lang="en-US" altLang="ko-KR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값을 상류에서 전달된 값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에 곱해 앞쪽 노드로 전달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D075F3-B22E-3CE3-6394-979F1B920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501" y="3968886"/>
                <a:ext cx="7244997" cy="499560"/>
              </a:xfrm>
              <a:prstGeom prst="rect">
                <a:avLst/>
              </a:prstGeom>
              <a:blipFill>
                <a:blip r:embed="rId3"/>
                <a:stretch>
                  <a:fillRect l="-758" b="-73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0378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3456DB-EC5A-4C8F-9279-E0B023529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연쇄법칙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8904E98-5E6B-4848-972A-0C88617210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ko-KR" altLang="en-US" sz="2000" dirty="0"/>
                  <a:t>계산 그래프에서</a:t>
                </a:r>
                <a:r>
                  <a:rPr lang="en-US" altLang="ko-KR" sz="2000" dirty="0"/>
                  <a:t> </a:t>
                </a:r>
                <a:r>
                  <a:rPr lang="ko-KR" altLang="en-US" sz="2000" dirty="0" err="1"/>
                  <a:t>엣지</a:t>
                </a:r>
                <a:r>
                  <a:rPr lang="en-US" altLang="ko-KR" sz="2000" dirty="0"/>
                  <a:t>(</a:t>
                </a:r>
                <a:r>
                  <a:rPr lang="ko-KR" altLang="en-US" sz="2000" dirty="0"/>
                  <a:t>화살표</a:t>
                </a:r>
                <a:r>
                  <a:rPr lang="en-US" altLang="ko-KR" sz="2000" dirty="0"/>
                  <a:t>)</a:t>
                </a:r>
                <a:r>
                  <a:rPr lang="ko-KR" altLang="en-US" sz="2000" dirty="0"/>
                  <a:t>는 </a:t>
                </a:r>
                <a:r>
                  <a:rPr lang="en-US" altLang="ko-KR" sz="2000" dirty="0"/>
                  <a:t>'</a:t>
                </a:r>
                <a:r>
                  <a:rPr lang="ko-KR" altLang="en-US" sz="2000" dirty="0"/>
                  <a:t>국소적 미분</a:t>
                </a:r>
                <a:r>
                  <a:rPr lang="en-US" altLang="ko-KR" sz="2000" dirty="0"/>
                  <a:t>'</a:t>
                </a:r>
                <a:r>
                  <a:rPr lang="ko-KR" altLang="en-US" sz="2000" dirty="0"/>
                  <a:t>을 기억하고 있음</a:t>
                </a:r>
                <a:r>
                  <a:rPr lang="en-US" altLang="ko-KR" sz="2000" dirty="0"/>
                  <a:t>. 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ko-KR" altLang="en-US" sz="2000" dirty="0"/>
                  <a:t>이때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이 국소적 미분을 전달하는 원리는 연쇄법칙</a:t>
                </a:r>
                <a:r>
                  <a:rPr lang="en-US" altLang="ko-KR" sz="2000" dirty="0"/>
                  <a:t>(Chain rule)</a:t>
                </a:r>
                <a:r>
                  <a:rPr lang="ko-KR" altLang="en-US" sz="2000" dirty="0"/>
                  <a:t>에 따른 것</a:t>
                </a:r>
                <a:endParaRPr lang="en-US" altLang="ko-KR" sz="2000" dirty="0"/>
              </a:p>
              <a:p>
                <a:pPr algn="just">
                  <a:lnSpc>
                    <a:spcPct val="110000"/>
                  </a:lnSpc>
                </a:pPr>
                <a:endParaRPr lang="en-US" altLang="ko-KR" sz="2000" dirty="0"/>
              </a:p>
              <a:p>
                <a:pPr algn="just">
                  <a:lnSpc>
                    <a:spcPct val="110000"/>
                  </a:lnSpc>
                </a:pPr>
                <a:r>
                  <a:rPr lang="ko-KR" altLang="en-US" sz="2000" dirty="0"/>
                  <a:t>예를 들어</a:t>
                </a:r>
                <a:r>
                  <a:rPr lang="en-US" altLang="ko-KR" sz="20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ko-KR" altLang="en-US" sz="2000" dirty="0"/>
                  <a:t> 같은 식은 두 개의 식으로 구성</a:t>
                </a:r>
                <a:endParaRPr lang="en-US" altLang="ko-KR" sz="2000" dirty="0"/>
              </a:p>
              <a:p>
                <a:pPr marL="457200" lvl="1" indent="0" algn="just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ko-KR" sz="1800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sz="1800" dirty="0"/>
              </a:p>
              <a:p>
                <a:pPr algn="just">
                  <a:lnSpc>
                    <a:spcPct val="110000"/>
                  </a:lnSpc>
                </a:pPr>
                <a:r>
                  <a:rPr lang="ko-KR" altLang="en-US" sz="2200" dirty="0"/>
                  <a:t>합성 함수란 여러 함수로 구성된 함수</a:t>
                </a:r>
                <a:endParaRPr lang="en-US" altLang="ko-KR" sz="2200" dirty="0"/>
              </a:p>
              <a:p>
                <a:pPr algn="just">
                  <a:lnSpc>
                    <a:spcPct val="110000"/>
                  </a:lnSpc>
                </a:pPr>
                <a:endParaRPr lang="en-US" altLang="ko-KR" sz="2000" dirty="0"/>
              </a:p>
              <a:p>
                <a:pPr algn="just">
                  <a:lnSpc>
                    <a:spcPct val="110000"/>
                  </a:lnSpc>
                </a:pPr>
                <a:r>
                  <a:rPr lang="ko-KR" altLang="en-US" sz="2000" dirty="0"/>
                  <a:t>연쇄법칙은 합성 함수의 미분에 대한 성질</a:t>
                </a:r>
                <a:endParaRPr lang="en-US" altLang="ko-KR" sz="2000" dirty="0"/>
              </a:p>
              <a:p>
                <a:pPr lvl="1" algn="just">
                  <a:lnSpc>
                    <a:spcPct val="110000"/>
                  </a:lnSpc>
                </a:pPr>
                <a:r>
                  <a:rPr lang="ko-KR" altLang="en-US" sz="1800" dirty="0"/>
                  <a:t>함성 함수의 미분은 합성 함수를 구성하는 각 함수의 미분의 곱으로 나타냄</a:t>
                </a:r>
                <a:r>
                  <a:rPr lang="en-US" altLang="ko-KR" sz="1800" dirty="0"/>
                  <a:t> 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8904E98-5E6B-4848-972A-0C88617210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6" t="-5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70F8AE-D9A8-4A6B-83EB-DC96209E6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F4A2A86-1F72-4D3D-AA04-2E72C8E27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318" y="5297107"/>
            <a:ext cx="23812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6932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50FD4-9CA6-461C-BE78-CEC86BF59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연쇄법칙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1557B0D-2D66-42B8-88DA-A59C3780AE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lvl="1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sz="280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8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altLang="ko-KR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ko-KR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ko-KR" sz="28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sz="28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8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ko-KR" sz="28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8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altLang="ko-KR" sz="28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8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sz="2800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1557B0D-2D66-42B8-88DA-A59C3780AE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E161B1-D79C-4905-AC82-ECF68B6AE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78A053A-F3F8-4D80-9C7F-19A7CD82C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0661" y="2371725"/>
            <a:ext cx="161925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9AF03AF4-37C9-471B-9673-9B1346811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480" y="4782210"/>
            <a:ext cx="544830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D24D14-8E96-9652-7009-6850BC495401}"/>
              </a:ext>
            </a:extLst>
          </p:cNvPr>
          <p:cNvSpPr txBox="1"/>
          <p:nvPr/>
        </p:nvSpPr>
        <p:spPr>
          <a:xfrm>
            <a:off x="1379220" y="5939631"/>
            <a:ext cx="3550920" cy="48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10000"/>
              </a:lnSpc>
            </a:pPr>
            <a:r>
              <a:rPr lang="ko-KR" altLang="en-US" sz="1200" dirty="0"/>
              <a:t>함성 함수의 미분은 합성 함수를 구성하는 각 함수의 미분의 곱으로 나타냄</a:t>
            </a:r>
            <a:r>
              <a:rPr lang="en-US" altLang="ko-KR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3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0C1F3-3D2C-4879-99CF-8ED29A604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연쇄법칙과 계산 그래프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34D303-2772-4D28-A602-8A5B05B8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554245D-76C3-4802-8181-C32F31C3A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61" y="1278218"/>
            <a:ext cx="7289195" cy="4301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438FBA-B975-D00B-C97C-BD3E47E356EF}"/>
                  </a:ext>
                </a:extLst>
              </p:cNvPr>
              <p:cNvSpPr txBox="1"/>
              <p:nvPr/>
            </p:nvSpPr>
            <p:spPr>
              <a:xfrm>
                <a:off x="1284244" y="990378"/>
                <a:ext cx="2308697" cy="7017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 algn="just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ko-KR" sz="1800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438FBA-B975-D00B-C97C-BD3E47E35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244" y="990378"/>
                <a:ext cx="2308697" cy="701731"/>
              </a:xfrm>
              <a:prstGeom prst="rect">
                <a:avLst/>
              </a:prstGeom>
              <a:blipFill>
                <a:blip r:embed="rId3"/>
                <a:stretch>
                  <a:fillRect b="-8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7F547E-79A7-79D9-9788-39445718FF36}"/>
                  </a:ext>
                </a:extLst>
              </p:cNvPr>
              <p:cNvSpPr txBox="1"/>
              <p:nvPr/>
            </p:nvSpPr>
            <p:spPr>
              <a:xfrm>
                <a:off x="3832474" y="4917978"/>
                <a:ext cx="35493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solidFill>
                      <a:srgbClr val="FF0000"/>
                    </a:solidFill>
                  </a:rPr>
                  <a:t>**2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노드에서의 입력은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출력은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7F547E-79A7-79D9-9788-39445718F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2474" y="4917978"/>
                <a:ext cx="3549370" cy="369332"/>
              </a:xfrm>
              <a:prstGeom prst="rect">
                <a:avLst/>
              </a:prstGeom>
              <a:blipFill>
                <a:blip r:embed="rId4"/>
                <a:stretch>
                  <a:fillRect l="-1546" t="-13333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737342-6E05-6D2D-070D-46A81F1E635B}"/>
                  </a:ext>
                </a:extLst>
              </p:cNvPr>
              <p:cNvSpPr txBox="1"/>
              <p:nvPr/>
            </p:nvSpPr>
            <p:spPr>
              <a:xfrm>
                <a:off x="296762" y="3476303"/>
                <a:ext cx="19749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</a:rPr>
                  <a:t>에 대한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</a:rPr>
                  <a:t>의 미분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737342-6E05-6D2D-070D-46A81F1E6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62" y="3476303"/>
                <a:ext cx="1974964" cy="369332"/>
              </a:xfrm>
              <a:prstGeom prst="rect">
                <a:avLst/>
              </a:prstGeom>
              <a:blipFill>
                <a:blip r:embed="rId5"/>
                <a:stretch>
                  <a:fillRect t="-11475" r="-1852" b="-213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AB2477-FF46-7399-5205-99D93C8FBB0A}"/>
                  </a:ext>
                </a:extLst>
              </p:cNvPr>
              <p:cNvSpPr txBox="1"/>
              <p:nvPr/>
            </p:nvSpPr>
            <p:spPr>
              <a:xfrm>
                <a:off x="463628" y="5707419"/>
                <a:ext cx="4679486" cy="374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역</m:t>
                    </m:r>
                  </m:oMath>
                </a14:m>
                <a:r>
                  <a:rPr lang="ko-KR" altLang="en-US" dirty="0">
                    <a:solidFill>
                      <a:srgbClr val="7030A0"/>
                    </a:solidFill>
                  </a:rPr>
                  <a:t>전파가 하는 일은 연쇄법칙의 원리와 같음</a:t>
                </a:r>
                <a:r>
                  <a:rPr lang="en-US" altLang="ko-KR" dirty="0">
                    <a:solidFill>
                      <a:srgbClr val="7030A0"/>
                    </a:solidFill>
                  </a:rPr>
                  <a:t>!</a:t>
                </a:r>
                <a:endParaRPr lang="ko-KR" alt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AB2477-FF46-7399-5205-99D93C8FB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28" y="5707419"/>
                <a:ext cx="4679486" cy="374526"/>
              </a:xfrm>
              <a:prstGeom prst="rect">
                <a:avLst/>
              </a:prstGeom>
              <a:blipFill>
                <a:blip r:embed="rId6"/>
                <a:stretch>
                  <a:fillRect l="-391" t="-9677" r="-260" b="-241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1350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CD5D95-F26C-4BE0-A4F0-70A408392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연쇄법칙과 계산 그래프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3BBC14-50F1-43F9-87E9-D43A1AE83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54149030-FF79-4C9D-A926-AD8325C7A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72" y="1509910"/>
            <a:ext cx="8020576" cy="4664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DE6660-CE68-F7EA-623D-51181A03D264}"/>
                  </a:ext>
                </a:extLst>
              </p:cNvPr>
              <p:cNvSpPr txBox="1"/>
              <p:nvPr/>
            </p:nvSpPr>
            <p:spPr>
              <a:xfrm>
                <a:off x="1284244" y="990378"/>
                <a:ext cx="2308697" cy="7017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 algn="just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ko-KR" sz="1800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DE6660-CE68-F7EA-623D-51181A03D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244" y="990378"/>
                <a:ext cx="2308697" cy="701731"/>
              </a:xfrm>
              <a:prstGeom prst="rect">
                <a:avLst/>
              </a:prstGeom>
              <a:blipFill>
                <a:blip r:embed="rId3"/>
                <a:stretch>
                  <a:fillRect b="-8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4">
            <a:extLst>
              <a:ext uri="{FF2B5EF4-FFF2-40B4-BE49-F238E27FC236}">
                <a16:creationId xmlns:a16="http://schemas.microsoft.com/office/drawing/2014/main" id="{28EC50AF-022A-5051-8C98-7AF7515BD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354" y="990378"/>
            <a:ext cx="3177510" cy="63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0860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D1E99-BEA4-4696-8E23-297F2D82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덧셈 노드의 </a:t>
            </a:r>
            <a:r>
              <a:rPr lang="ko-KR" altLang="en-US" dirty="0" err="1"/>
              <a:t>역전파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1987877-F7C2-48EC-8E5F-B4CFBF6C1E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1987877-F7C2-48EC-8E5F-B4CFBF6C1E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E3D8E6-4C7F-4BA3-801D-6E78EC002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55EAB2D-A688-443E-AC97-8F26D9CD6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2" y="1955021"/>
            <a:ext cx="8634714" cy="3620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9DD68C-AD7C-2FC4-8BEE-6F13AAE907B0}"/>
                  </a:ext>
                </a:extLst>
              </p:cNvPr>
              <p:cNvSpPr txBox="1"/>
              <p:nvPr/>
            </p:nvSpPr>
            <p:spPr>
              <a:xfrm>
                <a:off x="6757482" y="1081512"/>
                <a:ext cx="1355387" cy="17470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ko-KR" dirty="0"/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9DD68C-AD7C-2FC4-8BEE-6F13AAE90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482" y="1081512"/>
                <a:ext cx="1355387" cy="17470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2876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409CB-4F52-4FD3-B56B-FAB52D905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덧셈 노드의 </a:t>
            </a:r>
            <a:r>
              <a:rPr lang="ko-KR" altLang="en-US" dirty="0" err="1"/>
              <a:t>역전파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AC383E-2C82-4A2A-BAF3-40EAFE798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C15322-A664-43FB-8112-604C96A6B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643D6B5F-4BCD-4591-9383-C30F07D9B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47" y="1600108"/>
            <a:ext cx="7586367" cy="4192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2901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19C42E-F7CB-44CF-A688-CAAFC4DA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덧셈 노드의 </a:t>
            </a:r>
            <a:r>
              <a:rPr lang="ko-KR" altLang="en-US" dirty="0" err="1"/>
              <a:t>역전파</a:t>
            </a:r>
            <a:r>
              <a:rPr lang="ko-KR" altLang="en-US" dirty="0"/>
              <a:t>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771E85-6CD5-4ECA-8178-C2C760264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덧셈 노드 역전파는 입력 신호를 다음 노드로 출력할 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A03B4D-3BBD-47E4-8918-123C4BF3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D19EB38F-8BCF-479E-B5E9-4224CD663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14157"/>
            <a:ext cx="9144000" cy="378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9065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D9E69-BD47-4239-9FE4-E0A545F71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곱셈 노드의 </a:t>
            </a:r>
            <a:r>
              <a:rPr lang="ko-KR" altLang="en-US" dirty="0" err="1"/>
              <a:t>역전파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D871343-44B4-4FD8-BD08-A51BA199E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ko-KR" i="1" dirty="0" err="1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pPr algn="just">
                  <a:lnSpc>
                    <a:spcPct val="120000"/>
                  </a:lnSpc>
                </a:pPr>
                <a:endParaRPr lang="en-US" altLang="ko-KR" sz="2200" dirty="0"/>
              </a:p>
              <a:p>
                <a:pPr algn="just">
                  <a:lnSpc>
                    <a:spcPct val="120000"/>
                  </a:lnSpc>
                </a:pPr>
                <a:endParaRPr lang="en-US" altLang="ko-KR" sz="2200" dirty="0"/>
              </a:p>
              <a:p>
                <a:pPr algn="just">
                  <a:lnSpc>
                    <a:spcPct val="120000"/>
                  </a:lnSpc>
                </a:pPr>
                <a:r>
                  <a:rPr lang="ko-KR" altLang="en-US" sz="2200" dirty="0"/>
                  <a:t>덧셈의 역전파에서는 상류의 값을 그대로 </a:t>
                </a:r>
                <a:r>
                  <a:rPr lang="ko-KR" altLang="en-US" sz="2200" dirty="0" err="1"/>
                  <a:t>흘려보내서</a:t>
                </a:r>
                <a:r>
                  <a:rPr lang="ko-KR" altLang="en-US" sz="2200" dirty="0"/>
                  <a:t> 순방향 입력 신호의 값이 필요하지 않았지만</a:t>
                </a:r>
                <a:r>
                  <a:rPr lang="en-US" altLang="ko-KR" sz="2200" dirty="0"/>
                  <a:t>, </a:t>
                </a:r>
                <a:r>
                  <a:rPr lang="ko-KR" altLang="en-US" sz="2200" dirty="0"/>
                  <a:t>곱셈의 역전파는 순방향 입력 신호의 값이 필요하다</a:t>
                </a:r>
                <a:r>
                  <a:rPr lang="en-US" altLang="ko-KR" sz="2200" dirty="0"/>
                  <a:t>. </a:t>
                </a:r>
                <a:r>
                  <a:rPr lang="ko-KR" altLang="en-US" sz="2200" dirty="0">
                    <a:solidFill>
                      <a:srgbClr val="FF0000"/>
                    </a:solidFill>
                  </a:rPr>
                  <a:t>그래서 곱셈 노드를 구현할 때는 순전파의 입력 신호를 변수에 저장해 둔다</a:t>
                </a:r>
                <a:r>
                  <a:rPr lang="en-US" altLang="ko-KR" sz="2200" dirty="0">
                    <a:solidFill>
                      <a:srgbClr val="FF0000"/>
                    </a:solidFill>
                  </a:rPr>
                  <a:t>.</a:t>
                </a:r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D871343-44B4-4FD8-BD08-A51BA199E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07" r="-2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9C89DD-E923-400D-8651-8B8A95194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0D2C7979-F1FC-4C7E-90AD-A97DFF2CA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60512"/>
            <a:ext cx="9144000" cy="373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D67AC5-BBC5-913F-F5BC-F015531A71D8}"/>
                  </a:ext>
                </a:extLst>
              </p:cNvPr>
              <p:cNvSpPr txBox="1"/>
              <p:nvPr/>
            </p:nvSpPr>
            <p:spPr>
              <a:xfrm>
                <a:off x="6258129" y="687003"/>
                <a:ext cx="1355387" cy="17470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altLang="ko-KR" dirty="0"/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D67AC5-BBC5-913F-F5BC-F015531A7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129" y="687003"/>
                <a:ext cx="1355387" cy="17470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3254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EF24E0-3C6A-492F-98AE-2CB6D422A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곱셈 노드의 </a:t>
            </a:r>
            <a:r>
              <a:rPr lang="ko-KR" altLang="en-US" dirty="0" err="1"/>
              <a:t>역전파</a:t>
            </a:r>
            <a:r>
              <a:rPr lang="ko-KR" altLang="en-US" dirty="0"/>
              <a:t>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0BF182-332D-4024-A142-E898B568C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C82946-4499-4F6F-9DB0-8802FAC1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BA90F148-4CF2-48C4-A4D3-354FB7D22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60195"/>
            <a:ext cx="9144000" cy="3741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0C6ADB-B298-B96C-6AE7-9FD627AA0F67}"/>
              </a:ext>
            </a:extLst>
          </p:cNvPr>
          <p:cNvSpPr txBox="1"/>
          <p:nvPr/>
        </p:nvSpPr>
        <p:spPr>
          <a:xfrm>
            <a:off x="5526005" y="1970042"/>
            <a:ext cx="3688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상류에서 </a:t>
            </a:r>
            <a:r>
              <a:rPr lang="en-US" altLang="ko-KR" dirty="0"/>
              <a:t>1.3 </a:t>
            </a:r>
            <a:r>
              <a:rPr lang="ko-KR" altLang="en-US" dirty="0"/>
              <a:t>값이 흘러온다고 가정</a:t>
            </a:r>
          </a:p>
        </p:txBody>
      </p:sp>
    </p:spTree>
    <p:extLst>
      <p:ext uri="{BB962C8B-B14F-4D97-AF65-F5344CB8AC3E}">
        <p14:creationId xmlns:p14="http://schemas.microsoft.com/office/powerpoint/2010/main" val="3457329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8236C-4BF8-4BDB-B025-3232FF8CF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역전파</a:t>
            </a:r>
            <a:r>
              <a:rPr lang="ko-KR" altLang="en-US" dirty="0"/>
              <a:t>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A42EDA-54A2-4A48-844E-C11B37209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BE4B58-4381-4505-B930-F4ED37582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DFFF3148-8810-46E2-93F3-D28116636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63814"/>
            <a:ext cx="9144000" cy="362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626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A6CF8-58A5-3385-608C-E136091D8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단순한 계층 구현하기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C7D613-8A6D-3080-17A1-D932CEB29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altLang="ko-KR" sz="4000" dirty="0"/>
          </a:p>
          <a:p>
            <a:pPr marL="0" indent="0" algn="ctr">
              <a:buNone/>
            </a:pPr>
            <a:endParaRPr lang="en-US" altLang="ko-KR" sz="4000" dirty="0"/>
          </a:p>
          <a:p>
            <a:pPr marL="0" indent="0" algn="ctr">
              <a:buNone/>
            </a:pPr>
            <a:endParaRPr lang="en-US" altLang="ko-KR" sz="4000" dirty="0"/>
          </a:p>
          <a:p>
            <a:pPr marL="0" indent="0" algn="ctr">
              <a:buNone/>
            </a:pPr>
            <a:r>
              <a:rPr lang="en-US" altLang="ko-KR" sz="4000" dirty="0" err="1"/>
              <a:t>Colab</a:t>
            </a:r>
            <a:r>
              <a:rPr lang="en-US" altLang="ko-KR" sz="4000" dirty="0"/>
              <a:t> </a:t>
            </a:r>
            <a:r>
              <a:rPr lang="ko-KR" altLang="en-US" sz="4000" dirty="0"/>
              <a:t>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57EFFB-573B-8236-67E9-F04A6091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2241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FCE26E-E097-4C7D-AC9B-7D334C40F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활성화 함수 계층 구현하기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4E3E24-1111-4439-A10F-FE277BB7E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계산 그래프를 신경망에 적용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활성화 함수</a:t>
            </a:r>
            <a:endParaRPr lang="en-US" altLang="ko-KR" dirty="0"/>
          </a:p>
          <a:p>
            <a:pPr lvl="1"/>
            <a:r>
              <a:rPr lang="en-US" altLang="ko-KR" dirty="0" err="1"/>
              <a:t>ReLU</a:t>
            </a:r>
            <a:endParaRPr lang="en-US" altLang="ko-KR" dirty="0"/>
          </a:p>
          <a:p>
            <a:pPr lvl="1"/>
            <a:r>
              <a:rPr lang="en-US" altLang="ko-KR" dirty="0"/>
              <a:t>Sigmoid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ED3784-0100-4DF3-8DBB-042AF7A1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02062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B0873B-13F3-4946-A239-9E3874644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ReLU</a:t>
            </a:r>
            <a:r>
              <a:rPr lang="en-US" altLang="ko-KR" dirty="0"/>
              <a:t> </a:t>
            </a:r>
            <a:r>
              <a:rPr lang="ko-KR" altLang="en-US" dirty="0"/>
              <a:t>계층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C6FC16-EF7E-4B82-A86B-4191CC145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0E466B8A-B1DF-43CE-9500-557D808C2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25" y="869868"/>
            <a:ext cx="291465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>
            <a:extLst>
              <a:ext uri="{FF2B5EF4-FFF2-40B4-BE49-F238E27FC236}">
                <a16:creationId xmlns:a16="http://schemas.microsoft.com/office/drawing/2014/main" id="{E8880039-58E9-4854-9F90-1AA08A3E7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30" y="2251393"/>
            <a:ext cx="340995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 descr="ReLU activation function. | Download Scientific Diagram">
            <a:extLst>
              <a:ext uri="{FF2B5EF4-FFF2-40B4-BE49-F238E27FC236}">
                <a16:creationId xmlns:a16="http://schemas.microsoft.com/office/drawing/2014/main" id="{D47F2426-7F25-4306-AA61-351F70371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497" y="662152"/>
            <a:ext cx="4032079" cy="2265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2" name="Picture 8">
            <a:extLst>
              <a:ext uri="{FF2B5EF4-FFF2-40B4-BE49-F238E27FC236}">
                <a16:creationId xmlns:a16="http://schemas.microsoft.com/office/drawing/2014/main" id="{EC66387A-EFDD-4F45-906B-23BD1F76F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89988"/>
            <a:ext cx="9144000" cy="230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94243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4EF9C3-209D-4388-A250-48969E677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Sigmoid </a:t>
            </a:r>
            <a:r>
              <a:rPr lang="ko-KR" altLang="en-US" dirty="0"/>
              <a:t>계층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D8658F-CD22-4FA1-8390-5A30D6F2F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0C3BDC-B669-49C5-A0B2-4CFFB4CC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0951A1F6-5E75-4B23-9ED7-E8F11925E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86" y="1369498"/>
            <a:ext cx="31242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시그모이드 함수 - 위키백과, 우리 모두의 백과사전">
            <a:extLst>
              <a:ext uri="{FF2B5EF4-FFF2-40B4-BE49-F238E27FC236}">
                <a16:creationId xmlns:a16="http://schemas.microsoft.com/office/drawing/2014/main" id="{1DFD6146-6E18-41BB-A5B0-89AFE374B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091" y="836098"/>
            <a:ext cx="3048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4" name="Picture 6">
            <a:extLst>
              <a:ext uri="{FF2B5EF4-FFF2-40B4-BE49-F238E27FC236}">
                <a16:creationId xmlns:a16="http://schemas.microsoft.com/office/drawing/2014/main" id="{7D0B7304-51DB-4427-A199-C1AB3B9FD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95183"/>
            <a:ext cx="9144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9036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ED9A7-F616-4C34-A1BF-7E95F5B4F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Sigmoid </a:t>
            </a:r>
            <a:r>
              <a:rPr lang="ko-KR" altLang="en-US" dirty="0"/>
              <a:t>계층 </a:t>
            </a:r>
            <a:r>
              <a:rPr lang="en-US" altLang="ko-KR" dirty="0"/>
              <a:t>– 1</a:t>
            </a:r>
            <a:r>
              <a:rPr lang="ko-KR" altLang="en-US" dirty="0"/>
              <a:t>단계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8C0193-4AB5-4138-8E6F-22F726F91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‘/’</a:t>
            </a:r>
            <a:r>
              <a:rPr lang="ko-KR" altLang="en-US" dirty="0"/>
              <a:t>노드</a:t>
            </a:r>
            <a:r>
              <a:rPr lang="en-US" altLang="ko-KR" dirty="0"/>
              <a:t>, </a:t>
            </a:r>
            <a:r>
              <a:rPr lang="ko-KR" altLang="en-US" dirty="0"/>
              <a:t>즉</a:t>
            </a:r>
            <a:r>
              <a:rPr lang="en-US" altLang="ko-KR" dirty="0"/>
              <a:t>, y=1/x</a:t>
            </a:r>
            <a:r>
              <a:rPr lang="ko-KR" altLang="en-US" dirty="0"/>
              <a:t>를 미분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30B23F-A5C3-415C-BA3E-205D16FA1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598F7FFA-9F7A-456E-A24D-2D4C2E011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892" y="1775723"/>
            <a:ext cx="20574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>
            <a:extLst>
              <a:ext uri="{FF2B5EF4-FFF2-40B4-BE49-F238E27FC236}">
                <a16:creationId xmlns:a16="http://schemas.microsoft.com/office/drawing/2014/main" id="{3AE7796C-F45C-47FE-B7B6-E0C722EBB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35026"/>
            <a:ext cx="914400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71463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E2A56-48D6-4538-A143-933D09B59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Sigmoid </a:t>
            </a:r>
            <a:r>
              <a:rPr lang="ko-KR" altLang="en-US" dirty="0"/>
              <a:t>계층 </a:t>
            </a:r>
            <a:r>
              <a:rPr lang="en-US" altLang="ko-KR" dirty="0"/>
              <a:t>– 2</a:t>
            </a:r>
            <a:r>
              <a:rPr lang="ko-KR" altLang="en-US" dirty="0"/>
              <a:t>단계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E6046-40F7-48DA-9D6A-4DE317327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‘+’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2FCBC2-BF80-4033-9122-1BD4792C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A6F18ACE-9CCB-4292-AA8C-353EE1732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09825"/>
            <a:ext cx="914400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9513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D3F474-5980-43E0-9A3A-731710783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Sigmoid </a:t>
            </a:r>
            <a:r>
              <a:rPr lang="ko-KR" altLang="en-US" dirty="0"/>
              <a:t>계층 </a:t>
            </a:r>
            <a:r>
              <a:rPr lang="en-US" altLang="ko-KR" dirty="0"/>
              <a:t>– 3</a:t>
            </a:r>
            <a:r>
              <a:rPr lang="ko-KR" altLang="en-US" dirty="0"/>
              <a:t>단계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85210B-1958-4167-B67B-0270D490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‘exp’</a:t>
            </a:r>
            <a:r>
              <a:rPr lang="ko-KR" altLang="en-US" dirty="0"/>
              <a:t>노드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51E18F-C38F-4420-BE40-BA894A47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936F35C7-B355-4B5A-9861-06672A866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55365"/>
            <a:ext cx="914400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id="{76FA9BF8-EA37-4920-9F88-863EE4CED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950" y="2075663"/>
            <a:ext cx="23241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669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859E2-451C-497C-804F-44769D279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Sigmoid </a:t>
            </a:r>
            <a:r>
              <a:rPr lang="ko-KR" altLang="en-US" dirty="0"/>
              <a:t>계층 </a:t>
            </a:r>
            <a:r>
              <a:rPr lang="en-US" altLang="ko-KR" dirty="0"/>
              <a:t>– 4</a:t>
            </a:r>
            <a:r>
              <a:rPr lang="ko-KR" altLang="en-US" dirty="0"/>
              <a:t>단계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56E030-D5B9-4DD7-946D-74924E270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'x' </a:t>
            </a:r>
            <a:r>
              <a:rPr lang="ko-KR" altLang="en-US" dirty="0"/>
              <a:t>노드는 </a:t>
            </a:r>
            <a:r>
              <a:rPr lang="ko-KR" altLang="en-US" dirty="0" err="1"/>
              <a:t>순전파</a:t>
            </a:r>
            <a:r>
              <a:rPr lang="ko-KR" altLang="en-US" dirty="0"/>
              <a:t> 때의 값을 </a:t>
            </a:r>
            <a:r>
              <a:rPr lang="en-US" altLang="ko-KR" dirty="0"/>
              <a:t>‘</a:t>
            </a:r>
            <a:r>
              <a:rPr lang="ko-KR" altLang="en-US" dirty="0"/>
              <a:t>서로 바꿔</a:t>
            </a:r>
            <a:r>
              <a:rPr lang="en-US" altLang="ko-KR" dirty="0"/>
              <a:t>’ </a:t>
            </a:r>
            <a:r>
              <a:rPr lang="ko-KR" altLang="en-US" dirty="0"/>
              <a:t>곱함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4434C8-3706-402A-9D4A-720C82D33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227DBCFC-7C0D-4B8A-AD06-3F17AEE53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78088"/>
            <a:ext cx="9144000" cy="1900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C0DFE6-3963-1369-A1D9-DF07F30553F4}"/>
              </a:ext>
            </a:extLst>
          </p:cNvPr>
          <p:cNvSpPr txBox="1"/>
          <p:nvPr/>
        </p:nvSpPr>
        <p:spPr>
          <a:xfrm>
            <a:off x="265890" y="5217776"/>
            <a:ext cx="4398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순전파의 입력 </a:t>
            </a:r>
            <a:r>
              <a:rPr lang="en-US" altLang="ko-KR" dirty="0">
                <a:solidFill>
                  <a:srgbClr val="FF0000"/>
                </a:solidFill>
              </a:rPr>
              <a:t>x</a:t>
            </a:r>
            <a:r>
              <a:rPr lang="ko-KR" altLang="en-US" dirty="0">
                <a:solidFill>
                  <a:srgbClr val="FF0000"/>
                </a:solidFill>
              </a:rPr>
              <a:t>와 출력 </a:t>
            </a:r>
            <a:r>
              <a:rPr lang="en-US" altLang="ko-KR" dirty="0">
                <a:solidFill>
                  <a:srgbClr val="FF0000"/>
                </a:solidFill>
              </a:rPr>
              <a:t>y</a:t>
            </a:r>
            <a:r>
              <a:rPr lang="ko-KR" altLang="en-US" dirty="0">
                <a:solidFill>
                  <a:srgbClr val="FF0000"/>
                </a:solidFill>
              </a:rPr>
              <a:t>만으로 계산 가능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D86F2D4-F3E0-E133-D530-DA8D524ABEB7}"/>
              </a:ext>
            </a:extLst>
          </p:cNvPr>
          <p:cNvCxnSpPr/>
          <p:nvPr/>
        </p:nvCxnSpPr>
        <p:spPr>
          <a:xfrm flipH="1" flipV="1">
            <a:off x="518809" y="3761362"/>
            <a:ext cx="2068748" cy="14564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969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F0433-A62B-4BFE-A99F-03BB6C947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Sigmoid </a:t>
            </a:r>
            <a:r>
              <a:rPr lang="ko-KR" altLang="en-US" dirty="0"/>
              <a:t>계층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1AB78C-FA8A-4D75-9861-40A7EC5C9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2AA6E5-6FE4-4C23-B083-72D19C8F0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493729F7-18E2-4852-AEDE-1C97BCD83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76" y="923280"/>
            <a:ext cx="3998787" cy="1415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>
            <a:extLst>
              <a:ext uri="{FF2B5EF4-FFF2-40B4-BE49-F238E27FC236}">
                <a16:creationId xmlns:a16="http://schemas.microsoft.com/office/drawing/2014/main" id="{D9172542-5C20-4355-8B9E-28260EEFB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02" y="2343494"/>
            <a:ext cx="7943850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4" name="Picture 6">
            <a:extLst>
              <a:ext uri="{FF2B5EF4-FFF2-40B4-BE49-F238E27FC236}">
                <a16:creationId xmlns:a16="http://schemas.microsoft.com/office/drawing/2014/main" id="{B7D85420-FA82-4871-A59A-82768FE93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505" y="866440"/>
            <a:ext cx="3931982" cy="1472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A53789-7C09-65F2-D21F-366C8399802C}"/>
              </a:ext>
            </a:extLst>
          </p:cNvPr>
          <p:cNvSpPr txBox="1"/>
          <p:nvPr/>
        </p:nvSpPr>
        <p:spPr>
          <a:xfrm>
            <a:off x="2372519" y="5934720"/>
            <a:ext cx="3501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순전파의 출력 </a:t>
            </a:r>
            <a:r>
              <a:rPr lang="en-US" altLang="ko-KR" dirty="0">
                <a:solidFill>
                  <a:srgbClr val="FF0000"/>
                </a:solidFill>
              </a:rPr>
              <a:t>y</a:t>
            </a:r>
            <a:r>
              <a:rPr lang="ko-KR" altLang="en-US" dirty="0">
                <a:solidFill>
                  <a:srgbClr val="FF0000"/>
                </a:solidFill>
              </a:rPr>
              <a:t>만으로 계산 가능</a:t>
            </a:r>
          </a:p>
        </p:txBody>
      </p:sp>
    </p:spTree>
    <p:extLst>
      <p:ext uri="{BB962C8B-B14F-4D97-AF65-F5344CB8AC3E}">
        <p14:creationId xmlns:p14="http://schemas.microsoft.com/office/powerpoint/2010/main" val="16592602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05D59-B4B2-4668-BA41-25979D2A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Affine </a:t>
            </a:r>
            <a:r>
              <a:rPr lang="ko-KR" altLang="en-US" dirty="0"/>
              <a:t>계층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90F74F-ACA9-4858-9F90-99D8EB7A0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ko-KR" altLang="en-US" dirty="0"/>
              <a:t>신경망의 순전파에서는 가중치 신호의 총합을 계산하기 때문에 행렬의 곱</a:t>
            </a:r>
            <a:r>
              <a:rPr lang="en-US" altLang="ko-KR" dirty="0"/>
              <a:t>(</a:t>
            </a:r>
            <a:r>
              <a:rPr lang="ko-KR" altLang="en-US" dirty="0" err="1"/>
              <a:t>넘파이에서는</a:t>
            </a:r>
            <a:r>
              <a:rPr lang="ko-KR" altLang="en-US" dirty="0"/>
              <a:t> </a:t>
            </a:r>
            <a:r>
              <a:rPr lang="en-US" altLang="ko-KR" dirty="0"/>
              <a:t>np.dot())</a:t>
            </a:r>
            <a:r>
              <a:rPr lang="ko-KR" altLang="en-US" dirty="0"/>
              <a:t>을 사용</a:t>
            </a:r>
            <a:endParaRPr lang="en-US" altLang="ko-KR" dirty="0"/>
          </a:p>
          <a:p>
            <a:pPr lvl="1" algn="just">
              <a:lnSpc>
                <a:spcPct val="100000"/>
              </a:lnSpc>
            </a:pPr>
            <a:r>
              <a:rPr lang="ko-KR" altLang="en-US" dirty="0"/>
              <a:t>기하학에서는 </a:t>
            </a:r>
            <a:r>
              <a:rPr lang="ko-KR" altLang="en-US" dirty="0" err="1"/>
              <a:t>어파인</a:t>
            </a:r>
            <a:r>
              <a:rPr lang="ko-KR" altLang="en-US" dirty="0"/>
              <a:t> 변환</a:t>
            </a:r>
            <a:r>
              <a:rPr lang="en-US" altLang="ko-KR" dirty="0"/>
              <a:t>(affine transformation)</a:t>
            </a:r>
          </a:p>
          <a:p>
            <a:pPr lvl="1" algn="just">
              <a:lnSpc>
                <a:spcPct val="100000"/>
              </a:lnSpc>
            </a:pPr>
            <a:endParaRPr lang="en-US" altLang="ko-KR" dirty="0"/>
          </a:p>
          <a:p>
            <a:pPr algn="just">
              <a:lnSpc>
                <a:spcPct val="10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F7C927-32B2-44CD-B555-1DE988D81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DAE73246-97C7-4915-9E0C-2338F4134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313" y="2470909"/>
            <a:ext cx="5816090" cy="3910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38D39C-ECB9-4D55-9D98-0CBF1B795F23}"/>
              </a:ext>
            </a:extLst>
          </p:cNvPr>
          <p:cNvSpPr txBox="1"/>
          <p:nvPr/>
        </p:nvSpPr>
        <p:spPr>
          <a:xfrm>
            <a:off x="152129" y="2957893"/>
            <a:ext cx="461929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X</a:t>
            </a:r>
            <a:r>
              <a:rPr lang="ko-KR" altLang="en-US" dirty="0"/>
              <a:t> = </a:t>
            </a:r>
            <a:r>
              <a:rPr lang="ko-KR" altLang="en-US" dirty="0" err="1"/>
              <a:t>np.random.rand</a:t>
            </a:r>
            <a:r>
              <a:rPr lang="ko-KR" altLang="en-US" dirty="0"/>
              <a:t>(2)</a:t>
            </a:r>
          </a:p>
          <a:p>
            <a:r>
              <a:rPr lang="ko-KR" altLang="en-US" dirty="0" err="1"/>
              <a:t>W</a:t>
            </a:r>
            <a:r>
              <a:rPr lang="ko-KR" altLang="en-US" dirty="0"/>
              <a:t> = </a:t>
            </a:r>
            <a:r>
              <a:rPr lang="ko-KR" altLang="en-US" dirty="0" err="1"/>
              <a:t>np.random.rand</a:t>
            </a:r>
            <a:r>
              <a:rPr lang="ko-KR" altLang="en-US" dirty="0"/>
              <a:t>(2,3)</a:t>
            </a:r>
          </a:p>
          <a:p>
            <a:r>
              <a:rPr lang="ko-KR" altLang="en-US" dirty="0" err="1"/>
              <a:t>B</a:t>
            </a:r>
            <a:r>
              <a:rPr lang="ko-KR" altLang="en-US" dirty="0"/>
              <a:t> = </a:t>
            </a:r>
            <a:r>
              <a:rPr lang="ko-KR" altLang="en-US" dirty="0" err="1"/>
              <a:t>np.random.rand</a:t>
            </a:r>
            <a:r>
              <a:rPr lang="ko-KR" altLang="en-US" dirty="0"/>
              <a:t>(3)</a:t>
            </a:r>
          </a:p>
          <a:p>
            <a:endParaRPr lang="ko-KR" altLang="en-US" dirty="0"/>
          </a:p>
          <a:p>
            <a:r>
              <a:rPr lang="ko-KR" altLang="en-US" dirty="0" err="1"/>
              <a:t>X.shape</a:t>
            </a:r>
            <a:r>
              <a:rPr lang="ko-KR" altLang="en-US" dirty="0"/>
              <a:t> # (2,)</a:t>
            </a:r>
          </a:p>
          <a:p>
            <a:r>
              <a:rPr lang="ko-KR" altLang="en-US" dirty="0" err="1"/>
              <a:t>W.shape</a:t>
            </a:r>
            <a:r>
              <a:rPr lang="ko-KR" altLang="en-US" dirty="0"/>
              <a:t> # (2,3)</a:t>
            </a:r>
          </a:p>
          <a:p>
            <a:r>
              <a:rPr lang="ko-KR" altLang="en-US" dirty="0" err="1"/>
              <a:t>B.shape</a:t>
            </a:r>
            <a:r>
              <a:rPr lang="ko-KR" altLang="en-US" dirty="0"/>
              <a:t> # (3,)</a:t>
            </a:r>
          </a:p>
          <a:p>
            <a:endParaRPr lang="ko-KR" altLang="en-US" dirty="0"/>
          </a:p>
          <a:p>
            <a:r>
              <a:rPr lang="ko-KR" altLang="en-US" dirty="0" err="1"/>
              <a:t>Y</a:t>
            </a:r>
            <a:r>
              <a:rPr lang="ko-KR" altLang="en-US" dirty="0"/>
              <a:t> = </a:t>
            </a:r>
            <a:r>
              <a:rPr lang="ko-KR" altLang="en-US" dirty="0" err="1"/>
              <a:t>np.dot</a:t>
            </a:r>
            <a:r>
              <a:rPr lang="ko-KR" altLang="en-US" dirty="0"/>
              <a:t>(X.W) + </a:t>
            </a:r>
            <a:r>
              <a:rPr lang="ko-KR" altLang="en-US" dirty="0" err="1"/>
              <a:t>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16254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B5383-E849-40E6-8C5E-A9DAC9124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Affine </a:t>
            </a:r>
            <a:r>
              <a:rPr lang="ko-KR" altLang="en-US" dirty="0"/>
              <a:t>계층 </a:t>
            </a:r>
            <a:r>
              <a:rPr lang="ko-KR" altLang="en-US" dirty="0" err="1"/>
              <a:t>역전파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2D8D2A-E340-4335-99EC-BC7544AFD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pic>
        <p:nvPicPr>
          <p:cNvPr id="24582" name="Picture 6">
            <a:extLst>
              <a:ext uri="{FF2B5EF4-FFF2-40B4-BE49-F238E27FC236}">
                <a16:creationId xmlns:a16="http://schemas.microsoft.com/office/drawing/2014/main" id="{104F5309-CDC7-4413-AF7E-AD48764F9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397" y="965915"/>
            <a:ext cx="7583005" cy="409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0" name="Picture 4">
            <a:extLst>
              <a:ext uri="{FF2B5EF4-FFF2-40B4-BE49-F238E27FC236}">
                <a16:creationId xmlns:a16="http://schemas.microsoft.com/office/drawing/2014/main" id="{1A8D5C9D-C78E-4121-B569-1FE54CCD2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550" y="3696236"/>
            <a:ext cx="2650972" cy="238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27355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3576EF-BC9C-5EF3-7F73-A1DDF824B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형상이 일치되도록 내적을 조립</a:t>
            </a:r>
          </a:p>
        </p:txBody>
      </p:sp>
      <p:pic>
        <p:nvPicPr>
          <p:cNvPr id="6" name="내용 개체 틀 5" descr="도표, 텍스트, 폰트, 라인이(가) 표시된 사진&#10;&#10;자동 생성된 설명">
            <a:extLst>
              <a:ext uri="{FF2B5EF4-FFF2-40B4-BE49-F238E27FC236}">
                <a16:creationId xmlns:a16="http://schemas.microsoft.com/office/drawing/2014/main" id="{AE517F17-3D15-0077-537C-8120F2B81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25" y="1472729"/>
            <a:ext cx="6871053" cy="2578233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A146EB-11EA-9918-8E15-D1E2F315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9B11E8-DC9E-A9A1-1171-72534912AE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30" t="42645" r="67602" b="30613"/>
          <a:stretch/>
        </p:blipFill>
        <p:spPr bwMode="auto">
          <a:xfrm>
            <a:off x="882625" y="3927380"/>
            <a:ext cx="2625818" cy="10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3345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44BABB-96CE-4985-98BD-E049A455C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배치용 </a:t>
            </a:r>
            <a:r>
              <a:rPr lang="en-US" altLang="ko-KR" dirty="0"/>
              <a:t>Affine </a:t>
            </a:r>
            <a:r>
              <a:rPr lang="ko-KR" altLang="en-US" dirty="0"/>
              <a:t>계층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AC5C8D-8E06-4377-ABE1-6365EB7D4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en-US" altLang="ko-KR" dirty="0"/>
              <a:t>N</a:t>
            </a:r>
            <a:r>
              <a:rPr lang="ko-KR" altLang="en-US" dirty="0"/>
              <a:t>개를 묶어 </a:t>
            </a:r>
            <a:r>
              <a:rPr lang="ko-KR" altLang="en-US" dirty="0" err="1"/>
              <a:t>순전파하는</a:t>
            </a:r>
            <a:r>
              <a:rPr lang="ko-KR" altLang="en-US" dirty="0"/>
              <a:t> 경우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4B2665-DD01-4080-B40C-29C0931C6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450A7D3-D526-4249-9612-4AFBCD5A5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07" y="1857752"/>
            <a:ext cx="7075564" cy="4081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F67DA831-493B-E099-AC7E-07C664173C8C}"/>
              </a:ext>
            </a:extLst>
          </p:cNvPr>
          <p:cNvCxnSpPr/>
          <p:nvPr/>
        </p:nvCxnSpPr>
        <p:spPr>
          <a:xfrm flipH="1" flipV="1">
            <a:off x="5783580" y="3848100"/>
            <a:ext cx="769620" cy="7696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1956849-8933-BDE1-0192-484AD49C4CA3}"/>
              </a:ext>
            </a:extLst>
          </p:cNvPr>
          <p:cNvCxnSpPr>
            <a:cxnSpLocks/>
          </p:cNvCxnSpPr>
          <p:nvPr/>
        </p:nvCxnSpPr>
        <p:spPr>
          <a:xfrm flipH="1" flipV="1">
            <a:off x="4808220" y="4282440"/>
            <a:ext cx="1600200" cy="5105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05E8BF1-B1DA-7B84-0A78-E45CE73A9F99}"/>
              </a:ext>
            </a:extLst>
          </p:cNvPr>
          <p:cNvSpPr txBox="1"/>
          <p:nvPr/>
        </p:nvSpPr>
        <p:spPr>
          <a:xfrm>
            <a:off x="6361892" y="4682728"/>
            <a:ext cx="1424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형상 주의</a:t>
            </a:r>
          </a:p>
        </p:txBody>
      </p:sp>
    </p:spTree>
    <p:extLst>
      <p:ext uri="{BB962C8B-B14F-4D97-AF65-F5344CB8AC3E}">
        <p14:creationId xmlns:p14="http://schemas.microsoft.com/office/powerpoint/2010/main" val="40800970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9AE6A-0C2B-4C0A-A61E-DB92757F2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Softmax</a:t>
            </a:r>
            <a:r>
              <a:rPr lang="en-US" altLang="ko-KR" dirty="0"/>
              <a:t> </a:t>
            </a:r>
            <a:r>
              <a:rPr lang="ko-KR" altLang="en-US" dirty="0"/>
              <a:t>계층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90DFA7-7459-4F9D-9F5F-22561D27A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DF7DAE-7FD9-4C15-B44D-5406DBD33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DFF6A41-EC5E-42F2-A6BC-F19766F19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7700"/>
            <a:ext cx="9144000" cy="302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9630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94D375-11EC-4FC4-8ED6-BCBC83795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신경망 학습과 추론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D93CBA-24AB-4CE7-B884-3FC01ED02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ko-KR" altLang="en-US" dirty="0"/>
              <a:t>신경망에서 수행하는 작업은 학습과 추론</a:t>
            </a:r>
            <a:endParaRPr lang="en-US" altLang="ko-KR" dirty="0"/>
          </a:p>
          <a:p>
            <a:pPr algn="just">
              <a:lnSpc>
                <a:spcPct val="100000"/>
              </a:lnSpc>
            </a:pPr>
            <a:endParaRPr lang="en-US" altLang="ko-KR" dirty="0"/>
          </a:p>
          <a:p>
            <a:pPr algn="just">
              <a:lnSpc>
                <a:spcPct val="100000"/>
              </a:lnSpc>
            </a:pPr>
            <a:r>
              <a:rPr lang="ko-KR" altLang="en-US" dirty="0"/>
              <a:t>학습</a:t>
            </a:r>
            <a:r>
              <a:rPr lang="en-US" altLang="ko-KR" dirty="0"/>
              <a:t>: </a:t>
            </a:r>
            <a:r>
              <a:rPr lang="en-US" altLang="ko-KR" dirty="0" err="1"/>
              <a:t>Softmax</a:t>
            </a:r>
            <a:r>
              <a:rPr lang="en-US" altLang="ko-KR" dirty="0"/>
              <a:t> </a:t>
            </a:r>
            <a:r>
              <a:rPr lang="ko-KR" altLang="en-US" dirty="0"/>
              <a:t>계층 필요</a:t>
            </a:r>
            <a:endParaRPr lang="en-US" altLang="ko-KR" dirty="0"/>
          </a:p>
          <a:p>
            <a:pPr algn="just">
              <a:lnSpc>
                <a:spcPct val="100000"/>
              </a:lnSpc>
            </a:pPr>
            <a:endParaRPr lang="en-US" altLang="ko-KR" dirty="0"/>
          </a:p>
          <a:p>
            <a:pPr algn="just">
              <a:lnSpc>
                <a:spcPct val="100000"/>
              </a:lnSpc>
            </a:pPr>
            <a:r>
              <a:rPr lang="ko-KR" altLang="en-US" dirty="0"/>
              <a:t>추론</a:t>
            </a:r>
            <a:r>
              <a:rPr lang="en-US" altLang="ko-KR" dirty="0"/>
              <a:t>: </a:t>
            </a:r>
            <a:r>
              <a:rPr lang="ko-KR" altLang="en-US" dirty="0"/>
              <a:t>일반적으로 </a:t>
            </a:r>
            <a:r>
              <a:rPr lang="en-US" altLang="ko-KR" dirty="0" err="1"/>
              <a:t>Softmax</a:t>
            </a:r>
            <a:r>
              <a:rPr lang="en-US" altLang="ko-KR" dirty="0"/>
              <a:t> </a:t>
            </a:r>
            <a:r>
              <a:rPr lang="ko-KR" altLang="en-US" dirty="0"/>
              <a:t>계층을 사용하지 않음</a:t>
            </a:r>
            <a:endParaRPr lang="en-US" altLang="ko-KR" dirty="0"/>
          </a:p>
          <a:p>
            <a:pPr lvl="1" algn="just">
              <a:lnSpc>
                <a:spcPct val="100000"/>
              </a:lnSpc>
            </a:pPr>
            <a:r>
              <a:rPr lang="ko-KR" altLang="en-US" dirty="0"/>
              <a:t>답을 하나만 내는 경우에는 가장 높은 점수만 알면 되니 </a:t>
            </a:r>
            <a:r>
              <a:rPr lang="en-US" altLang="ko-KR" dirty="0" err="1"/>
              <a:t>Softmax</a:t>
            </a:r>
            <a:r>
              <a:rPr lang="en-US" altLang="ko-KR" dirty="0"/>
              <a:t> </a:t>
            </a:r>
            <a:r>
              <a:rPr lang="ko-KR" altLang="en-US" dirty="0"/>
              <a:t>계층은 필요 없음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7260F2-0B6D-4C39-8F8A-33BC9892C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17078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5B9D84-58C5-4E7F-8D21-8C32855C2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Softmax</a:t>
            </a:r>
            <a:r>
              <a:rPr lang="en-US" altLang="ko-KR" dirty="0"/>
              <a:t>-with-Loss </a:t>
            </a:r>
            <a:r>
              <a:rPr lang="ko-KR" altLang="en-US" dirty="0"/>
              <a:t>계층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6F10D2-4903-471F-BEC6-A650E68F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D787B11-B6A7-46B5-8D7F-076F26820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2300"/>
            <a:ext cx="9144000" cy="307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5313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97D885-E7A4-4061-8FE0-C78BE0813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Softmax</a:t>
            </a:r>
            <a:r>
              <a:rPr lang="en-US" altLang="ko-KR" dirty="0"/>
              <a:t>-with-Loss </a:t>
            </a:r>
            <a:r>
              <a:rPr lang="ko-KR" altLang="en-US" dirty="0"/>
              <a:t>계층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2B6AFC-1321-4E90-A6AD-BF83FB327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129" y="5219700"/>
            <a:ext cx="8850201" cy="1116706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altLang="ko-KR" dirty="0"/>
              <a:t>‘</a:t>
            </a:r>
            <a:r>
              <a:rPr lang="ko-KR" altLang="en-US" dirty="0" err="1"/>
              <a:t>소프트맥스</a:t>
            </a:r>
            <a:r>
              <a:rPr lang="en-US" altLang="ko-KR" dirty="0"/>
              <a:t>’</a:t>
            </a:r>
            <a:r>
              <a:rPr lang="ko-KR" altLang="en-US" dirty="0"/>
              <a:t>의 손실함수로 </a:t>
            </a:r>
            <a:r>
              <a:rPr lang="en-US" altLang="ko-KR" dirty="0"/>
              <a:t>‘</a:t>
            </a:r>
            <a:r>
              <a:rPr lang="ko-KR" altLang="en-US" dirty="0"/>
              <a:t>교차 엔트로피 오차</a:t>
            </a:r>
            <a:r>
              <a:rPr lang="en-US" altLang="ko-KR" dirty="0"/>
              <a:t>’</a:t>
            </a:r>
            <a:r>
              <a:rPr lang="ko-KR" altLang="en-US" dirty="0"/>
              <a:t>를 사용하니 역전파가 간단해짐</a:t>
            </a:r>
            <a:endParaRPr lang="en-US" altLang="ko-KR" dirty="0"/>
          </a:p>
          <a:p>
            <a:pPr algn="just">
              <a:lnSpc>
                <a:spcPct val="120000"/>
              </a:lnSpc>
            </a:pPr>
            <a:r>
              <a:rPr lang="ko-KR" altLang="en-US" dirty="0"/>
              <a:t>이러한 목적으로 </a:t>
            </a:r>
            <a:r>
              <a:rPr lang="en-US" altLang="ko-KR" dirty="0"/>
              <a:t>‘</a:t>
            </a:r>
            <a:r>
              <a:rPr lang="ko-KR" altLang="en-US" dirty="0"/>
              <a:t>교차 엔트로피 오차</a:t>
            </a:r>
            <a:r>
              <a:rPr lang="en-US" altLang="ko-KR" dirty="0"/>
              <a:t>’</a:t>
            </a:r>
            <a:r>
              <a:rPr lang="ko-KR" altLang="en-US" dirty="0"/>
              <a:t>가 설계 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AA082F-1702-45AC-B6A8-01A42D8C4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3051CA9-4466-49AD-A29E-0BFAE7959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631" y="965915"/>
            <a:ext cx="6266479" cy="413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5703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AC9E0-1807-B00E-6A15-AA353D88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Softmax</a:t>
            </a:r>
            <a:r>
              <a:rPr lang="en-US" altLang="ko-KR" dirty="0"/>
              <a:t>-with-loss</a:t>
            </a:r>
            <a:r>
              <a:rPr lang="ko-KR" altLang="en-US"/>
              <a:t>의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547D5C-202B-B18D-6385-7E7B56B3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129" y="1634246"/>
            <a:ext cx="8850201" cy="4702159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1C55C-11A0-F85F-1067-DEB3374B4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D02DF4-9502-7EF4-805A-BE14FEA2FD38}"/>
              </a:ext>
            </a:extLst>
          </p:cNvPr>
          <p:cNvSpPr txBox="1"/>
          <p:nvPr/>
        </p:nvSpPr>
        <p:spPr>
          <a:xfrm>
            <a:off x="466928" y="3244334"/>
            <a:ext cx="3813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Softmax</a:t>
            </a:r>
            <a:r>
              <a:rPr lang="en-US" altLang="ko-KR" dirty="0"/>
              <a:t> </a:t>
            </a:r>
            <a:r>
              <a:rPr lang="ko-KR" altLang="en-US" dirty="0"/>
              <a:t>계층의 출력</a:t>
            </a:r>
            <a:r>
              <a:rPr lang="en-US" altLang="ko-KR" dirty="0"/>
              <a:t>: (0.3, 0.2, 0.5)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19EA3A-AE4D-F1A1-4472-686942F483AA}"/>
              </a:ext>
            </a:extLst>
          </p:cNvPr>
          <p:cNvSpPr txBox="1"/>
          <p:nvPr/>
        </p:nvSpPr>
        <p:spPr>
          <a:xfrm>
            <a:off x="4280170" y="3244334"/>
            <a:ext cx="3813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Softmax</a:t>
            </a:r>
            <a:r>
              <a:rPr lang="en-US" altLang="ko-KR" dirty="0"/>
              <a:t> </a:t>
            </a:r>
            <a:r>
              <a:rPr lang="ko-KR" altLang="en-US" dirty="0"/>
              <a:t>계층의 출력</a:t>
            </a:r>
            <a:r>
              <a:rPr lang="en-US" altLang="ko-KR" dirty="0"/>
              <a:t>: (0.01, 0.99, 0.0)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937387-BFDA-746A-FF58-0CF5FE3FA624}"/>
              </a:ext>
            </a:extLst>
          </p:cNvPr>
          <p:cNvSpPr txBox="1"/>
          <p:nvPr/>
        </p:nvSpPr>
        <p:spPr>
          <a:xfrm>
            <a:off x="1647218" y="2784849"/>
            <a:ext cx="1063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모델 </a:t>
            </a:r>
            <a:r>
              <a:rPr lang="en-US" altLang="ko-KR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C109A1-1DAE-86FC-39F6-066EE966CFCE}"/>
              </a:ext>
            </a:extLst>
          </p:cNvPr>
          <p:cNvSpPr txBox="1"/>
          <p:nvPr/>
        </p:nvSpPr>
        <p:spPr>
          <a:xfrm>
            <a:off x="5583678" y="2784849"/>
            <a:ext cx="1063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모델 </a:t>
            </a:r>
            <a:r>
              <a:rPr lang="en-US" altLang="ko-KR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C5C89F-0C9A-B6BD-637B-0139267BAD60}"/>
              </a:ext>
            </a:extLst>
          </p:cNvPr>
          <p:cNvSpPr txBox="1"/>
          <p:nvPr/>
        </p:nvSpPr>
        <p:spPr>
          <a:xfrm>
            <a:off x="881975" y="3800659"/>
            <a:ext cx="3813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역전파</a:t>
            </a:r>
            <a:r>
              <a:rPr lang="en-US" altLang="ko-KR" dirty="0"/>
              <a:t>: (0.3, -0.8, 0.5)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F9808A-E071-4E58-1BC4-A3CFC2D4392D}"/>
                  </a:ext>
                </a:extLst>
              </p:cNvPr>
              <p:cNvSpPr txBox="1"/>
              <p:nvPr/>
            </p:nvSpPr>
            <p:spPr>
              <a:xfrm>
                <a:off x="1121924" y="1047857"/>
                <a:ext cx="50648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 err="1"/>
                  <a:t>Softmax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계층의 </a:t>
                </a:r>
                <a:r>
                  <a:rPr lang="ko-KR" altLang="en-US" dirty="0" err="1"/>
                  <a:t>역전파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dirty="0"/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F9808A-E071-4E58-1BC4-A3CFC2D43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924" y="1047857"/>
                <a:ext cx="5064867" cy="369332"/>
              </a:xfrm>
              <a:prstGeom prst="rect">
                <a:avLst/>
              </a:prstGeom>
              <a:blipFill>
                <a:blip r:embed="rId2"/>
                <a:stretch>
                  <a:fillRect l="-963" t="-13333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4EBD11A-60FE-4F72-059A-7D422227689A}"/>
              </a:ext>
            </a:extLst>
          </p:cNvPr>
          <p:cNvSpPr txBox="1"/>
          <p:nvPr/>
        </p:nvSpPr>
        <p:spPr>
          <a:xfrm>
            <a:off x="3508443" y="2033073"/>
            <a:ext cx="1640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dirty="0"/>
              <a:t>정답</a:t>
            </a:r>
            <a:r>
              <a:rPr lang="en-US" altLang="ko-KR" dirty="0"/>
              <a:t>: (0,1,0)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7CA49C-EF90-2A4C-2855-FDB7B41C994B}"/>
              </a:ext>
            </a:extLst>
          </p:cNvPr>
          <p:cNvSpPr txBox="1"/>
          <p:nvPr/>
        </p:nvSpPr>
        <p:spPr>
          <a:xfrm>
            <a:off x="5005280" y="3800659"/>
            <a:ext cx="3813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역전파</a:t>
            </a:r>
            <a:r>
              <a:rPr lang="en-US" altLang="ko-KR" dirty="0"/>
              <a:t>: (0.01, -0.01, 0.0)</a:t>
            </a:r>
          </a:p>
        </p:txBody>
      </p:sp>
    </p:spTree>
    <p:extLst>
      <p:ext uri="{BB962C8B-B14F-4D97-AF65-F5344CB8AC3E}">
        <p14:creationId xmlns:p14="http://schemas.microsoft.com/office/powerpoint/2010/main" val="35662696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E38211-C7A2-4F7C-9E49-7DAA50272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오차역전파법</a:t>
            </a:r>
            <a:r>
              <a:rPr lang="ko-KR" altLang="en-US" dirty="0"/>
              <a:t> 구현하기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8E6581-2914-4A01-AB4C-2FDE4AE40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ko-KR" altLang="en-US" sz="1600" dirty="0"/>
              <a:t>학습</a:t>
            </a:r>
            <a:r>
              <a:rPr lang="en-US" altLang="ko-KR" sz="1600" dirty="0"/>
              <a:t>: </a:t>
            </a:r>
            <a:r>
              <a:rPr lang="ko-KR" altLang="en-US" sz="1600" dirty="0"/>
              <a:t>가중치와 편향을 훈련 데이터에 적응하도록 조정하는 과정</a:t>
            </a:r>
          </a:p>
          <a:p>
            <a:pPr algn="just">
              <a:lnSpc>
                <a:spcPct val="100000"/>
              </a:lnSpc>
            </a:pPr>
            <a:endParaRPr lang="en-US" altLang="ko-KR" sz="1600" dirty="0"/>
          </a:p>
          <a:p>
            <a:pPr algn="just">
              <a:lnSpc>
                <a:spcPct val="100000"/>
              </a:lnSpc>
            </a:pPr>
            <a:r>
              <a:rPr lang="en-US" altLang="ko-KR" sz="1600" dirty="0"/>
              <a:t>1</a:t>
            </a:r>
            <a:r>
              <a:rPr lang="ko-KR" altLang="en-US" sz="1600" dirty="0"/>
              <a:t>단계 </a:t>
            </a:r>
            <a:r>
              <a:rPr lang="en-US" altLang="ko-KR" sz="1600" dirty="0"/>
              <a:t>- </a:t>
            </a:r>
            <a:r>
              <a:rPr lang="ko-KR" altLang="en-US" sz="1600" dirty="0"/>
              <a:t>미니배치</a:t>
            </a:r>
          </a:p>
          <a:p>
            <a:pPr lvl="1" algn="just">
              <a:lnSpc>
                <a:spcPct val="100000"/>
              </a:lnSpc>
            </a:pPr>
            <a:r>
              <a:rPr lang="ko-KR" altLang="en-US" sz="1400" dirty="0"/>
              <a:t>미니배치</a:t>
            </a:r>
            <a:r>
              <a:rPr lang="en-US" altLang="ko-KR" sz="1400" dirty="0"/>
              <a:t>: </a:t>
            </a:r>
            <a:r>
              <a:rPr lang="ko-KR" altLang="en-US" sz="1400" dirty="0"/>
              <a:t>훈련 데이터 중 일부를 무작위로 가져옴</a:t>
            </a:r>
          </a:p>
          <a:p>
            <a:pPr lvl="1" algn="just">
              <a:lnSpc>
                <a:spcPct val="100000"/>
              </a:lnSpc>
            </a:pPr>
            <a:r>
              <a:rPr lang="ko-KR" altLang="en-US" sz="1400" dirty="0"/>
              <a:t>목표</a:t>
            </a:r>
            <a:r>
              <a:rPr lang="en-US" altLang="ko-KR" sz="1400" dirty="0"/>
              <a:t>: </a:t>
            </a:r>
            <a:r>
              <a:rPr lang="ko-KR" altLang="en-US" sz="1400" dirty="0"/>
              <a:t>미니배치의 손실 함수 값을 줄이기</a:t>
            </a:r>
          </a:p>
          <a:p>
            <a:pPr algn="just">
              <a:lnSpc>
                <a:spcPct val="100000"/>
              </a:lnSpc>
            </a:pPr>
            <a:r>
              <a:rPr lang="en-US" altLang="ko-KR" sz="1600" dirty="0"/>
              <a:t>2</a:t>
            </a:r>
            <a:r>
              <a:rPr lang="ko-KR" altLang="en-US" sz="1600" dirty="0"/>
              <a:t>단계 </a:t>
            </a:r>
            <a:r>
              <a:rPr lang="en-US" altLang="ko-KR" sz="1600" dirty="0"/>
              <a:t>- </a:t>
            </a:r>
            <a:r>
              <a:rPr lang="ko-KR" altLang="en-US" sz="1600" dirty="0"/>
              <a:t>기울기 산출</a:t>
            </a:r>
          </a:p>
          <a:p>
            <a:pPr lvl="1" algn="just">
              <a:lnSpc>
                <a:spcPct val="100000"/>
              </a:lnSpc>
            </a:pPr>
            <a:r>
              <a:rPr lang="ko-KR" altLang="en-US" sz="1400" dirty="0"/>
              <a:t>가중치 매개변수의 기울기를 구함</a:t>
            </a:r>
            <a:r>
              <a:rPr lang="en-US" altLang="ko-KR" sz="1400" dirty="0"/>
              <a:t>. </a:t>
            </a:r>
            <a:r>
              <a:rPr lang="ko-KR" altLang="en-US" sz="1400" dirty="0"/>
              <a:t>기울기는 손실 함수의 값을 가장 </a:t>
            </a:r>
            <a:r>
              <a:rPr lang="ko-KR" altLang="en-US" sz="1400" dirty="0" err="1"/>
              <a:t>작게하는</a:t>
            </a:r>
            <a:r>
              <a:rPr lang="ko-KR" altLang="en-US" sz="1400" dirty="0"/>
              <a:t> 방향을 제시</a:t>
            </a:r>
          </a:p>
          <a:p>
            <a:pPr algn="just">
              <a:lnSpc>
                <a:spcPct val="100000"/>
              </a:lnSpc>
            </a:pPr>
            <a:r>
              <a:rPr lang="en-US" altLang="ko-KR" sz="1600" dirty="0"/>
              <a:t>3</a:t>
            </a:r>
            <a:r>
              <a:rPr lang="ko-KR" altLang="en-US" sz="1600" dirty="0"/>
              <a:t>단계 </a:t>
            </a:r>
            <a:r>
              <a:rPr lang="en-US" altLang="ko-KR" sz="1600" dirty="0"/>
              <a:t>- </a:t>
            </a:r>
            <a:r>
              <a:rPr lang="ko-KR" altLang="en-US" sz="1600" dirty="0"/>
              <a:t>매개변수 갱신</a:t>
            </a:r>
          </a:p>
          <a:p>
            <a:pPr lvl="1" algn="just">
              <a:lnSpc>
                <a:spcPct val="100000"/>
              </a:lnSpc>
            </a:pPr>
            <a:r>
              <a:rPr lang="ko-KR" altLang="en-US" sz="1400" dirty="0"/>
              <a:t>가중치 매개변수를 기울기 방향으로 아주 조금 갱신</a:t>
            </a:r>
          </a:p>
          <a:p>
            <a:pPr algn="just">
              <a:lnSpc>
                <a:spcPct val="100000"/>
              </a:lnSpc>
            </a:pPr>
            <a:r>
              <a:rPr lang="en-US" altLang="ko-KR" sz="1600" dirty="0"/>
              <a:t>4</a:t>
            </a:r>
            <a:r>
              <a:rPr lang="ko-KR" altLang="en-US" sz="1600" dirty="0"/>
              <a:t>단계 </a:t>
            </a:r>
            <a:r>
              <a:rPr lang="en-US" altLang="ko-KR" sz="1600" dirty="0"/>
              <a:t>- </a:t>
            </a:r>
            <a:r>
              <a:rPr lang="ko-KR" altLang="en-US" sz="1600" dirty="0"/>
              <a:t>반복</a:t>
            </a:r>
          </a:p>
          <a:p>
            <a:pPr lvl="1" algn="just">
              <a:lnSpc>
                <a:spcPct val="100000"/>
              </a:lnSpc>
            </a:pPr>
            <a:r>
              <a:rPr lang="en-US" altLang="ko-KR" sz="1400" dirty="0"/>
              <a:t>1~3 </a:t>
            </a:r>
            <a:r>
              <a:rPr lang="ko-KR" altLang="en-US" sz="1400" dirty="0"/>
              <a:t>단계를 반복</a:t>
            </a:r>
          </a:p>
          <a:p>
            <a:pPr algn="just">
              <a:lnSpc>
                <a:spcPct val="100000"/>
              </a:lnSpc>
            </a:pPr>
            <a:endParaRPr lang="en-US" altLang="ko-KR" sz="1600" dirty="0"/>
          </a:p>
          <a:p>
            <a:pPr algn="just">
              <a:lnSpc>
                <a:spcPct val="100000"/>
              </a:lnSpc>
            </a:pPr>
            <a:r>
              <a:rPr lang="ko-KR" altLang="en-US" sz="1600" dirty="0"/>
              <a:t>오차역전법이 등장하는 단계는 두 번째인 </a:t>
            </a:r>
            <a:r>
              <a:rPr lang="en-US" altLang="ko-KR" sz="1600" dirty="0"/>
              <a:t>‘</a:t>
            </a:r>
            <a:r>
              <a:rPr lang="ko-KR" altLang="en-US" sz="1600" dirty="0"/>
              <a:t>기울기 산출</a:t>
            </a:r>
            <a:r>
              <a:rPr lang="en-US" altLang="ko-KR" sz="1600" dirty="0"/>
              <a:t>’</a:t>
            </a:r>
          </a:p>
          <a:p>
            <a:pPr algn="just">
              <a:lnSpc>
                <a:spcPct val="100000"/>
              </a:lnSpc>
            </a:pPr>
            <a:r>
              <a:rPr lang="ko-KR" altLang="en-US" sz="1600" dirty="0"/>
              <a:t>느린 수치 미분과 달리 기울기를 효율적이고 빠르게 구할 수 있음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67E821-2EDC-4C86-BA8A-B98D537A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19635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570C3E-41A8-46BE-AFA8-5373E5C85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D26B13-E522-4CE0-AE20-7B3EED760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ko-KR" altLang="en-US" dirty="0"/>
              <a:t>계산그래프를 이용하면 계산 과정을 시각적으로 파악 가능</a:t>
            </a:r>
          </a:p>
          <a:p>
            <a:pPr algn="just">
              <a:lnSpc>
                <a:spcPct val="120000"/>
              </a:lnSpc>
            </a:pPr>
            <a:endParaRPr lang="ko-KR" altLang="en-US" dirty="0"/>
          </a:p>
          <a:p>
            <a:pPr algn="just">
              <a:lnSpc>
                <a:spcPct val="120000"/>
              </a:lnSpc>
            </a:pPr>
            <a:r>
              <a:rPr lang="ko-KR" altLang="en-US" dirty="0"/>
              <a:t>계산그래프 노드는 국소적 계산으로 구성</a:t>
            </a:r>
            <a:r>
              <a:rPr lang="en-US" altLang="ko-KR" dirty="0"/>
              <a:t>. </a:t>
            </a:r>
            <a:r>
              <a:rPr lang="ko-KR" altLang="en-US" dirty="0"/>
              <a:t>국소적 계산을 조합해 전체 계산을 구성</a:t>
            </a:r>
          </a:p>
          <a:p>
            <a:pPr algn="just">
              <a:lnSpc>
                <a:spcPct val="120000"/>
              </a:lnSpc>
            </a:pPr>
            <a:endParaRPr lang="ko-KR" altLang="en-US" dirty="0"/>
          </a:p>
          <a:p>
            <a:pPr algn="just">
              <a:lnSpc>
                <a:spcPct val="120000"/>
              </a:lnSpc>
            </a:pPr>
            <a:r>
              <a:rPr lang="ko-KR" altLang="en-US" dirty="0"/>
              <a:t>순전파는 통상의 계산을 수행</a:t>
            </a:r>
            <a:r>
              <a:rPr lang="en-US" altLang="ko-KR" dirty="0"/>
              <a:t>. </a:t>
            </a:r>
            <a:r>
              <a:rPr lang="ko-KR" altLang="en-US" dirty="0"/>
              <a:t>역전파는 노드의 미분을 구함</a:t>
            </a:r>
          </a:p>
          <a:p>
            <a:pPr algn="just">
              <a:lnSpc>
                <a:spcPct val="120000"/>
              </a:lnSpc>
            </a:pPr>
            <a:endParaRPr lang="ko-KR" altLang="en-US" dirty="0"/>
          </a:p>
          <a:p>
            <a:pPr algn="just">
              <a:lnSpc>
                <a:spcPct val="120000"/>
              </a:lnSpc>
            </a:pPr>
            <a:r>
              <a:rPr lang="ko-KR" altLang="en-US" dirty="0" err="1"/>
              <a:t>오차역전파법</a:t>
            </a:r>
            <a:r>
              <a:rPr lang="en-US" altLang="ko-KR" dirty="0"/>
              <a:t>: </a:t>
            </a:r>
            <a:r>
              <a:rPr lang="ko-KR" altLang="en-US" dirty="0"/>
              <a:t>신경망의 구성 요소를 계층으로 구현하여 기울기를 효율적으로 계산</a:t>
            </a:r>
          </a:p>
          <a:p>
            <a:pPr algn="just">
              <a:lnSpc>
                <a:spcPct val="120000"/>
              </a:lnSpc>
            </a:pPr>
            <a:endParaRPr lang="ko-KR" altLang="en-US" dirty="0"/>
          </a:p>
          <a:p>
            <a:pPr algn="just">
              <a:lnSpc>
                <a:spcPct val="120000"/>
              </a:lnSpc>
            </a:pPr>
            <a:r>
              <a:rPr lang="ko-KR" altLang="en-US" dirty="0"/>
              <a:t>기울기 확인</a:t>
            </a:r>
            <a:r>
              <a:rPr lang="en-US" altLang="ko-KR" dirty="0"/>
              <a:t>: </a:t>
            </a:r>
            <a:r>
              <a:rPr lang="ko-KR" altLang="en-US" dirty="0"/>
              <a:t>수치 미분과 </a:t>
            </a:r>
            <a:r>
              <a:rPr lang="ko-KR" altLang="en-US" dirty="0" err="1"/>
              <a:t>오차역전파법의</a:t>
            </a:r>
            <a:r>
              <a:rPr lang="ko-KR" altLang="en-US" dirty="0"/>
              <a:t> 결과를 비교하면 </a:t>
            </a:r>
            <a:r>
              <a:rPr lang="ko-KR" altLang="en-US" dirty="0" err="1"/>
              <a:t>오차역전파법</a:t>
            </a:r>
            <a:r>
              <a:rPr lang="ko-KR" altLang="en-US" dirty="0"/>
              <a:t> 구현에 잘못이 없는지 확인가능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D2D365-B2E0-4FA9-A26B-089959CF1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5287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18428</TotalTime>
  <Words>1077</Words>
  <Application>Microsoft Office PowerPoint</Application>
  <PresentationFormat>화면 슬라이드 쇼(4:3)</PresentationFormat>
  <Paragraphs>229</Paragraphs>
  <Slides>42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9" baseType="lpstr">
      <vt:lpstr>맑은 고딕</vt:lpstr>
      <vt:lpstr>Arial</vt:lpstr>
      <vt:lpstr>Calibri</vt:lpstr>
      <vt:lpstr>Calibri Light</vt:lpstr>
      <vt:lpstr>Cambria Math</vt:lpstr>
      <vt:lpstr>Wingdings</vt:lpstr>
      <vt:lpstr>Office 테마</vt:lpstr>
      <vt:lpstr>오차역전파</vt:lpstr>
      <vt:lpstr>복습</vt:lpstr>
      <vt:lpstr>소개</vt:lpstr>
      <vt:lpstr>계산 그래프(computational graph)</vt:lpstr>
      <vt:lpstr>계산 그래프 예</vt:lpstr>
      <vt:lpstr>계산 그래프 예</vt:lpstr>
      <vt:lpstr>계산 그래프 예</vt:lpstr>
      <vt:lpstr>계산 그래프를 이용한 문제풀이</vt:lpstr>
      <vt:lpstr>국소적 계산</vt:lpstr>
      <vt:lpstr>계산 그래프의 이점</vt:lpstr>
      <vt:lpstr>사과　가격에　대한　지불　금액의　미분</vt:lpstr>
      <vt:lpstr>계산 그래프의 역전파</vt:lpstr>
      <vt:lpstr>연쇄법칙</vt:lpstr>
      <vt:lpstr>연쇄법칙</vt:lpstr>
      <vt:lpstr>연쇄법칙과 계산 그래프</vt:lpstr>
      <vt:lpstr>연쇄법칙과 계산 그래프</vt:lpstr>
      <vt:lpstr>덧셈 노드의 역전파</vt:lpstr>
      <vt:lpstr>덧셈 노드의 역전파</vt:lpstr>
      <vt:lpstr>덧셈 노드의 역전파 예</vt:lpstr>
      <vt:lpstr>곱셈 노드의 역전파</vt:lpstr>
      <vt:lpstr>곱셈 노드의 역전파 예</vt:lpstr>
      <vt:lpstr>역전파 예</vt:lpstr>
      <vt:lpstr>단순한 계층 구현하기</vt:lpstr>
      <vt:lpstr>활성화 함수 계층 구현하기</vt:lpstr>
      <vt:lpstr>ReLU 계층</vt:lpstr>
      <vt:lpstr>Sigmoid 계층</vt:lpstr>
      <vt:lpstr>Sigmoid 계층 – 1단계</vt:lpstr>
      <vt:lpstr>Sigmoid 계층 – 2단계</vt:lpstr>
      <vt:lpstr>Sigmoid 계층 – 3단계</vt:lpstr>
      <vt:lpstr>Sigmoid 계층 – 4단계</vt:lpstr>
      <vt:lpstr>Sigmoid 계층</vt:lpstr>
      <vt:lpstr>Affine 계층</vt:lpstr>
      <vt:lpstr>Affine 계층 역전파</vt:lpstr>
      <vt:lpstr>형상이 일치되도록 내적을 조립</vt:lpstr>
      <vt:lpstr>배치용 Affine 계층</vt:lpstr>
      <vt:lpstr>Softmax 계층</vt:lpstr>
      <vt:lpstr>신경망 학습과 추론</vt:lpstr>
      <vt:lpstr>Softmax-with-Loss 계층</vt:lpstr>
      <vt:lpstr>Softmax-with-Loss 계층</vt:lpstr>
      <vt:lpstr>Softmax-with-loss의 예</vt:lpstr>
      <vt:lpstr>오차역전파법 구현하기</vt:lpstr>
      <vt:lpstr>정리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Techniques for 2-hop Labeling of Dynamic Directed Acyclic Graphs</dc:title>
  <dc:creator>Windows 사용자</dc:creator>
  <cp:lastModifiedBy>안진현</cp:lastModifiedBy>
  <cp:revision>641</cp:revision>
  <cp:lastPrinted>2016-10-13T23:42:19Z</cp:lastPrinted>
  <dcterms:created xsi:type="dcterms:W3CDTF">2016-09-30T16:23:03Z</dcterms:created>
  <dcterms:modified xsi:type="dcterms:W3CDTF">2026-10-12T00:46:27Z</dcterms:modified>
</cp:coreProperties>
</file>