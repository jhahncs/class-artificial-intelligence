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6" r:id="rId2"/>
    <p:sldId id="279" r:id="rId3"/>
    <p:sldId id="280" r:id="rId4"/>
    <p:sldId id="290" r:id="rId5"/>
    <p:sldId id="291" r:id="rId6"/>
    <p:sldId id="258" r:id="rId7"/>
    <p:sldId id="259" r:id="rId8"/>
    <p:sldId id="304" r:id="rId9"/>
    <p:sldId id="333" r:id="rId10"/>
    <p:sldId id="263" r:id="rId11"/>
    <p:sldId id="707" r:id="rId12"/>
    <p:sldId id="267" r:id="rId13"/>
    <p:sldId id="268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57" r:id="rId22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4" autoAdjust="0"/>
    <p:restoredTop sz="91735" autoAdjust="0"/>
  </p:normalViewPr>
  <p:slideViewPr>
    <p:cSldViewPr snapToGrid="0">
      <p:cViewPr varScale="1">
        <p:scale>
          <a:sx n="93" d="100"/>
          <a:sy n="93" d="100"/>
        </p:scale>
        <p:origin x="95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73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49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A03B-A111-4691-8D13-D794D7D0C42B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194A7437-3F82-48DF-8DE1-7A981EE95380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50D6D-AEAC-1E56-B8A5-9E10089D0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4930" y="644650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2455-8C0F-402D-A3AB-8F6445C2A285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BDC13-73C7-42BF-867F-205AB1D0E360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F941-CA01-4D4A-962D-14D2D393BA85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ACA2A-6119-4064-A6C1-C9873736B7BE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F26D2-5E7E-44EA-A1D4-F8676FC03539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4880-97FE-4D26-9AE5-29F593C46BCC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AE1FA-3F8C-4930-A49D-D5808F8E9CAF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E015C-FDC2-4C83-BD8B-E18BDE2C2B27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A7B3-3768-4A26-8BF8-D890E5824D60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3C5145-2ED5-468E-A99E-5308A5185D42}" type="datetime1">
              <a:rPr lang="ko-KR" altLang="en-US" smtClean="0"/>
              <a:t>2026-08-26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1BF760-285B-4B5A-A370-9229E3137A2E}" type="datetime1">
              <a:rPr lang="ko-KR" altLang="en-US" smtClean="0"/>
              <a:t>2026-08-26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E5DCFF-F4BA-4955-B2A3-67F6C400EC0C}" type="datetime1">
              <a:rPr lang="ko-KR" altLang="en-US" smtClean="0"/>
              <a:t>2026-08-26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10C748-48F7-4C81-B37C-878DB1A05CA8}" type="datetime1">
              <a:rPr lang="ko-KR" altLang="en-US" smtClean="0"/>
              <a:t>2026-08-26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34CF8-2058-44D0-A8D8-C1E6837BAACD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hyperlink" Target="https://playground.tensorflow.org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0835" y="1122363"/>
            <a:ext cx="8800935" cy="2387600"/>
          </a:xfrm>
        </p:spPr>
        <p:txBody>
          <a:bodyPr anchor="ctr">
            <a:normAutofit/>
          </a:bodyPr>
          <a:lstStyle/>
          <a:p>
            <a:r>
              <a:rPr lang="ko-KR" altLang="en-US" sz="2800" dirty="0"/>
              <a:t>인공지능 소개</a:t>
            </a:r>
            <a:endParaRPr lang="en-US" altLang="ko-KR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ko-KR" altLang="en-US" sz="2800" dirty="0"/>
              <a:t>안진현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37325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</a:pPr>
            <a:r>
              <a:rPr lang="ko-KR" altLang="en-US" dirty="0"/>
              <a:t>인간이 가지고 있는 능력인 인식</a:t>
            </a:r>
            <a:r>
              <a:rPr lang="en-US" altLang="ko-KR" dirty="0"/>
              <a:t>, </a:t>
            </a:r>
            <a:r>
              <a:rPr lang="ko-KR" altLang="en-US" dirty="0"/>
              <a:t>표현과 추론</a:t>
            </a:r>
            <a:r>
              <a:rPr lang="en-US" altLang="ko-KR" dirty="0"/>
              <a:t>, </a:t>
            </a:r>
            <a:r>
              <a:rPr lang="ko-KR" altLang="en-US" dirty="0"/>
              <a:t>학습</a:t>
            </a:r>
            <a:r>
              <a:rPr lang="en-US" altLang="ko-KR" dirty="0"/>
              <a:t>, </a:t>
            </a:r>
            <a:r>
              <a:rPr lang="ko-KR" altLang="en-US" dirty="0"/>
              <a:t>자연스런 상호작용 등을 컴퓨터 프로그램으로 실현한 기술</a:t>
            </a:r>
            <a:endParaRPr lang="en-US" altLang="ko-KR" dirty="0"/>
          </a:p>
          <a:p>
            <a:pPr lvl="1" algn="just">
              <a:lnSpc>
                <a:spcPct val="110000"/>
              </a:lnSpc>
            </a:pPr>
            <a:r>
              <a:rPr lang="en-US" altLang="ko-KR" dirty="0"/>
              <a:t>Ex) Google DeepMind</a:t>
            </a:r>
            <a:r>
              <a:rPr lang="ko-KR" altLang="en-US" dirty="0"/>
              <a:t>의 </a:t>
            </a:r>
            <a:r>
              <a:rPr lang="en-US" altLang="ko-KR" dirty="0" err="1"/>
              <a:t>AlphaGo</a:t>
            </a:r>
            <a:r>
              <a:rPr lang="en-US" altLang="ko-KR" dirty="0"/>
              <a:t>, IBM Watson, Apple Siri</a:t>
            </a:r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r>
              <a:rPr lang="ko-KR" altLang="en-US" dirty="0"/>
              <a:t>인공지능 접근법</a:t>
            </a:r>
            <a:endParaRPr lang="en-US" altLang="ko-KR" dirty="0"/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지식 기반 시스템</a:t>
            </a:r>
            <a:r>
              <a:rPr lang="en-US" altLang="ko-KR" dirty="0"/>
              <a:t>, </a:t>
            </a:r>
            <a:r>
              <a:rPr lang="ko-KR" altLang="en-US" dirty="0"/>
              <a:t>인공신경망</a:t>
            </a:r>
            <a:r>
              <a:rPr lang="en-US" altLang="ko-KR" dirty="0"/>
              <a:t>(</a:t>
            </a:r>
            <a:r>
              <a:rPr lang="ko-KR" altLang="en-US" dirty="0" err="1"/>
              <a:t>딥러닝</a:t>
            </a:r>
            <a:r>
              <a:rPr lang="en-US" altLang="ko-KR" dirty="0"/>
              <a:t>), </a:t>
            </a:r>
            <a:r>
              <a:rPr lang="ko-KR" altLang="en-US" dirty="0"/>
              <a:t>진화 연산</a:t>
            </a:r>
            <a:r>
              <a:rPr lang="en-US" altLang="ko-KR" dirty="0"/>
              <a:t>(</a:t>
            </a:r>
            <a:r>
              <a:rPr lang="ko-KR" altLang="en-US" dirty="0"/>
              <a:t>유전자 알고리즘</a:t>
            </a:r>
            <a:r>
              <a:rPr lang="en-US" altLang="ko-KR" dirty="0"/>
              <a:t>), </a:t>
            </a:r>
            <a:r>
              <a:rPr lang="ko-KR" altLang="en-US" dirty="0"/>
              <a:t>지식 공학 등</a:t>
            </a:r>
          </a:p>
          <a:p>
            <a:pPr algn="just">
              <a:lnSpc>
                <a:spcPct val="110000"/>
              </a:lnSpc>
            </a:pPr>
            <a:endParaRPr lang="ko-KR" altLang="en-US" dirty="0"/>
          </a:p>
          <a:p>
            <a:pPr algn="just">
              <a:lnSpc>
                <a:spcPct val="110000"/>
              </a:lnSpc>
            </a:pPr>
            <a:r>
              <a:rPr lang="ko-KR" altLang="en-US" sz="2200" dirty="0"/>
              <a:t>“사람처럼 생각하고 사람처럼 행동하는 기계”</a:t>
            </a:r>
            <a:r>
              <a:rPr lang="en-US" altLang="ko-KR" sz="2200" dirty="0"/>
              <a:t>(</a:t>
            </a:r>
            <a:r>
              <a:rPr lang="ko-KR" altLang="en-US" sz="2200" dirty="0"/>
              <a:t>컴퓨터</a:t>
            </a:r>
            <a:r>
              <a:rPr lang="en-US" altLang="ko-KR" sz="2200" dirty="0"/>
              <a:t>, SW)</a:t>
            </a:r>
            <a:r>
              <a:rPr lang="ko-KR" altLang="en-US" sz="2200" dirty="0"/>
              <a:t>를 개발</a:t>
            </a:r>
          </a:p>
          <a:p>
            <a:pPr algn="just">
              <a:lnSpc>
                <a:spcPct val="110000"/>
              </a:lnSpc>
            </a:pPr>
            <a:r>
              <a:rPr lang="ko-KR" altLang="en-US" sz="2200" dirty="0"/>
              <a:t>사람이 기계보다 잘 하는 일을 기계가 할 수 있도록 하는 연구</a:t>
            </a:r>
          </a:p>
          <a:p>
            <a:pPr algn="just">
              <a:lnSpc>
                <a:spcPct val="110000"/>
              </a:lnSpc>
            </a:pPr>
            <a:r>
              <a:rPr lang="ko-KR" altLang="en-US" sz="2200" dirty="0"/>
              <a:t>지능을 필요로 하는 일을 기계가 할 수 있도록 하는 연구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670764-2815-EB77-49A1-E7895336C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963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7" y="1182052"/>
            <a:ext cx="8710705" cy="444912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845945" y="6367565"/>
            <a:ext cx="704088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Jiqiong</a:t>
            </a:r>
            <a:r>
              <a:rPr lang="en-US" altLang="ko-KR" sz="1100" dirty="0"/>
              <a:t> </a:t>
            </a:r>
            <a:r>
              <a:rPr lang="en-US" altLang="ko-KR" sz="1100" dirty="0" err="1"/>
              <a:t>Qiu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DevFest</a:t>
            </a:r>
            <a:r>
              <a:rPr lang="en-US" altLang="ko-KR" sz="1100" dirty="0"/>
              <a:t> 2016 , http://www.slideshare.net/SfeirGroup/first-step-deep-learning-by-jiqiong-qiu-devfest-2016</a:t>
            </a:r>
            <a:endParaRPr lang="ko-KR" altLang="en-US" sz="11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015E1ED-DB80-F800-F489-A05F9EEB0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21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 주요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2125282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ko-KR" altLang="en-US" dirty="0"/>
              <a:t>영국의 천재 수학자 </a:t>
            </a:r>
            <a:r>
              <a:rPr lang="ko-KR" altLang="en-US" dirty="0" err="1"/>
              <a:t>앨런</a:t>
            </a:r>
            <a:r>
              <a:rPr lang="ko-KR" altLang="en-US" dirty="0"/>
              <a:t> </a:t>
            </a:r>
            <a:r>
              <a:rPr lang="ko-KR" altLang="en-US" dirty="0" err="1"/>
              <a:t>튜링은</a:t>
            </a:r>
            <a:r>
              <a:rPr lang="ko-KR" altLang="en-US" dirty="0"/>
              <a:t> </a:t>
            </a:r>
            <a:r>
              <a:rPr lang="en-US" altLang="ko-KR" dirty="0"/>
              <a:t>1950</a:t>
            </a:r>
            <a:r>
              <a:rPr lang="ko-KR" altLang="en-US" dirty="0"/>
              <a:t>년에 컴퓨터가 사람처럼 생각할 수 있는지 판단할 수 있는 ‘</a:t>
            </a:r>
            <a:r>
              <a:rPr lang="ko-KR" altLang="en-US" dirty="0" err="1"/>
              <a:t>튜링</a:t>
            </a:r>
            <a:r>
              <a:rPr lang="ko-KR" altLang="en-US" dirty="0"/>
              <a:t> 테스트’를 제안</a:t>
            </a:r>
            <a:endParaRPr lang="en-US" altLang="ko-KR" dirty="0"/>
          </a:p>
          <a:p>
            <a:pPr algn="just">
              <a:lnSpc>
                <a:spcPct val="120000"/>
              </a:lnSpc>
            </a:pPr>
            <a:endParaRPr lang="en-US" altLang="ko-KR" dirty="0"/>
          </a:p>
          <a:p>
            <a:pPr algn="just">
              <a:lnSpc>
                <a:spcPct val="120000"/>
              </a:lnSpc>
            </a:pPr>
            <a:r>
              <a:rPr lang="ko-KR" altLang="en-US" dirty="0"/>
              <a:t>미국의 컴퓨터 과학자이자 수학자인 존 </a:t>
            </a:r>
            <a:r>
              <a:rPr lang="ko-KR" altLang="en-US" dirty="0" err="1"/>
              <a:t>매카시는</a:t>
            </a:r>
            <a:r>
              <a:rPr lang="ko-KR" altLang="en-US" dirty="0"/>
              <a:t> </a:t>
            </a:r>
            <a:r>
              <a:rPr lang="en-US" altLang="ko-KR" dirty="0"/>
              <a:t>1956</a:t>
            </a:r>
            <a:r>
              <a:rPr lang="ko-KR" altLang="en-US" dirty="0"/>
              <a:t>년 미국 </a:t>
            </a:r>
            <a:r>
              <a:rPr lang="ko-KR" altLang="en-US" dirty="0" err="1"/>
              <a:t>다트머스에서</a:t>
            </a:r>
            <a:r>
              <a:rPr lang="ko-KR" altLang="en-US" dirty="0"/>
              <a:t> 열린 학회에서 ‘인공지능’이라는 용어를 처음 사용</a:t>
            </a:r>
            <a:endParaRPr lang="en-US" altLang="ko-KR" dirty="0"/>
          </a:p>
          <a:p>
            <a:pPr algn="just">
              <a:lnSpc>
                <a:spcPct val="120000"/>
              </a:lnSpc>
            </a:pPr>
            <a:endParaRPr lang="en-US" altLang="ko-KR" dirty="0"/>
          </a:p>
        </p:txBody>
      </p:sp>
      <p:pic>
        <p:nvPicPr>
          <p:cNvPr id="1026" name="Picture 2" descr="http://postfiles2.naver.net/20160321_257/kor_nvidia_1458547387540mHprX_PNG/%B1%D7%B8%B22.png?type=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110" y="3032350"/>
            <a:ext cx="2878220" cy="369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152130" y="3457230"/>
            <a:ext cx="5305696" cy="2848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ko-KR" sz="2200" dirty="0"/>
              <a:t>2012</a:t>
            </a:r>
            <a:r>
              <a:rPr lang="ko-KR" altLang="en-US" sz="2200" dirty="0"/>
              <a:t>년 </a:t>
            </a:r>
            <a:r>
              <a:rPr lang="ko-KR" altLang="en-US" sz="2200" dirty="0" err="1"/>
              <a:t>알렉스넷</a:t>
            </a:r>
            <a:endParaRPr lang="ko-KR" altLang="en-US" sz="2200" dirty="0"/>
          </a:p>
          <a:p>
            <a:pPr lvl="1" algn="just">
              <a:lnSpc>
                <a:spcPct val="110000"/>
              </a:lnSpc>
            </a:pPr>
            <a:r>
              <a:rPr lang="ko-KR" altLang="en-US" sz="1800" dirty="0"/>
              <a:t>나선형신경망</a:t>
            </a:r>
            <a:r>
              <a:rPr lang="en-US" altLang="ko-KR" sz="1800" dirty="0"/>
              <a:t>(Convolution Neural Network, CNN)</a:t>
            </a:r>
            <a:r>
              <a:rPr lang="ko-KR" altLang="en-US" sz="1800" dirty="0"/>
              <a:t>을 사용하여 심층 신경망</a:t>
            </a:r>
            <a:r>
              <a:rPr lang="en-US" altLang="ko-KR" sz="1800" dirty="0"/>
              <a:t>(Deep Neural Network)</a:t>
            </a:r>
            <a:r>
              <a:rPr lang="ko-KR" altLang="en-US" sz="1800" dirty="0"/>
              <a:t>을 구현</a:t>
            </a:r>
            <a:endParaRPr lang="en-US" altLang="ko-KR" sz="1800" dirty="0"/>
          </a:p>
          <a:p>
            <a:pPr lvl="1" algn="just">
              <a:lnSpc>
                <a:spcPct val="110000"/>
              </a:lnSpc>
            </a:pPr>
            <a:endParaRPr lang="ko-KR" altLang="en-US" sz="2000" dirty="0"/>
          </a:p>
          <a:p>
            <a:pPr algn="just">
              <a:lnSpc>
                <a:spcPct val="110000"/>
              </a:lnSpc>
            </a:pPr>
            <a:r>
              <a:rPr lang="en-US" altLang="ko-KR" sz="2200" dirty="0"/>
              <a:t>2016</a:t>
            </a:r>
            <a:r>
              <a:rPr lang="ko-KR" altLang="en-US" sz="2200" dirty="0"/>
              <a:t>년 알파고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F1042-9F8A-563C-9149-612880012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538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4" descr="https://cdn.ttgtmedia.com/rms/onlineImages/crm-turing_tes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98" y="536731"/>
            <a:ext cx="8120062" cy="552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6FB44B-5E25-D3C2-3C68-A9678A25D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471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508" y="629151"/>
            <a:ext cx="6257925" cy="62769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800" dirty="0"/>
              <a:t>인공지능에 관한 다섯 가지 </a:t>
            </a:r>
            <a:r>
              <a:rPr lang="ko-KR" altLang="en-US" sz="2800" dirty="0" err="1"/>
              <a:t>빅</a:t>
            </a:r>
            <a:r>
              <a:rPr lang="ko-KR" altLang="en-US" sz="2800" dirty="0"/>
              <a:t> 아이디어 </a:t>
            </a:r>
            <a:r>
              <a:rPr lang="en-US" altLang="ko-KR" sz="2800" dirty="0"/>
              <a:t>(Big Idea)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62641DE-DD20-9DCB-D12B-E6485D36C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379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Big Idea #1: </a:t>
            </a:r>
            <a:r>
              <a:rPr lang="ko-KR" altLang="en-US" dirty="0"/>
              <a:t>인식</a:t>
            </a:r>
            <a:r>
              <a:rPr lang="en-US" altLang="ko-KR" dirty="0"/>
              <a:t>(Perception)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컴퓨터는 센서를 사용해서 세상을 인식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인식 </a:t>
            </a:r>
            <a:r>
              <a:rPr lang="en-US" altLang="ko-KR" sz="2400" dirty="0"/>
              <a:t>= </a:t>
            </a:r>
            <a:r>
              <a:rPr lang="ko-KR" altLang="en-US" sz="2400" dirty="0"/>
              <a:t>센서에서 감지된 신호로부터 의미를 추출하는 과정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54" y="2195673"/>
            <a:ext cx="3981721" cy="300112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5" y="2465129"/>
            <a:ext cx="4381862" cy="246221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54F99-D5C9-0DA0-3FB0-957CCFECE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625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Scene Graph Generation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35" y="1545612"/>
            <a:ext cx="8629650" cy="39433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6541994"/>
            <a:ext cx="50512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/>
              <a:t>신동협, 김인철 (2018). 맥락 정보를 이용한 시각 장면 이해. </a:t>
            </a:r>
            <a:r>
              <a:rPr lang="ko-KR" altLang="en-US" sz="900" dirty="0" err="1"/>
              <a:t>정보과학회논문지</a:t>
            </a:r>
            <a:r>
              <a:rPr lang="ko-KR" altLang="en-US" sz="900" dirty="0"/>
              <a:t>, 45(12), 1279-1286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B59336-976C-9DF9-F2A3-BE200A170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9275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Big Idea #2: </a:t>
            </a:r>
            <a:r>
              <a:rPr lang="ko-KR" altLang="en-US" sz="4000" dirty="0"/>
              <a:t>표현과 추론 </a:t>
            </a:r>
            <a:r>
              <a:rPr lang="en-US" altLang="ko-KR" sz="2000" dirty="0"/>
              <a:t>(Representation &amp; Reasoning)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에이전트는 세상에 대한 표현을 만들고 이를 추론에 사용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44930" y="6446503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69506" y="1974334"/>
            <a:ext cx="3348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모든 사람은 죽는다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소크라테스는 사람이다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따라서 소크라테스도 죽는다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97" y="3230791"/>
            <a:ext cx="5314311" cy="33089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9122" y="16050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6461" y="16050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2301" y="1974334"/>
            <a:ext cx="1872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IF A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B and B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C </a:t>
            </a:r>
          </a:p>
          <a:p>
            <a:r>
              <a:rPr lang="en-US" altLang="ko-KR" dirty="0"/>
              <a:t>TEHN A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129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Big Idea #3: </a:t>
            </a:r>
            <a:r>
              <a:rPr lang="ko-KR" altLang="en-US" dirty="0"/>
              <a:t>학습 </a:t>
            </a:r>
            <a:r>
              <a:rPr lang="en-US" altLang="ko-KR" dirty="0"/>
              <a:t>(Learning)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컴퓨터는 데이터를 통해 학습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기계학습</a:t>
            </a:r>
            <a:r>
              <a:rPr lang="en-US" altLang="ko-KR" dirty="0"/>
              <a:t>(Machine Learning): </a:t>
            </a:r>
            <a:r>
              <a:rPr lang="ko-KR" altLang="en-US" dirty="0"/>
              <a:t>데이터의 패턴을 찾는 일종의 통계적 추론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93" y="1546886"/>
            <a:ext cx="7696471" cy="393227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B0EB19-0F68-F273-1680-28BD4FB58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790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92583-F0C0-497D-0625-6EEB3836D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인공신경망의 개념</a:t>
            </a:r>
          </a:p>
        </p:txBody>
      </p:sp>
      <p:pic>
        <p:nvPicPr>
          <p:cNvPr id="8" name="Picture 2" descr="https://ml4a.github.io/images/figures/mnist_2layers.png">
            <a:extLst>
              <a:ext uri="{FF2B5EF4-FFF2-40B4-BE49-F238E27FC236}">
                <a16:creationId xmlns:a16="http://schemas.microsoft.com/office/drawing/2014/main" id="{84DC64EE-0510-DBB3-4848-918545C58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43" y="2075417"/>
            <a:ext cx="7633806" cy="416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EA3337-A7AC-93BB-C0C4-BBC8293B8750}"/>
              </a:ext>
            </a:extLst>
          </p:cNvPr>
          <p:cNvSpPr txBox="1"/>
          <p:nvPr/>
        </p:nvSpPr>
        <p:spPr>
          <a:xfrm>
            <a:off x="8026506" y="20754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D7917E-1E3C-E5CB-0F41-FA066C72B8A3}"/>
              </a:ext>
            </a:extLst>
          </p:cNvPr>
          <p:cNvSpPr txBox="1"/>
          <p:nvPr/>
        </p:nvSpPr>
        <p:spPr>
          <a:xfrm>
            <a:off x="8026506" y="24447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B7770-930D-B5A6-1473-963B46896F87}"/>
              </a:ext>
            </a:extLst>
          </p:cNvPr>
          <p:cNvSpPr txBox="1"/>
          <p:nvPr/>
        </p:nvSpPr>
        <p:spPr>
          <a:xfrm>
            <a:off x="8026506" y="29177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14D65A-6144-FF09-369D-FF0FA46FD209}"/>
              </a:ext>
            </a:extLst>
          </p:cNvPr>
          <p:cNvSpPr txBox="1"/>
          <p:nvPr/>
        </p:nvSpPr>
        <p:spPr>
          <a:xfrm>
            <a:off x="8026506" y="32870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F2C16B-CCB3-46FB-2992-734884BDC8BE}"/>
              </a:ext>
            </a:extLst>
          </p:cNvPr>
          <p:cNvSpPr txBox="1"/>
          <p:nvPr/>
        </p:nvSpPr>
        <p:spPr>
          <a:xfrm>
            <a:off x="8026506" y="37392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15A133-43B6-23FB-F405-30277C7391EA}"/>
              </a:ext>
            </a:extLst>
          </p:cNvPr>
          <p:cNvSpPr txBox="1"/>
          <p:nvPr/>
        </p:nvSpPr>
        <p:spPr>
          <a:xfrm>
            <a:off x="8026506" y="41603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061E18-E375-B893-53B2-E09739918528}"/>
              </a:ext>
            </a:extLst>
          </p:cNvPr>
          <p:cNvSpPr txBox="1"/>
          <p:nvPr/>
        </p:nvSpPr>
        <p:spPr>
          <a:xfrm>
            <a:off x="8026506" y="45815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8AE922-351F-5DEC-6B94-3452AB2D4EE2}"/>
              </a:ext>
            </a:extLst>
          </p:cNvPr>
          <p:cNvSpPr txBox="1"/>
          <p:nvPr/>
        </p:nvSpPr>
        <p:spPr>
          <a:xfrm>
            <a:off x="8026506" y="49831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E4026E-6337-750B-D4BC-A4C7EB3756E6}"/>
              </a:ext>
            </a:extLst>
          </p:cNvPr>
          <p:cNvSpPr txBox="1"/>
          <p:nvPr/>
        </p:nvSpPr>
        <p:spPr>
          <a:xfrm>
            <a:off x="8026506" y="5429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1095F-1FE7-8B7F-DBBB-D0BFAB49FA92}"/>
              </a:ext>
            </a:extLst>
          </p:cNvPr>
          <p:cNvSpPr txBox="1"/>
          <p:nvPr/>
        </p:nvSpPr>
        <p:spPr>
          <a:xfrm>
            <a:off x="8026506" y="58240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pic>
        <p:nvPicPr>
          <p:cNvPr id="1028" name="Picture 4" descr="TensorFlow MNIST Dataset in CNN - Javatpoint">
            <a:extLst>
              <a:ext uri="{FF2B5EF4-FFF2-40B4-BE49-F238E27FC236}">
                <a16:creationId xmlns:a16="http://schemas.microsoft.com/office/drawing/2014/main" id="{0C535222-EFCE-9037-3F56-D9D0EAA3F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43"/>
          <a:stretch/>
        </p:blipFill>
        <p:spPr bwMode="auto">
          <a:xfrm>
            <a:off x="5023111" y="-13205"/>
            <a:ext cx="3305081" cy="234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0D6B215-C8FB-12F3-57A1-699E612DF08D}"/>
              </a:ext>
            </a:extLst>
          </p:cNvPr>
          <p:cNvSpPr txBox="1"/>
          <p:nvPr/>
        </p:nvSpPr>
        <p:spPr>
          <a:xfrm>
            <a:off x="7223760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28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5CFDE4-DB04-EA4F-6D2A-6E11F7587775}"/>
              </a:ext>
            </a:extLst>
          </p:cNvPr>
          <p:cNvSpPr txBox="1"/>
          <p:nvPr/>
        </p:nvSpPr>
        <p:spPr>
          <a:xfrm>
            <a:off x="8246557" y="8197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28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408784-4074-8BFC-CA47-9CE30951E34F}"/>
              </a:ext>
            </a:extLst>
          </p:cNvPr>
          <p:cNvSpPr txBox="1"/>
          <p:nvPr/>
        </p:nvSpPr>
        <p:spPr>
          <a:xfrm>
            <a:off x="5558246" y="21423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D5DAAD2-4E4C-8EF6-1120-0566BFB44021}"/>
              </a:ext>
            </a:extLst>
          </p:cNvPr>
          <p:cNvCxnSpPr>
            <a:cxnSpLocks/>
          </p:cNvCxnSpPr>
          <p:nvPr/>
        </p:nvCxnSpPr>
        <p:spPr>
          <a:xfrm>
            <a:off x="3958046" y="2142310"/>
            <a:ext cx="1784931" cy="9233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B8F3D37-E662-EE90-3F1B-09584A0FF48F}"/>
              </a:ext>
            </a:extLst>
          </p:cNvPr>
          <p:cNvCxnSpPr>
            <a:cxnSpLocks/>
          </p:cNvCxnSpPr>
          <p:nvPr/>
        </p:nvCxnSpPr>
        <p:spPr>
          <a:xfrm flipV="1">
            <a:off x="3958046" y="2258076"/>
            <a:ext cx="1784931" cy="8280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9699077-E903-6900-7FF2-2CBF379601ED}"/>
              </a:ext>
            </a:extLst>
          </p:cNvPr>
          <p:cNvCxnSpPr>
            <a:cxnSpLocks/>
          </p:cNvCxnSpPr>
          <p:nvPr/>
        </p:nvCxnSpPr>
        <p:spPr>
          <a:xfrm flipV="1">
            <a:off x="3958046" y="2266030"/>
            <a:ext cx="1784931" cy="25750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FC55EA7-21A1-A160-85E6-472DDAE60246}"/>
              </a:ext>
            </a:extLst>
          </p:cNvPr>
          <p:cNvCxnSpPr>
            <a:cxnSpLocks/>
          </p:cNvCxnSpPr>
          <p:nvPr/>
        </p:nvCxnSpPr>
        <p:spPr>
          <a:xfrm flipV="1">
            <a:off x="3958046" y="2299476"/>
            <a:ext cx="1854925" cy="40784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0499BA9-5ABB-E53C-88AA-165E813BC056}"/>
              </a:ext>
            </a:extLst>
          </p:cNvPr>
          <p:cNvSpPr txBox="1"/>
          <p:nvPr/>
        </p:nvSpPr>
        <p:spPr>
          <a:xfrm>
            <a:off x="4216010" y="1904528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0.006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EDD4C3-F437-F570-FCD9-DDDB75DEE60A}"/>
              </a:ext>
            </a:extLst>
          </p:cNvPr>
          <p:cNvSpPr txBox="1"/>
          <p:nvPr/>
        </p:nvSpPr>
        <p:spPr>
          <a:xfrm>
            <a:off x="4474254" y="2087008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-0.003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2528ED-DF29-6E1F-8929-8AD7B5A27548}"/>
              </a:ext>
            </a:extLst>
          </p:cNvPr>
          <p:cNvSpPr txBox="1"/>
          <p:nvPr/>
        </p:nvSpPr>
        <p:spPr>
          <a:xfrm>
            <a:off x="4924809" y="221667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540497-4ABE-1E0A-C414-A812A77E6F0A}"/>
              </a:ext>
            </a:extLst>
          </p:cNvPr>
          <p:cNvSpPr txBox="1"/>
          <p:nvPr/>
        </p:nvSpPr>
        <p:spPr>
          <a:xfrm>
            <a:off x="3652062" y="2178001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F8F6E47-548E-91F5-DB11-B9C6DE31D848}"/>
              </a:ext>
            </a:extLst>
          </p:cNvPr>
          <p:cNvCxnSpPr>
            <a:cxnSpLocks/>
          </p:cNvCxnSpPr>
          <p:nvPr/>
        </p:nvCxnSpPr>
        <p:spPr>
          <a:xfrm flipV="1">
            <a:off x="3958046" y="2348830"/>
            <a:ext cx="1854925" cy="372643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CF5F5F6-73AF-C4A7-AC75-B8A65700DF9F}"/>
              </a:ext>
            </a:extLst>
          </p:cNvPr>
          <p:cNvSpPr txBox="1"/>
          <p:nvPr/>
        </p:nvSpPr>
        <p:spPr>
          <a:xfrm>
            <a:off x="4806232" y="3674642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-0.99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8E2B5F-42C0-A66C-B57C-89BC36FA4F3F}"/>
              </a:ext>
            </a:extLst>
          </p:cNvPr>
          <p:cNvSpPr txBox="1"/>
          <p:nvPr/>
        </p:nvSpPr>
        <p:spPr>
          <a:xfrm>
            <a:off x="5669257" y="1958536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56.3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D93398-C1B9-B4C3-F2F1-272101598225}"/>
              </a:ext>
            </a:extLst>
          </p:cNvPr>
          <p:cNvSpPr txBox="1"/>
          <p:nvPr/>
        </p:nvSpPr>
        <p:spPr>
          <a:xfrm>
            <a:off x="7529993" y="1981077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16.3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344943-D48C-DF40-9682-53CAD7D5707E}"/>
              </a:ext>
            </a:extLst>
          </p:cNvPr>
          <p:cNvSpPr txBox="1"/>
          <p:nvPr/>
        </p:nvSpPr>
        <p:spPr>
          <a:xfrm>
            <a:off x="7543682" y="2470265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14.5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3386C0-9EAC-5750-9D12-98696F978E2C}"/>
              </a:ext>
            </a:extLst>
          </p:cNvPr>
          <p:cNvSpPr txBox="1"/>
          <p:nvPr/>
        </p:nvSpPr>
        <p:spPr>
          <a:xfrm>
            <a:off x="7543682" y="2863139"/>
            <a:ext cx="449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-3.2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422E4E-6FFC-27FE-2252-79C695B8EB52}"/>
              </a:ext>
            </a:extLst>
          </p:cNvPr>
          <p:cNvSpPr txBox="1"/>
          <p:nvPr/>
        </p:nvSpPr>
        <p:spPr>
          <a:xfrm>
            <a:off x="7543682" y="5427886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60.88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099B6D-6339-F7DF-97A6-AF847C89812D}"/>
              </a:ext>
            </a:extLst>
          </p:cNvPr>
          <p:cNvSpPr txBox="1"/>
          <p:nvPr/>
        </p:nvSpPr>
        <p:spPr>
          <a:xfrm>
            <a:off x="3666911" y="1965598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4D4288-4B6E-0AC2-BCC7-313FD52FCAC1}"/>
              </a:ext>
            </a:extLst>
          </p:cNvPr>
          <p:cNvSpPr txBox="1"/>
          <p:nvPr/>
        </p:nvSpPr>
        <p:spPr>
          <a:xfrm>
            <a:off x="3652062" y="2374577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C9AED6-9784-DEAF-CBAB-298D4C18A026}"/>
              </a:ext>
            </a:extLst>
          </p:cNvPr>
          <p:cNvSpPr txBox="1"/>
          <p:nvPr/>
        </p:nvSpPr>
        <p:spPr>
          <a:xfrm>
            <a:off x="3631914" y="384447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A72DBCB-57D6-DE4F-C09B-7F05DC84B3C9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4029780" y="2323248"/>
            <a:ext cx="1783191" cy="16597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51907C7-D4D0-15D9-484B-AEE286DA79D6}"/>
              </a:ext>
            </a:extLst>
          </p:cNvPr>
          <p:cNvSpPr txBox="1"/>
          <p:nvPr/>
        </p:nvSpPr>
        <p:spPr>
          <a:xfrm>
            <a:off x="4575968" y="3014816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0.05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49AAB2-56AE-7D1E-83CA-003A066C1B69}"/>
              </a:ext>
            </a:extLst>
          </p:cNvPr>
          <p:cNvSpPr txBox="1"/>
          <p:nvPr/>
        </p:nvSpPr>
        <p:spPr>
          <a:xfrm>
            <a:off x="4474254" y="608201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784 X 10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4656B5-940C-8616-94C1-521EDC7F22A6}"/>
              </a:ext>
            </a:extLst>
          </p:cNvPr>
          <p:cNvSpPr txBox="1"/>
          <p:nvPr/>
        </p:nvSpPr>
        <p:spPr>
          <a:xfrm>
            <a:off x="6437327" y="608201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 X 10</a:t>
            </a:r>
            <a:endParaRPr lang="ko-KR" altLang="en-US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BE76EED4-3E36-3F7C-38CC-56A60ABAC596}"/>
              </a:ext>
            </a:extLst>
          </p:cNvPr>
          <p:cNvSpPr txBox="1"/>
          <p:nvPr/>
        </p:nvSpPr>
        <p:spPr>
          <a:xfrm>
            <a:off x="4522138" y="6406244"/>
            <a:ext cx="29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Trainable parameters = 7,940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0356C-BA86-9EC6-CBA6-B364ED109B92}"/>
              </a:ext>
            </a:extLst>
          </p:cNvPr>
          <p:cNvSpPr txBox="1"/>
          <p:nvPr/>
        </p:nvSpPr>
        <p:spPr>
          <a:xfrm>
            <a:off x="1593668" y="2752218"/>
            <a:ext cx="150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Vectorization</a:t>
            </a:r>
            <a:endParaRPr lang="ko-KR" altLang="en-US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9BF68-5177-621D-56C3-BB8DDF5625B1}"/>
              </a:ext>
            </a:extLst>
          </p:cNvPr>
          <p:cNvSpPr txBox="1"/>
          <p:nvPr/>
        </p:nvSpPr>
        <p:spPr>
          <a:xfrm>
            <a:off x="3427262" y="61357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입력층</a:t>
            </a:r>
            <a:endParaRPr lang="ko-KR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6571F-C04D-0315-507A-3FC4872FDF7B}"/>
              </a:ext>
            </a:extLst>
          </p:cNvPr>
          <p:cNvSpPr txBox="1"/>
          <p:nvPr/>
        </p:nvSpPr>
        <p:spPr>
          <a:xfrm>
            <a:off x="7400427" y="61059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출력층</a:t>
            </a:r>
            <a:endParaRPr lang="ko-KR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7CD72-421E-B1C4-3647-BD502320B21E}"/>
              </a:ext>
            </a:extLst>
          </p:cNvPr>
          <p:cNvSpPr txBox="1"/>
          <p:nvPr/>
        </p:nvSpPr>
        <p:spPr>
          <a:xfrm>
            <a:off x="5472087" y="504445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은닉층</a:t>
            </a:r>
            <a:endParaRPr lang="ko-KR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190ADF1-9460-008D-A876-61F0D7A8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4930" y="644650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844BEB-34CB-469D-8313-83BA6B52212E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4326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Big Idea #4: </a:t>
            </a:r>
            <a:r>
              <a:rPr lang="ko-KR" altLang="en-US" sz="3600" dirty="0"/>
              <a:t>자연스러운 상호작용</a:t>
            </a:r>
            <a:r>
              <a:rPr lang="en-US" altLang="ko-KR" sz="2000" dirty="0"/>
              <a:t>(Natural Interaction)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ko-KR" altLang="en-US" dirty="0"/>
              <a:t>지능형 에이전트가 인간과 자연스럽게 상호작용하기 위해서는 많은 종류의 지식이 필요</a:t>
            </a: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r>
              <a:rPr lang="ko-KR" altLang="en-US" dirty="0"/>
              <a:t>지능형 에이전트에게 가장 어려운 대상은 인간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29" y="1872553"/>
            <a:ext cx="3791221" cy="21062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934" y="1972211"/>
            <a:ext cx="4429396" cy="234120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386" y="3168664"/>
            <a:ext cx="3063034" cy="2289512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02572-B311-34B0-83FF-FB7E0E7D8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389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600" dirty="0"/>
              <a:t>Big Idea #4: </a:t>
            </a:r>
            <a:r>
              <a:rPr lang="ko-KR" altLang="en-US" sz="3600" dirty="0"/>
              <a:t>자연스러운 상호작용의 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ko-KR" altLang="en-US" dirty="0"/>
              <a:t>인공지능 스피커</a:t>
            </a:r>
            <a:r>
              <a:rPr lang="en-US" altLang="ko-KR" dirty="0"/>
              <a:t>(</a:t>
            </a:r>
            <a:r>
              <a:rPr lang="ko-KR" altLang="en-US" dirty="0"/>
              <a:t>누구</a:t>
            </a:r>
            <a:r>
              <a:rPr lang="en-US" altLang="ko-KR" dirty="0"/>
              <a:t>, </a:t>
            </a:r>
            <a:r>
              <a:rPr lang="ko-KR" altLang="en-US" dirty="0" err="1"/>
              <a:t>알렉사</a:t>
            </a:r>
            <a:r>
              <a:rPr lang="en-US" altLang="ko-KR" dirty="0"/>
              <a:t>, </a:t>
            </a:r>
            <a:r>
              <a:rPr lang="ko-KR" altLang="en-US" dirty="0"/>
              <a:t>시리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algn="just">
              <a:lnSpc>
                <a:spcPct val="110000"/>
              </a:lnSpc>
            </a:pPr>
            <a:r>
              <a:rPr lang="ko-KR" altLang="en-US" dirty="0" err="1"/>
              <a:t>쳇봇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대화형 에이전트</a:t>
            </a:r>
            <a:r>
              <a:rPr lang="en-US" altLang="ko-KR" dirty="0"/>
              <a:t>)</a:t>
            </a:r>
          </a:p>
          <a:p>
            <a:pPr algn="just">
              <a:lnSpc>
                <a:spcPct val="110000"/>
              </a:lnSpc>
            </a:pPr>
            <a:r>
              <a:rPr lang="ko-KR" altLang="en-US" dirty="0" err="1"/>
              <a:t>적응형</a:t>
            </a:r>
            <a:r>
              <a:rPr lang="ko-KR" altLang="en-US" dirty="0"/>
              <a:t> 교육을 제공하는 지능형 </a:t>
            </a:r>
            <a:r>
              <a:rPr lang="ko-KR" altLang="en-US" dirty="0" err="1"/>
              <a:t>튜토링</a:t>
            </a:r>
            <a:r>
              <a:rPr lang="ko-KR" altLang="en-US" dirty="0"/>
              <a:t> 시스템</a:t>
            </a:r>
            <a:endParaRPr lang="en-US" altLang="ko-KR" dirty="0"/>
          </a:p>
          <a:p>
            <a:pPr algn="just">
              <a:lnSpc>
                <a:spcPct val="110000"/>
              </a:lnSpc>
            </a:pPr>
            <a:r>
              <a:rPr lang="ko-KR" altLang="en-US" dirty="0"/>
              <a:t>몸짓과 얼굴 인식</a:t>
            </a: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r>
              <a:rPr lang="ko-KR" altLang="en-US" dirty="0"/>
              <a:t>컴퓨터가 인간만큼 상식 추론</a:t>
            </a:r>
            <a:r>
              <a:rPr lang="en-US" altLang="ko-KR" dirty="0"/>
              <a:t>(common sense reasoning)</a:t>
            </a:r>
            <a:r>
              <a:rPr lang="ko-KR" altLang="en-US" dirty="0"/>
              <a:t>이 가능한가</a:t>
            </a:r>
            <a:r>
              <a:rPr lang="en-US" altLang="ko-KR" dirty="0"/>
              <a:t>?</a:t>
            </a:r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물건을 놓으면 그것은 땅으로 떨어진다</a:t>
            </a:r>
            <a:endParaRPr lang="en-US" altLang="ko-KR" dirty="0"/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사람은 자기 자신이 태어나기 전에는 존재하지 않는다</a:t>
            </a:r>
            <a:r>
              <a:rPr lang="en-US" altLang="ko-KR" dirty="0"/>
              <a:t>.</a:t>
            </a:r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물에서 살고 있는 고기가 물 밖으로 나오면 죽을 것이다</a:t>
            </a:r>
            <a:r>
              <a:rPr lang="en-US" altLang="ko-KR" dirty="0"/>
              <a:t>.</a:t>
            </a:r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빵과 우유는 상점에서 판다</a:t>
            </a:r>
            <a:r>
              <a:rPr lang="en-US" altLang="ko-KR" dirty="0"/>
              <a:t>.</a:t>
            </a:r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사람들은 보통 밤에 잠을 잔다</a:t>
            </a:r>
            <a:r>
              <a:rPr lang="en-US" altLang="ko-KR" dirty="0"/>
              <a:t>.</a:t>
            </a:r>
          </a:p>
          <a:p>
            <a:pPr lvl="1"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r>
              <a:rPr lang="ko-KR" altLang="en-US" dirty="0"/>
              <a:t>컴퓨터는 스스로를 인식</a:t>
            </a:r>
            <a:r>
              <a:rPr lang="en-US" altLang="ko-KR" dirty="0"/>
              <a:t>(self-aware)</a:t>
            </a:r>
            <a:r>
              <a:rPr lang="ko-KR" altLang="en-US" dirty="0"/>
              <a:t>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D1AE31-8822-896B-FBC5-D1FF09568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006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Big Idea #5: </a:t>
            </a:r>
            <a:r>
              <a:rPr lang="ko-KR" altLang="en-US" dirty="0"/>
              <a:t>사회적 영향</a:t>
            </a:r>
            <a:r>
              <a:rPr lang="en-US" altLang="ko-KR" sz="4000" dirty="0"/>
              <a:t>(Social Impact)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인공지능은 긍정적이고 부정적인 방식으로 사회에 영향을 미칠 수 있음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29" y="2295524"/>
            <a:ext cx="3904365" cy="36480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229" y="1737960"/>
            <a:ext cx="4285045" cy="238160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038" y="2865161"/>
            <a:ext cx="1411425" cy="12544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9880" y="4630663"/>
            <a:ext cx="4341225" cy="1795896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2CA72A8-86CB-078C-F807-763F27339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803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Big Idea #5: </a:t>
            </a:r>
            <a:r>
              <a:rPr lang="ko-KR" altLang="en-US" dirty="0"/>
              <a:t>사회적 영향의 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ko-KR" sz="1800" dirty="0"/>
              <a:t>1. </a:t>
            </a:r>
            <a:r>
              <a:rPr lang="ko-KR" altLang="en-US" sz="1800" dirty="0"/>
              <a:t>공정성 </a:t>
            </a:r>
            <a:r>
              <a:rPr lang="en-US" altLang="ko-KR" sz="1800" dirty="0"/>
              <a:t>(Fairness)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ko-KR" altLang="en-US" sz="1600" dirty="0"/>
              <a:t>성별</a:t>
            </a:r>
            <a:r>
              <a:rPr lang="en-US" altLang="ko-KR" sz="1600" dirty="0"/>
              <a:t>, </a:t>
            </a:r>
            <a:r>
              <a:rPr lang="ko-KR" altLang="en-US" sz="1600" dirty="0"/>
              <a:t>인종</a:t>
            </a:r>
            <a:r>
              <a:rPr lang="en-US" altLang="ko-KR" sz="1600" dirty="0"/>
              <a:t>, </a:t>
            </a:r>
            <a:r>
              <a:rPr lang="ko-KR" altLang="en-US" sz="1600" dirty="0"/>
              <a:t>연령</a:t>
            </a:r>
            <a:r>
              <a:rPr lang="en-US" altLang="ko-KR" sz="1600" dirty="0"/>
              <a:t>, </a:t>
            </a:r>
            <a:r>
              <a:rPr lang="ko-KR" altLang="en-US" sz="1600" dirty="0"/>
              <a:t>지역</a:t>
            </a:r>
            <a:r>
              <a:rPr lang="en-US" altLang="ko-KR" sz="1600" dirty="0"/>
              <a:t>, </a:t>
            </a:r>
            <a:r>
              <a:rPr lang="ko-KR" altLang="en-US" sz="1600" dirty="0"/>
              <a:t>종교 등 특정 인구통계학적 특성에 따라 특정 집단을 부당하게 차별하거나 불리한 결정을 내리지 않도록 보장</a:t>
            </a:r>
            <a:endParaRPr lang="en-US" altLang="ko-KR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ko-KR" sz="1800" dirty="0"/>
              <a:t>2. </a:t>
            </a:r>
            <a:r>
              <a:rPr lang="ko-KR" altLang="en-US" sz="1800" dirty="0"/>
              <a:t>투명성 </a:t>
            </a:r>
            <a:r>
              <a:rPr lang="en-US" altLang="ko-KR" sz="1800" dirty="0"/>
              <a:t>(Transparency)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en-US" altLang="ko-KR" sz="1600" dirty="0"/>
              <a:t>AI </a:t>
            </a:r>
            <a:r>
              <a:rPr lang="ko-KR" altLang="en-US" sz="1600" dirty="0"/>
              <a:t>시스템의 개발 목적</a:t>
            </a:r>
            <a:r>
              <a:rPr lang="en-US" altLang="ko-KR" sz="1600" dirty="0"/>
              <a:t>, </a:t>
            </a:r>
            <a:r>
              <a:rPr lang="ko-KR" altLang="en-US" sz="1600" dirty="0"/>
              <a:t>사용된 데이터의 출처와 구성</a:t>
            </a:r>
            <a:r>
              <a:rPr lang="en-US" altLang="ko-KR" sz="1600" dirty="0"/>
              <a:t>, </a:t>
            </a:r>
            <a:r>
              <a:rPr lang="ko-KR" altLang="en-US" sz="1600" dirty="0"/>
              <a:t>모델의 기능적 한계 및 동작 규칙을 이해관계자에게 명확하게 공개</a:t>
            </a:r>
            <a:endParaRPr lang="en-US" altLang="ko-KR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ko-KR" sz="1800" dirty="0"/>
              <a:t>3. </a:t>
            </a:r>
            <a:r>
              <a:rPr lang="ko-KR" altLang="en-US" sz="1800" dirty="0"/>
              <a:t>설명가능성 </a:t>
            </a:r>
            <a:r>
              <a:rPr lang="en-US" altLang="ko-KR" sz="1800" dirty="0"/>
              <a:t>(Explainability)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ko-KR" altLang="en-US" sz="1600" dirty="0"/>
              <a:t>복잡한 딥러닝 등의 블랙박스 모델이 왜 특정 결과나 결정을 도출했는지 사용자와 도메인 전문가가 납득할 수 있는 형태로 근거를 제시</a:t>
            </a:r>
            <a:endParaRPr lang="en-US" altLang="ko-KR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ko-KR" sz="1800" dirty="0"/>
              <a:t>4. </a:t>
            </a:r>
            <a:r>
              <a:rPr lang="ko-KR" altLang="en-US" sz="1800" dirty="0"/>
              <a:t>책임성 </a:t>
            </a:r>
            <a:r>
              <a:rPr lang="en-US" altLang="ko-KR" sz="1800" dirty="0"/>
              <a:t>(Accountability)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en-US" altLang="ko-KR" sz="1600" dirty="0"/>
              <a:t>AI</a:t>
            </a:r>
            <a:r>
              <a:rPr lang="ko-KR" altLang="en-US" sz="1600" dirty="0"/>
              <a:t>의 오작동</a:t>
            </a:r>
            <a:r>
              <a:rPr lang="en-US" altLang="ko-KR" sz="1600" dirty="0"/>
              <a:t>, </a:t>
            </a:r>
            <a:r>
              <a:rPr lang="ko-KR" altLang="en-US" sz="1600" dirty="0"/>
              <a:t>오류</a:t>
            </a:r>
            <a:r>
              <a:rPr lang="en-US" altLang="ko-KR" sz="1600" dirty="0"/>
              <a:t>, </a:t>
            </a:r>
            <a:r>
              <a:rPr lang="ko-KR" altLang="en-US" sz="1600" dirty="0"/>
              <a:t>예상치 못한 부작용으로 피해가 발생했을 때 이에 대한 법적</a:t>
            </a:r>
            <a:r>
              <a:rPr lang="en-US" altLang="ko-KR" sz="1600" dirty="0"/>
              <a:t>·</a:t>
            </a:r>
            <a:r>
              <a:rPr lang="ko-KR" altLang="en-US" sz="1600" dirty="0"/>
              <a:t>윤리적 책임을 질 수 있는 인간 주체</a:t>
            </a:r>
            <a:r>
              <a:rPr lang="en-US" altLang="ko-KR" sz="1600" dirty="0"/>
              <a:t>(</a:t>
            </a:r>
            <a:r>
              <a:rPr lang="ko-KR" altLang="en-US" sz="1600" dirty="0"/>
              <a:t>개발사</a:t>
            </a:r>
            <a:r>
              <a:rPr lang="en-US" altLang="ko-KR" sz="1600" dirty="0"/>
              <a:t>, </a:t>
            </a:r>
            <a:r>
              <a:rPr lang="ko-KR" altLang="en-US" sz="1600" dirty="0"/>
              <a:t>운영자</a:t>
            </a:r>
            <a:r>
              <a:rPr lang="en-US" altLang="ko-KR" sz="1600" dirty="0"/>
              <a:t>, </a:t>
            </a:r>
            <a:r>
              <a:rPr lang="ko-KR" altLang="en-US" sz="1600" dirty="0"/>
              <a:t>도입 기관</a:t>
            </a:r>
            <a:r>
              <a:rPr lang="en-US" altLang="ko-KR" sz="1600" dirty="0"/>
              <a:t>)</a:t>
            </a:r>
            <a:r>
              <a:rPr lang="ko-KR" altLang="en-US" sz="1600" dirty="0"/>
              <a:t>를 명확히 규정</a:t>
            </a:r>
            <a:endParaRPr lang="en-US" altLang="ko-KR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ko-KR" sz="1800" dirty="0"/>
              <a:t>5. </a:t>
            </a:r>
            <a:r>
              <a:rPr lang="ko-KR" altLang="en-US" sz="1800" dirty="0"/>
              <a:t>프라이버시 </a:t>
            </a:r>
            <a:r>
              <a:rPr lang="en-US" altLang="ko-KR" sz="1800" dirty="0"/>
              <a:t>(Privacy)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en-US" altLang="ko-KR" sz="1600" dirty="0"/>
              <a:t>AI </a:t>
            </a:r>
            <a:r>
              <a:rPr lang="ko-KR" altLang="en-US" sz="1600" dirty="0"/>
              <a:t>모델의 전 주기</a:t>
            </a:r>
            <a:r>
              <a:rPr lang="en-US" altLang="ko-KR" sz="1600" dirty="0"/>
              <a:t>(</a:t>
            </a:r>
            <a:r>
              <a:rPr lang="ko-KR" altLang="en-US" sz="1600" dirty="0"/>
              <a:t>수집</a:t>
            </a:r>
            <a:r>
              <a:rPr lang="en-US" altLang="ko-KR" sz="1600" dirty="0"/>
              <a:t>, </a:t>
            </a:r>
            <a:r>
              <a:rPr lang="ko-KR" altLang="en-US" sz="1600" dirty="0"/>
              <a:t>정제</a:t>
            </a:r>
            <a:r>
              <a:rPr lang="en-US" altLang="ko-KR" sz="1600" dirty="0"/>
              <a:t>, </a:t>
            </a:r>
            <a:r>
              <a:rPr lang="ko-KR" altLang="en-US" sz="1600" dirty="0"/>
              <a:t>학습</a:t>
            </a:r>
            <a:r>
              <a:rPr lang="en-US" altLang="ko-KR" sz="1600" dirty="0"/>
              <a:t>, </a:t>
            </a:r>
            <a:r>
              <a:rPr lang="ko-KR" altLang="en-US" sz="1600" dirty="0"/>
              <a:t>배포</a:t>
            </a:r>
            <a:r>
              <a:rPr lang="en-US" altLang="ko-KR" sz="1600" dirty="0"/>
              <a:t>, </a:t>
            </a:r>
            <a:r>
              <a:rPr lang="ko-KR" altLang="en-US" sz="1600" dirty="0"/>
              <a:t>추론</a:t>
            </a:r>
            <a:r>
              <a:rPr lang="en-US" altLang="ko-KR" sz="1600" dirty="0"/>
              <a:t>)</a:t>
            </a:r>
            <a:r>
              <a:rPr lang="ko-KR" altLang="en-US" sz="1600" dirty="0"/>
              <a:t>에 걸쳐 개인정보와 민감 데이터를 안전하게 보호하고 무단 오남용을 방지</a:t>
            </a:r>
            <a:endParaRPr lang="en-US" altLang="ko-KR" sz="1600" dirty="0"/>
          </a:p>
          <a:p>
            <a:pPr marL="0" indent="0" algn="just">
              <a:lnSpc>
                <a:spcPct val="110000"/>
              </a:lnSpc>
              <a:buNone/>
            </a:pPr>
            <a:endParaRPr lang="en-US" altLang="ko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0FC548-3561-1CCB-D9CE-31FE2DD51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7611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인공지능 관련 자료</a:t>
            </a: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832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Google’s Quick, Draw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u="sng" dirty="0"/>
              <a:t>https://quickdraw.withgoogle.com/ 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18" y="1628775"/>
            <a:ext cx="5158672" cy="460334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208" y="479581"/>
            <a:ext cx="3231122" cy="5489173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D6E19B-4A08-52CD-7A67-FD81B0303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864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Google’s Quick, Draw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936" y="1190366"/>
            <a:ext cx="5937739" cy="514604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D6BA67-2FAC-0E78-7C74-68040C19F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291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Teachable Machine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https://experiments.withgoogle.com/teachable-machine </a:t>
            </a:r>
          </a:p>
          <a:p>
            <a:pPr algn="just"/>
            <a:r>
              <a:rPr lang="en-US" altLang="ko-KR" sz="2400" dirty="0"/>
              <a:t>A fast, easy way to create machine learning models – no coding required.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832" y="1841703"/>
            <a:ext cx="5828451" cy="473725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965A08-8C12-141D-FEA4-88F190D43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9298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TensorFlow</a:t>
            </a:r>
            <a:r>
              <a:rPr lang="en-US" altLang="ko-KR" dirty="0"/>
              <a:t> Playground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https://playground.tensorflow.org/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604" y="2342022"/>
            <a:ext cx="6191250" cy="390115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80A397-8852-FD20-0575-62BE35EDD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571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참고자료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ko-KR" sz="2000" dirty="0"/>
              <a:t>David S. </a:t>
            </a:r>
            <a:r>
              <a:rPr lang="en-US" altLang="ko-KR" sz="2000" dirty="0" err="1"/>
              <a:t>Touretzky</a:t>
            </a:r>
            <a:r>
              <a:rPr lang="en-US" altLang="ko-KR" sz="2000" dirty="0"/>
              <a:t>, Christina Gardner-McCune, Fred Martin, and Deborah Seehorn, "K-12 Guidelines for Artificial Intelligence: What Students Should Know", AI4K12, 2019</a:t>
            </a:r>
          </a:p>
          <a:p>
            <a:pPr algn="just">
              <a:lnSpc>
                <a:spcPct val="100000"/>
              </a:lnSpc>
            </a:pPr>
            <a:r>
              <a:rPr lang="ko-KR" altLang="en-US" sz="2000" dirty="0"/>
              <a:t>한국과학장의재단</a:t>
            </a:r>
            <a:r>
              <a:rPr lang="en-US" altLang="ko-KR" sz="2000" dirty="0"/>
              <a:t>, “SW</a:t>
            </a:r>
            <a:r>
              <a:rPr lang="ko-KR" altLang="en-US" sz="2000" dirty="0"/>
              <a:t>교육 </a:t>
            </a:r>
            <a:r>
              <a:rPr lang="ko-KR" altLang="en-US" sz="2000" dirty="0" err="1"/>
              <a:t>모듈형</a:t>
            </a:r>
            <a:r>
              <a:rPr lang="ko-KR" altLang="en-US" sz="2000" dirty="0"/>
              <a:t> 교재</a:t>
            </a:r>
            <a:r>
              <a:rPr lang="en-US" altLang="ko-KR" sz="2000" dirty="0"/>
              <a:t> 1, </a:t>
            </a:r>
            <a:r>
              <a:rPr lang="ko-KR" altLang="en-US" sz="2000" dirty="0"/>
              <a:t>인공지능</a:t>
            </a:r>
            <a:r>
              <a:rPr lang="en-US" altLang="ko-KR" sz="2000" dirty="0"/>
              <a:t>”</a:t>
            </a:r>
            <a:endParaRPr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0992B2-01A9-0FFB-6320-45D6E88C3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4143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16452</TotalTime>
  <Words>746</Words>
  <Application>Microsoft Office PowerPoint</Application>
  <PresentationFormat>화면 슬라이드 쇼(4:3)</PresentationFormat>
  <Paragraphs>162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Arial</vt:lpstr>
      <vt:lpstr>Calibri</vt:lpstr>
      <vt:lpstr>Calibri Light</vt:lpstr>
      <vt:lpstr>Wingdings</vt:lpstr>
      <vt:lpstr>Office 테마</vt:lpstr>
      <vt:lpstr>인공지능 소개</vt:lpstr>
      <vt:lpstr>인공지능</vt:lpstr>
      <vt:lpstr>PowerPoint 프레젠테이션</vt:lpstr>
      <vt:lpstr>인공지능 주요 역사</vt:lpstr>
      <vt:lpstr>PowerPoint 프레젠테이션</vt:lpstr>
      <vt:lpstr>인공지능에 관한 다섯 가지 빅 아이디어 (Big Idea)</vt:lpstr>
      <vt:lpstr>Big Idea #1: 인식(Perception)</vt:lpstr>
      <vt:lpstr>Scene Graph Generation</vt:lpstr>
      <vt:lpstr>Big Idea #2: 표현과 추론 (Representation &amp; Reasoning)</vt:lpstr>
      <vt:lpstr>Big Idea #3: 학습 (Learning)</vt:lpstr>
      <vt:lpstr>인공신경망의 개념</vt:lpstr>
      <vt:lpstr>Big Idea #4: 자연스러운 상호작용(Natural Interaction)</vt:lpstr>
      <vt:lpstr>Big Idea #4: 자연스러운 상호작용의 예</vt:lpstr>
      <vt:lpstr>Big Idea #5: 사회적 영향(Social Impact)</vt:lpstr>
      <vt:lpstr>Big Idea #5: 사회적 영향의 예</vt:lpstr>
      <vt:lpstr>인공지능 관련 자료</vt:lpstr>
      <vt:lpstr>Google’s Quick, Draw</vt:lpstr>
      <vt:lpstr>Google’s Quick, Draw</vt:lpstr>
      <vt:lpstr>Teachable Machine</vt:lpstr>
      <vt:lpstr>TensorFlow Playground</vt:lpstr>
      <vt:lpstr>참고자료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551</cp:revision>
  <cp:lastPrinted>2016-10-13T23:42:19Z</cp:lastPrinted>
  <dcterms:created xsi:type="dcterms:W3CDTF">2016-09-30T16:23:03Z</dcterms:created>
  <dcterms:modified xsi:type="dcterms:W3CDTF">2026-08-26T07:48:13Z</dcterms:modified>
</cp:coreProperties>
</file>