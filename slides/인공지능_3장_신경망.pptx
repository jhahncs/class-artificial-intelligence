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6"/>
  </p:notesMasterIdLst>
  <p:sldIdLst>
    <p:sldId id="307" r:id="rId2"/>
    <p:sldId id="329" r:id="rId3"/>
    <p:sldId id="330" r:id="rId4"/>
    <p:sldId id="331" r:id="rId5"/>
    <p:sldId id="333" r:id="rId6"/>
    <p:sldId id="334" r:id="rId7"/>
    <p:sldId id="332" r:id="rId8"/>
    <p:sldId id="335" r:id="rId9"/>
    <p:sldId id="336" r:id="rId10"/>
    <p:sldId id="338" r:id="rId11"/>
    <p:sldId id="339" r:id="rId12"/>
    <p:sldId id="340" r:id="rId13"/>
    <p:sldId id="337" r:id="rId14"/>
    <p:sldId id="341" r:id="rId15"/>
    <p:sldId id="342" r:id="rId16"/>
    <p:sldId id="343" r:id="rId17"/>
    <p:sldId id="344" r:id="rId18"/>
    <p:sldId id="345" r:id="rId19"/>
    <p:sldId id="346" r:id="rId20"/>
    <p:sldId id="308" r:id="rId21"/>
    <p:sldId id="309" r:id="rId22"/>
    <p:sldId id="310" r:id="rId23"/>
    <p:sldId id="311" r:id="rId24"/>
    <p:sldId id="313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47" r:id="rId33"/>
    <p:sldId id="322" r:id="rId34"/>
    <p:sldId id="348" r:id="rId35"/>
    <p:sldId id="306" r:id="rId36"/>
    <p:sldId id="328" r:id="rId37"/>
    <p:sldId id="349" r:id="rId38"/>
    <p:sldId id="323" r:id="rId39"/>
    <p:sldId id="350" r:id="rId40"/>
    <p:sldId id="351" r:id="rId41"/>
    <p:sldId id="324" r:id="rId42"/>
    <p:sldId id="325" r:id="rId43"/>
    <p:sldId id="326" r:id="rId44"/>
    <p:sldId id="327" r:id="rId45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76" autoAdjust="0"/>
    <p:restoredTop sz="92729" autoAdjust="0"/>
  </p:normalViewPr>
  <p:slideViewPr>
    <p:cSldViewPr snapToGrid="0">
      <p:cViewPr varScale="1">
        <p:scale>
          <a:sx n="149" d="100"/>
          <a:sy n="149" d="100"/>
        </p:scale>
        <p:origin x="2388" y="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04E4A-07F7-4F02-B3E2-C3B5C1401BF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A09A4-BA45-48FF-8C1A-293E53166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6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‘</a:t>
            </a:r>
            <a:r>
              <a:rPr lang="ko-KR" altLang="en-US" dirty="0"/>
              <a:t>매끄러움</a:t>
            </a:r>
            <a:r>
              <a:rPr lang="en-US" altLang="ko-KR" dirty="0"/>
              <a:t>’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차이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A09A4-BA45-48FF-8C1A-293E531665F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45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'여러 개의 원인이 동시에 작용할 때, 각각의 원인이 만들어낸 개별 결과들이 서로를 방해하거나 왜곡하지 않고 그대로 </a:t>
            </a:r>
            <a:r>
              <a:rPr lang="ko-KR" altLang="ko-KR" dirty="0" err="1"/>
              <a:t>포개져</a:t>
            </a:r>
            <a:r>
              <a:rPr lang="ko-KR" altLang="ko-KR" dirty="0"/>
              <a:t>(겹쳐져) 최종 결과를 </a:t>
            </a:r>
            <a:r>
              <a:rPr lang="ko-KR" altLang="ko-KR" dirty="0" err="1"/>
              <a:t>만든다'는</a:t>
            </a:r>
            <a:r>
              <a:rPr lang="ko-KR" altLang="ko-KR" dirty="0"/>
              <a:t> 물리적 현상에서 유래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A09A4-BA45-48FF-8C1A-293E531665F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368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DDA34-7199-4152-B139-CF9C99ABF21A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60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130" y="107548"/>
            <a:ext cx="8850201" cy="858367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129" y="1056068"/>
            <a:ext cx="8850201" cy="5280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46504"/>
            <a:ext cx="2057400" cy="365125"/>
          </a:xfrm>
        </p:spPr>
        <p:txBody>
          <a:bodyPr/>
          <a:lstStyle/>
          <a:p>
            <a:fld id="{2495EB55-4F29-4197-95E1-A5B715D579C4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46504"/>
            <a:ext cx="30861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34714" y="6426559"/>
            <a:ext cx="367616" cy="365125"/>
          </a:xfrm>
          <a:prstGeom prst="rect">
            <a:avLst/>
          </a:prstGeom>
        </p:spPr>
        <p:txBody>
          <a:bodyPr/>
          <a:lstStyle>
            <a:lvl1pPr>
              <a:defRPr sz="800" b="0"/>
            </a:lvl1pPr>
          </a:lstStyle>
          <a:p>
            <a:fld id="{B4844BEB-34CB-469D-8313-83BA6B52212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1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917C5-633B-4C85-8C0F-0E8A1B3578B2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55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2B97-E62C-40A0-B78F-BD701735623C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8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A5F0-2015-4076-90EE-D70D0B683C4F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8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49EF0-A209-4797-B9D5-D9993706EC87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27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7AE1A-575D-498C-BD48-A00EB7F07D65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59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9C8B1-550D-413E-9D8B-DB541A113454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3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09ED-21BB-4C37-865B-F256148AE2FA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81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4A5E-0FE9-46B1-A756-698C471C8CE4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98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BF92-FE1E-416A-89CC-B18A2556F974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371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BB1C4F-3B12-4648-A3D5-122AD80BDAD3}" type="datetime1">
              <a:rPr lang="ko-KR" altLang="en-US" smtClean="0"/>
              <a:t>2026-09-08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29522C62-A2CC-4D4B-B236-5A4E2840B6D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9551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F2219D-F487-4189-9F85-A13E4525EE11}" type="datetime1">
              <a:rPr lang="ko-KR" altLang="en-US" smtClean="0"/>
              <a:t>2026-09-08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005F6450-F049-4D29-A92C-0D9D1E715E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0931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3BC7AB-AE76-4283-A57E-77851087E2C1}" type="datetime1">
              <a:rPr lang="ko-KR" altLang="en-US" smtClean="0"/>
              <a:t>2026-09-08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DBF13599-2EB2-4F77-8517-1EB74F3E4DB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4360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646FA3-3ED5-4576-B30E-6778D7DEE8AD}" type="datetime1">
              <a:rPr lang="ko-KR" altLang="en-US" smtClean="0"/>
              <a:t>2026-09-08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41178C87-A3B4-4516-BF8E-6B60B525655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0730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섹션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144016"/>
            <a:ext cx="7560840" cy="548680"/>
          </a:xfrm>
        </p:spPr>
        <p:txBody>
          <a:bodyPr/>
          <a:lstStyle>
            <a:lvl1pPr algn="l">
              <a:defRPr sz="2400" b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764704"/>
            <a:ext cx="2339752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764704"/>
            <a:ext cx="2339752" cy="0"/>
          </a:xfrm>
          <a:prstGeom prst="line">
            <a:avLst/>
          </a:prstGeom>
          <a:ln w="76200"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764704"/>
            <a:ext cx="2339752" cy="0"/>
          </a:xfrm>
          <a:prstGeom prst="line">
            <a:avLst/>
          </a:prstGeom>
          <a:ln w="76200">
            <a:solidFill>
              <a:schemeClr val="accent5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764704"/>
            <a:ext cx="2339752" cy="0"/>
          </a:xfrm>
          <a:prstGeom prst="line">
            <a:avLst/>
          </a:prstGeom>
          <a:ln w="762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179512" y="908720"/>
            <a:ext cx="8784976" cy="5688632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Wingdings" pitchFamily="2" charset="2"/>
              <a:buChar char="n"/>
              <a:defRPr sz="2000" b="0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600"/>
            </a:lvl3pPr>
            <a:lvl4pPr marL="809625" indent="-180975">
              <a:spcAft>
                <a:spcPts val="300"/>
              </a:spcAft>
              <a:buSzPct val="96000"/>
              <a:defRPr sz="1400"/>
            </a:lvl4pPr>
            <a:lvl5pPr marL="990600" indent="-180975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523994" y="6597352"/>
            <a:ext cx="442392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08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7AE23-F23F-45CE-9FDB-BBBFA9B01E64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38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hyperlink" Target="http://yann.lecun.com/exdb/mnist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신경망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EBBFC3-BF9F-42E3-B9B2-F4FD2820DDFC}"/>
              </a:ext>
            </a:extLst>
          </p:cNvPr>
          <p:cNvSpPr txBox="1"/>
          <p:nvPr/>
        </p:nvSpPr>
        <p:spPr>
          <a:xfrm>
            <a:off x="57150" y="6559550"/>
            <a:ext cx="26052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“</a:t>
            </a:r>
            <a:r>
              <a:rPr lang="ko-KR" altLang="en-US" sz="900" dirty="0"/>
              <a:t>밑바닥부터 시작하는 딥러닝</a:t>
            </a:r>
            <a:r>
              <a:rPr lang="en-US" altLang="ko-KR" sz="900" dirty="0"/>
              <a:t>” </a:t>
            </a:r>
            <a:r>
              <a:rPr lang="ko-KR" altLang="en-US" sz="900" dirty="0" err="1"/>
              <a:t>한빛미디어</a:t>
            </a:r>
            <a:r>
              <a:rPr lang="en-US" altLang="ko-KR" sz="900" dirty="0"/>
              <a:t>, 2017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346635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53E92-6CB8-F2DB-5172-D7C39AFC9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신경망의 예</a:t>
            </a:r>
          </a:p>
        </p:txBody>
      </p:sp>
      <p:pic>
        <p:nvPicPr>
          <p:cNvPr id="6" name="내용 개체 틀 5" descr="도표, 원, 라인, 디자인이(가) 표시된 사진&#10;&#10;자동 생성된 설명">
            <a:extLst>
              <a:ext uri="{FF2B5EF4-FFF2-40B4-BE49-F238E27FC236}">
                <a16:creationId xmlns:a16="http://schemas.microsoft.com/office/drawing/2014/main" id="{AE688FB0-3812-85FC-B3AC-EF81B705F3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756" y="1327029"/>
            <a:ext cx="5829600" cy="4737343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511437-382E-2BC5-A2A8-826BFABA9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2165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4B1A1F-79B6-FA8C-B974-DF047839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편향을 명시한 </a:t>
            </a:r>
            <a:r>
              <a:rPr lang="ko-KR" altLang="en-US" dirty="0" err="1"/>
              <a:t>퍼셉트론</a:t>
            </a:r>
            <a:endParaRPr lang="ko-KR" altLang="en-US" dirty="0"/>
          </a:p>
        </p:txBody>
      </p:sp>
      <p:pic>
        <p:nvPicPr>
          <p:cNvPr id="6" name="내용 개체 틀 5" descr="원, 도표, 라인, 폰트이(가) 표시된 사진&#10;&#10;자동 생성된 설명">
            <a:extLst>
              <a:ext uri="{FF2B5EF4-FFF2-40B4-BE49-F238E27FC236}">
                <a16:creationId xmlns:a16="http://schemas.microsoft.com/office/drawing/2014/main" id="{CB5AE794-1C35-FBA2-D044-E7F17ED095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916" y="1521058"/>
            <a:ext cx="2984653" cy="407691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58F85C-17D6-9F56-33D6-0715D50F7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8" name="그림 7" descr="폰트, 텍스트, 친필, 화이트이(가) 표시된 사진&#10;&#10;자동 생성된 설명">
            <a:extLst>
              <a:ext uri="{FF2B5EF4-FFF2-40B4-BE49-F238E27FC236}">
                <a16:creationId xmlns:a16="http://schemas.microsoft.com/office/drawing/2014/main" id="{4ADE88DD-9104-777F-A2CD-2388B892B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165" y="1895383"/>
            <a:ext cx="3746693" cy="927148"/>
          </a:xfrm>
          <a:prstGeom prst="rect">
            <a:avLst/>
          </a:prstGeom>
        </p:spPr>
      </p:pic>
      <p:pic>
        <p:nvPicPr>
          <p:cNvPr id="10" name="그림 9" descr="폰트, 타이포그래피, 친필, 서예이(가) 표시된 사진&#10;&#10;자동 생성된 설명">
            <a:extLst>
              <a:ext uri="{FF2B5EF4-FFF2-40B4-BE49-F238E27FC236}">
                <a16:creationId xmlns:a16="http://schemas.microsoft.com/office/drawing/2014/main" id="{CE2DDA32-B6A9-3843-52BD-26B4DA04FF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676" y="3219439"/>
            <a:ext cx="3022755" cy="419122"/>
          </a:xfrm>
          <a:prstGeom prst="rect">
            <a:avLst/>
          </a:prstGeom>
        </p:spPr>
      </p:pic>
      <p:pic>
        <p:nvPicPr>
          <p:cNvPr id="12" name="그림 11" descr="폰트, 화이트, 텍스트, 친필이(가) 표시된 사진&#10;&#10;자동 생성된 설명">
            <a:extLst>
              <a:ext uri="{FF2B5EF4-FFF2-40B4-BE49-F238E27FC236}">
                <a16:creationId xmlns:a16="http://schemas.microsoft.com/office/drawing/2014/main" id="{2E992CE6-5FC7-86E8-9DDF-0D2A59410A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165" y="4210027"/>
            <a:ext cx="2514729" cy="8763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319C348-0EAB-CABE-8932-8E608858628C}"/>
              </a:ext>
            </a:extLst>
          </p:cNvPr>
          <p:cNvSpPr txBox="1"/>
          <p:nvPr/>
        </p:nvSpPr>
        <p:spPr>
          <a:xfrm>
            <a:off x="4572000" y="5413302"/>
            <a:ext cx="4152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계단함수</a:t>
            </a:r>
            <a:r>
              <a:rPr lang="en-US" altLang="ko-KR" dirty="0"/>
              <a:t>: </a:t>
            </a:r>
            <a:r>
              <a:rPr lang="ko-KR" altLang="en-US" dirty="0" err="1"/>
              <a:t>입력값을</a:t>
            </a:r>
            <a:r>
              <a:rPr lang="ko-KR" altLang="en-US" dirty="0"/>
              <a:t> 경계로 출력이 바뀜</a:t>
            </a:r>
          </a:p>
        </p:txBody>
      </p:sp>
    </p:spTree>
    <p:extLst>
      <p:ext uri="{BB962C8B-B14F-4D97-AF65-F5344CB8AC3E}">
        <p14:creationId xmlns:p14="http://schemas.microsoft.com/office/powerpoint/2010/main" val="1864053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45F730-4D5A-83D0-35CE-F89DA53C3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활성화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B4DEB0-2B1D-CBF2-0152-2FEF0DD4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입력 신호의 총합을 출력 신호로 변환하는 함수</a:t>
            </a:r>
            <a:endParaRPr lang="en-US" altLang="ko-KR" dirty="0"/>
          </a:p>
          <a:p>
            <a:pPr lvl="1"/>
            <a:r>
              <a:rPr lang="en-US" altLang="ko-KR" sz="2000" dirty="0"/>
              <a:t>‘</a:t>
            </a:r>
            <a:r>
              <a:rPr lang="ko-KR" altLang="en-US" sz="2000" dirty="0"/>
              <a:t>활성화</a:t>
            </a:r>
            <a:r>
              <a:rPr lang="en-US" altLang="ko-KR" sz="2000" dirty="0"/>
              <a:t>’ </a:t>
            </a:r>
            <a:r>
              <a:rPr lang="ko-KR" altLang="en-US" sz="2000" dirty="0"/>
              <a:t>입력 신호의 총합이 활성화를 일으키는지를 정하는 역할</a:t>
            </a:r>
            <a:endParaRPr lang="en-US" altLang="ko-KR" sz="2000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47F829-27BF-EAEA-D553-2CA071CDD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5" name="그림 4" descr="폰트, 타이포그래피, 친필, 서예이(가) 표시된 사진&#10;&#10;자동 생성된 설명">
            <a:extLst>
              <a:ext uri="{FF2B5EF4-FFF2-40B4-BE49-F238E27FC236}">
                <a16:creationId xmlns:a16="http://schemas.microsoft.com/office/drawing/2014/main" id="{2EA0A2EA-2D9D-60DD-0942-03F08B8B3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19" y="2350435"/>
            <a:ext cx="3022755" cy="419122"/>
          </a:xfrm>
          <a:prstGeom prst="rect">
            <a:avLst/>
          </a:prstGeom>
        </p:spPr>
      </p:pic>
      <p:pic>
        <p:nvPicPr>
          <p:cNvPr id="7" name="그림 6" descr="폰트, 타이포그래피, 친필, 서예이(가) 표시된 사진&#10;&#10;자동 생성된 설명">
            <a:extLst>
              <a:ext uri="{FF2B5EF4-FFF2-40B4-BE49-F238E27FC236}">
                <a16:creationId xmlns:a16="http://schemas.microsoft.com/office/drawing/2014/main" id="{8587B487-1AF5-0D76-4DFF-F20D57294C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85" y="3188211"/>
            <a:ext cx="2425825" cy="508026"/>
          </a:xfrm>
          <a:prstGeom prst="rect">
            <a:avLst/>
          </a:prstGeom>
        </p:spPr>
      </p:pic>
      <p:pic>
        <p:nvPicPr>
          <p:cNvPr id="9" name="그림 8" descr="폰트, 화이트, 서예, 타이포그래피이(가) 표시된 사진&#10;&#10;자동 생성된 설명">
            <a:extLst>
              <a:ext uri="{FF2B5EF4-FFF2-40B4-BE49-F238E27FC236}">
                <a16:creationId xmlns:a16="http://schemas.microsoft.com/office/drawing/2014/main" id="{C02C05A5-A97E-9553-7389-87F2444BBD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051" y="3928310"/>
            <a:ext cx="1143059" cy="431822"/>
          </a:xfrm>
          <a:prstGeom prst="rect">
            <a:avLst/>
          </a:prstGeom>
        </p:spPr>
      </p:pic>
      <p:pic>
        <p:nvPicPr>
          <p:cNvPr id="11" name="그림 10" descr="원, 도표, 폰트, 화이트이(가) 표시된 사진&#10;&#10;자동 생성된 설명">
            <a:extLst>
              <a:ext uri="{FF2B5EF4-FFF2-40B4-BE49-F238E27FC236}">
                <a16:creationId xmlns:a16="http://schemas.microsoft.com/office/drawing/2014/main" id="{0895A8F0-FAE0-1C60-6F55-7F2D3A9E1A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121" y="2149437"/>
            <a:ext cx="3670489" cy="408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80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D0FB03-37E4-4299-4CED-272406BCE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계단함수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324450-AA79-37B8-C657-55A83BB7B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56128EE-74EE-C1B7-EA29-07E6F6A46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95" y="3353311"/>
            <a:ext cx="1943268" cy="13564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A8C4D7B-449A-4216-7E84-510B1A1EA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899" y="5325513"/>
            <a:ext cx="2857899" cy="96215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8A22666-D62B-4A2A-5320-AFB1CE278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328" y="208714"/>
            <a:ext cx="4115374" cy="4715533"/>
          </a:xfrm>
          <a:prstGeom prst="rect">
            <a:avLst/>
          </a:prstGeom>
        </p:spPr>
      </p:pic>
      <p:pic>
        <p:nvPicPr>
          <p:cNvPr id="3" name="그림 2" descr="폰트, 화이트, 텍스트, 친필이(가) 표시된 사진&#10;&#10;자동 생성된 설명">
            <a:extLst>
              <a:ext uri="{FF2B5EF4-FFF2-40B4-BE49-F238E27FC236}">
                <a16:creationId xmlns:a16="http://schemas.microsoft.com/office/drawing/2014/main" id="{C05F36E4-3356-4434-A5AA-3007E527B3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196" y="1588012"/>
            <a:ext cx="2514729" cy="87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09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7C7F56-534E-ED7D-9359-A527A0AB0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계단함수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648CCA-93AF-B587-32AB-A5AC4917B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4C257D-789D-EA02-6B36-F1E0F1745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F68D47-F1D8-D111-CC8C-E88D69AE1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29" y="2122535"/>
            <a:ext cx="3322608" cy="278154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CFDDA10-DE16-0B05-0FD0-9DAE948EE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4737" y="1729324"/>
            <a:ext cx="521017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810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59A48-88E4-0471-AC28-B9A785406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시그모이드</a:t>
            </a:r>
            <a:r>
              <a:rPr lang="en-US" altLang="ko-KR" dirty="0"/>
              <a:t>(Sigmoid) </a:t>
            </a:r>
            <a:r>
              <a:rPr lang="ko-KR" altLang="en-US" dirty="0"/>
              <a:t>함수</a:t>
            </a:r>
          </a:p>
        </p:txBody>
      </p:sp>
      <p:pic>
        <p:nvPicPr>
          <p:cNvPr id="8" name="내용 개체 틀 7" descr="폰트, 화이트, 라인, 텍스트이(가) 표시된 사진&#10;&#10;자동 생성된 설명">
            <a:extLst>
              <a:ext uri="{FF2B5EF4-FFF2-40B4-BE49-F238E27FC236}">
                <a16:creationId xmlns:a16="http://schemas.microsoft.com/office/drawing/2014/main" id="{733ACD8D-A12B-EF28-B672-BF373604B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260" y="1310784"/>
            <a:ext cx="2514729" cy="762039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3C8C3D-95AA-9599-1B01-99C9054D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E79E2BB-106D-F093-C0E6-2BF7E30AC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556" y="1143180"/>
            <a:ext cx="4915586" cy="51061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52ECB6-FDCC-A071-AC84-FCEF125D9963}"/>
              </a:ext>
            </a:extLst>
          </p:cNvPr>
          <p:cNvSpPr txBox="1"/>
          <p:nvPr/>
        </p:nvSpPr>
        <p:spPr>
          <a:xfrm>
            <a:off x="460260" y="4020766"/>
            <a:ext cx="2315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넘파이</a:t>
            </a:r>
            <a:r>
              <a:rPr lang="ko-KR" altLang="en-US" dirty="0"/>
              <a:t> </a:t>
            </a:r>
            <a:r>
              <a:rPr lang="ko-KR" altLang="en-US" dirty="0" err="1"/>
              <a:t>브로드캐스트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2284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362452-DDF4-B29C-3E0A-A5AF8ADA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시그모이드</a:t>
            </a:r>
            <a:r>
              <a:rPr lang="en-US" altLang="ko-KR" dirty="0"/>
              <a:t>(Sigmoid) </a:t>
            </a:r>
            <a:r>
              <a:rPr lang="ko-KR" altLang="en-US" dirty="0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4599EA-C430-3C5F-0FE1-1AA721F39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DE6E79-D419-FDEE-68F6-BF8D4174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21C3888-9907-C6F8-1FD3-B7870DA3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48" y="2547814"/>
            <a:ext cx="3286584" cy="1762371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9CF23AA-8E23-EF6C-47B7-AF6085F0B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347" y="1868107"/>
            <a:ext cx="521017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361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7E0FF-D9C0-4E4B-266D-65660A7B8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시그모이도와</a:t>
            </a:r>
            <a:r>
              <a:rPr lang="ko-KR" altLang="en-US" dirty="0"/>
              <a:t> 계단 함수 비교</a:t>
            </a:r>
          </a:p>
        </p:txBody>
      </p:sp>
      <p:pic>
        <p:nvPicPr>
          <p:cNvPr id="6" name="내용 개체 틀 5" descr="라인, 도표, 그래프, 텍스트이(가) 표시된 사진&#10;&#10;자동 생성된 설명">
            <a:extLst>
              <a:ext uri="{FF2B5EF4-FFF2-40B4-BE49-F238E27FC236}">
                <a16:creationId xmlns:a16="http://schemas.microsoft.com/office/drawing/2014/main" id="{E953D7F9-1F6D-9749-047A-86E738588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915" y="1098953"/>
            <a:ext cx="6845652" cy="5194567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4899E1-AB5A-DE57-8DB8-DAF616DE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5676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A220A-5835-A3EC-CA5A-D13C4D853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A201E2-C1E3-18C3-F157-64E77C426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중첩의 원리</a:t>
            </a:r>
            <a:r>
              <a:rPr lang="en-US" altLang="ko-KR" dirty="0"/>
              <a:t>(principle of superposition)</a:t>
            </a:r>
          </a:p>
          <a:p>
            <a:r>
              <a:rPr lang="ko-KR" altLang="en-US" dirty="0"/>
              <a:t>선형성의 원리</a:t>
            </a:r>
            <a:r>
              <a:rPr lang="en-US" altLang="ko-KR" dirty="0"/>
              <a:t>(Linearity principle)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48CCC6-0FC0-D52F-55E8-2AF564438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D0B0B0-34ED-9CEA-9F97-7F61244B7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488" y="2269591"/>
            <a:ext cx="5957381" cy="365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95DEA9-FF55-6FCB-1252-8A981258AA93}"/>
              </a:ext>
            </a:extLst>
          </p:cNvPr>
          <p:cNvSpPr txBox="1"/>
          <p:nvPr/>
        </p:nvSpPr>
        <p:spPr>
          <a:xfrm>
            <a:off x="77822" y="6493705"/>
            <a:ext cx="46173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/>
              <a:t>https://sdolnote.tistory.com/entry/LinearityNonlinearityFunction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B2DC7B-6FBE-C40E-6147-5E057F45F5EE}"/>
              </a:ext>
            </a:extLst>
          </p:cNvPr>
          <p:cNvSpPr txBox="1"/>
          <p:nvPr/>
        </p:nvSpPr>
        <p:spPr>
          <a:xfrm>
            <a:off x="3154031" y="5894534"/>
            <a:ext cx="44744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6</a:t>
            </a:r>
            <a:r>
              <a:rPr lang="ko-KR" altLang="en-US" dirty="0"/>
              <a:t>을 입력하지 않고도 </a:t>
            </a:r>
            <a:r>
              <a:rPr lang="en-US" altLang="ko-KR" dirty="0"/>
              <a:t>6</a:t>
            </a:r>
            <a:r>
              <a:rPr lang="ko-KR" altLang="en-US" dirty="0"/>
              <a:t>을 입력했을 때 </a:t>
            </a:r>
            <a:r>
              <a:rPr lang="en-US" altLang="ko-KR" dirty="0"/>
              <a:t>33</a:t>
            </a:r>
            <a:r>
              <a:rPr lang="ko-KR" altLang="en-US" dirty="0"/>
              <a:t>이 출력이 되는 것을 예측할 수 있음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4138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D321F-4407-39A2-37D3-698802FD3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비선형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D208B8-36AF-C52F-101D-1F7740D93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F55F19-EAE7-0393-358A-6F1DECA01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7628A27-66A5-065F-A375-7F97F8C11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683" y="1591688"/>
            <a:ext cx="6934200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68314E-08DD-7627-4441-283816E27EEF}"/>
              </a:ext>
            </a:extLst>
          </p:cNvPr>
          <p:cNvSpPr txBox="1"/>
          <p:nvPr/>
        </p:nvSpPr>
        <p:spPr>
          <a:xfrm>
            <a:off x="3456562" y="5839021"/>
            <a:ext cx="5304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함수의 수식이 알려지지 않았을 때 예측하기 어려움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496348-595E-C14C-72E3-3E960651B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728" y="125382"/>
            <a:ext cx="3000794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32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8FDA5A-B7CF-9D20-066E-B583B476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활성화 함수로 선형함수를 사용</a:t>
            </a:r>
            <a:r>
              <a:rPr lang="en-US" altLang="ko-KR" dirty="0"/>
              <a:t>?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AFFBA1F-B5E4-F58E-FE1F-FED9DB6EF4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ko-KR" altLang="en-US" b="0" dirty="0">
                    <a:latin typeface="Cambria Math" panose="02040503050406030204" pitchFamily="18" charset="0"/>
                  </a:rPr>
                  <a:t>아래 선형 함수를 활성화 함수로 사용해보자</a:t>
                </a:r>
                <a:endParaRPr lang="en-US" altLang="ko-KR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𝑐𝑥</m:t>
                      </m:r>
                    </m:oMath>
                  </m:oMathPara>
                </a14:m>
                <a:endParaRPr lang="en-US" altLang="ko-KR" b="0" dirty="0"/>
              </a:p>
              <a:p>
                <a:pPr marL="0" indent="0">
                  <a:buNone/>
                </a:pPr>
                <a:r>
                  <a:rPr lang="en-US" altLang="ko-KR" dirty="0"/>
                  <a:t>3</a:t>
                </a:r>
                <a:r>
                  <a:rPr lang="ko-KR" altLang="en-US" dirty="0"/>
                  <a:t>층 네트워크를 구성하면</a:t>
                </a:r>
                <a:endParaRPr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ko-K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ko-KR" b="0" dirty="0"/>
              </a:p>
              <a:p>
                <a:pPr marL="0" indent="0">
                  <a:buNone/>
                </a:pPr>
                <a:r>
                  <a:rPr lang="ko-KR" altLang="en-US" b="0" dirty="0"/>
                  <a:t>만약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ko-KR" b="0" dirty="0"/>
                  <a:t> </a:t>
                </a:r>
                <a:r>
                  <a:rPr lang="ko-KR" altLang="en-US" b="0" dirty="0"/>
                  <a:t>이면</a:t>
                </a:r>
                <a:endParaRPr lang="en-US" altLang="ko-K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ko-KR" b="0" dirty="0"/>
              </a:p>
              <a:p>
                <a:pPr marL="0" indent="0">
                  <a:buNone/>
                </a:pPr>
                <a:endParaRPr lang="en-US" altLang="ko-KR" b="0" dirty="0"/>
              </a:p>
              <a:p>
                <a:pPr marL="0" indent="0">
                  <a:buNone/>
                </a:pPr>
                <a:r>
                  <a:rPr lang="ko-KR" altLang="en-US" dirty="0"/>
                  <a:t>즉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은닉층이 없는 네트워크와 동일</a:t>
                </a: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r>
                  <a:rPr lang="ko-KR" altLang="en-US" dirty="0"/>
                  <a:t>따라서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활성화 함수로 반드시 비선형함수를 사용해야 함</a:t>
                </a:r>
                <a:endParaRPr lang="en-US" altLang="ko-KR" dirty="0"/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AFFBA1F-B5E4-F58E-FE1F-FED9DB6EF4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t="-18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491F79-3D33-AF14-46CA-761C2A6FE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1962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3E0FAAD6-E838-84E0-A577-37E83C34D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68" y="1083012"/>
            <a:ext cx="5642969" cy="4417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23C5BDC-BE2E-4CEB-ECFF-92C0CA402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ReLU</a:t>
            </a:r>
            <a:r>
              <a:rPr lang="en-US" altLang="ko-KR" dirty="0"/>
              <a:t>(Rectified Linear Unit)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125922-6714-C181-93CD-7DCB8984D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8" name="그림 7" descr="폰트, 화이트, 텍스트, 타이포그래피이(가) 표시된 사진&#10;&#10;자동 생성된 설명">
            <a:extLst>
              <a:ext uri="{FF2B5EF4-FFF2-40B4-BE49-F238E27FC236}">
                <a16:creationId xmlns:a16="http://schemas.microsoft.com/office/drawing/2014/main" id="{1E533246-AED9-1907-8AEC-BA4C989872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798" y="1862688"/>
            <a:ext cx="2387723" cy="90174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6EB5CA-43F9-132B-2BB6-257457322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770" y="1713577"/>
            <a:ext cx="2888230" cy="7087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8BEC3F-0F20-51B2-D1EE-5B349B1087E0}"/>
              </a:ext>
            </a:extLst>
          </p:cNvPr>
          <p:cNvSpPr txBox="1"/>
          <p:nvPr/>
        </p:nvSpPr>
        <p:spPr>
          <a:xfrm>
            <a:off x="376137" y="6261618"/>
            <a:ext cx="2269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Rectified =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정류된</a:t>
            </a:r>
          </a:p>
        </p:txBody>
      </p:sp>
    </p:spTree>
    <p:extLst>
      <p:ext uri="{BB962C8B-B14F-4D97-AF65-F5344CB8AC3E}">
        <p14:creationId xmlns:p14="http://schemas.microsoft.com/office/powerpoint/2010/main" val="15615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CC95D-59CD-46BA-536A-368DFE19C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다차원 배열의 계산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51B0CD-7A03-3423-9961-5FF01ABB0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493765-FF35-5476-8AE6-7C6CC5AB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D6EF91-D3AC-0636-9A43-5922487F0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75" y="1796374"/>
            <a:ext cx="2283124" cy="43973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DA48AE-BA6D-9760-5A99-9663F5B7CF40}"/>
              </a:ext>
            </a:extLst>
          </p:cNvPr>
          <p:cNvSpPr txBox="1"/>
          <p:nvPr/>
        </p:nvSpPr>
        <p:spPr>
          <a:xfrm>
            <a:off x="1225980" y="1380826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차원 배열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0C1AF78-CA00-064F-60C6-92EDED030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437" y="1796374"/>
            <a:ext cx="3487606" cy="4218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6C8D5C-9AE9-FE7F-0A87-D1DC8DB9090C}"/>
              </a:ext>
            </a:extLst>
          </p:cNvPr>
          <p:cNvSpPr txBox="1"/>
          <p:nvPr/>
        </p:nvSpPr>
        <p:spPr>
          <a:xfrm>
            <a:off x="4131308" y="1380826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차원 배열</a:t>
            </a:r>
          </a:p>
        </p:txBody>
      </p:sp>
      <p:pic>
        <p:nvPicPr>
          <p:cNvPr id="11" name="내용 개체 틀 5" descr="도표, 번호, 원, 디자인이(가) 표시된 사진&#10;&#10;자동 생성된 설명">
            <a:extLst>
              <a:ext uri="{FF2B5EF4-FFF2-40B4-BE49-F238E27FC236}">
                <a16:creationId xmlns:a16="http://schemas.microsoft.com/office/drawing/2014/main" id="{21D9DD03-C76C-51F3-32F5-E62D0ABA62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240" y="2949295"/>
            <a:ext cx="3594285" cy="299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97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D519B-B215-C615-F461-68188344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행렬의 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90CEF0-88C9-C729-15DC-B0669C9E1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pic>
        <p:nvPicPr>
          <p:cNvPr id="10" name="내용 개체 틀 9" descr="도표, 스케치, 라인, 기술 도면이(가) 표시된 사진&#10;&#10;자동 생성된 설명">
            <a:extLst>
              <a:ext uri="{FF2B5EF4-FFF2-40B4-BE49-F238E27FC236}">
                <a16:creationId xmlns:a16="http://schemas.microsoft.com/office/drawing/2014/main" id="{7858FEE9-9D73-D98D-1373-D834166D44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64" y="1962061"/>
            <a:ext cx="7467984" cy="3467278"/>
          </a:xfrm>
        </p:spPr>
      </p:pic>
    </p:spTree>
    <p:extLst>
      <p:ext uri="{BB962C8B-B14F-4D97-AF65-F5344CB8AC3E}">
        <p14:creationId xmlns:p14="http://schemas.microsoft.com/office/powerpoint/2010/main" val="3539811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782A80-DB3C-714D-8898-9141E90AB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행렬의 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6EF577-948E-025B-5C37-135F32D64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4D00B7-EE67-5A6C-D0EA-91DF6C49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01681A5-487D-1C87-9633-F01038FD8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69" y="1328604"/>
            <a:ext cx="3139712" cy="44733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58473E7-A6F8-002A-06DA-1E4DEBB06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580" y="1328604"/>
            <a:ext cx="3531574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529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A603F-8ECD-546B-0507-E7B1801B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행렬의 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84A464-5845-864A-C402-6F9DB9049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행렬의 형상에 주의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54AB58-169C-DEC9-2D84-A6CA4B47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FCF1028-6982-CE3B-8439-2E676EB86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72" y="1738009"/>
            <a:ext cx="6258085" cy="4446960"/>
          </a:xfrm>
          <a:prstGeom prst="rect">
            <a:avLst/>
          </a:prstGeom>
        </p:spPr>
      </p:pic>
      <p:pic>
        <p:nvPicPr>
          <p:cNvPr id="10" name="그림 9" descr="도표, 텍스트, 라인, 폰트이(가) 표시된 사진&#10;&#10;자동 생성된 설명">
            <a:extLst>
              <a:ext uri="{FF2B5EF4-FFF2-40B4-BE49-F238E27FC236}">
                <a16:creationId xmlns:a16="http://schemas.microsoft.com/office/drawing/2014/main" id="{D6590CD0-8F57-7D52-000B-D33DF833D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752" y="1586572"/>
            <a:ext cx="4983818" cy="195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94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BDFD93-AB4B-0294-C105-3E19859FE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행렬의 곱</a:t>
            </a:r>
          </a:p>
        </p:txBody>
      </p:sp>
      <p:pic>
        <p:nvPicPr>
          <p:cNvPr id="6" name="내용 개체 틀 5" descr="텍스트, 도표, 라인, 폰트이(가) 표시된 사진&#10;&#10;자동 생성된 설명">
            <a:extLst>
              <a:ext uri="{FF2B5EF4-FFF2-40B4-BE49-F238E27FC236}">
                <a16:creationId xmlns:a16="http://schemas.microsoft.com/office/drawing/2014/main" id="{2B7A6126-9181-E2DE-0CC0-4EA75572E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553" y="2810845"/>
            <a:ext cx="3378732" cy="1236309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8971E0-6459-67C7-32D9-00C80F8B8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1C98570-8D1A-3F6D-911B-199E5B896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64" y="1403114"/>
            <a:ext cx="3673158" cy="41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965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4C0260-C844-F400-6689-5A305DADD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신경망에서의 행렬 곱</a:t>
            </a:r>
          </a:p>
        </p:txBody>
      </p:sp>
      <p:pic>
        <p:nvPicPr>
          <p:cNvPr id="6" name="내용 개체 틀 5" descr="도표, 스케치, 그림, 폰트이(가) 표시된 사진&#10;&#10;자동 생성된 설명">
            <a:extLst>
              <a:ext uri="{FF2B5EF4-FFF2-40B4-BE49-F238E27FC236}">
                <a16:creationId xmlns:a16="http://schemas.microsoft.com/office/drawing/2014/main" id="{604CB971-0C4D-7ACD-7438-56827A584E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112"/>
          <a:stretch/>
        </p:blipFill>
        <p:spPr>
          <a:xfrm>
            <a:off x="825875" y="965915"/>
            <a:ext cx="2805079" cy="27810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15454F-0521-7104-1ABF-A5DBEFD12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0D11DB2-7358-F82E-E934-CAF59B539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52" y="732817"/>
            <a:ext cx="3053544" cy="5544222"/>
          </a:xfrm>
          <a:prstGeom prst="rect">
            <a:avLst/>
          </a:prstGeom>
        </p:spPr>
      </p:pic>
      <p:pic>
        <p:nvPicPr>
          <p:cNvPr id="11" name="그림 10" descr="도표, 스케치, 그림, 폰트이(가) 표시된 사진&#10;&#10;자동 생성된 설명">
            <a:extLst>
              <a:ext uri="{FF2B5EF4-FFF2-40B4-BE49-F238E27FC236}">
                <a16:creationId xmlns:a16="http://schemas.microsoft.com/office/drawing/2014/main" id="{33FB7CA0-0F98-65C0-B398-0E18E0E208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10"/>
          <a:stretch/>
        </p:blipFill>
        <p:spPr>
          <a:xfrm>
            <a:off x="774699" y="4129006"/>
            <a:ext cx="2902356" cy="238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486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0CA0E2-A126-45F9-B6DC-7432B549B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층 신경망 구현하기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528D103-ECA9-46CA-BB09-81BABE808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08" y="1568341"/>
            <a:ext cx="7709296" cy="4254719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94B888-A00D-4592-B78C-E054ECE1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4345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875A4-BF23-43D3-BE0A-E1CBF6969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표기법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0DCF27A-33CF-44BD-BD8E-D93F3933E1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679" y="1784252"/>
            <a:ext cx="6883754" cy="3822896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47838D-0083-4A7F-80E4-BC5269E6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3775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DE6E9-2F05-4973-B55D-E668D46B2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입력층에서 </a:t>
            </a:r>
            <a:r>
              <a:rPr lang="en-US" altLang="ko-KR" dirty="0"/>
              <a:t>1</a:t>
            </a:r>
            <a:r>
              <a:rPr lang="ko-KR" altLang="en-US" dirty="0"/>
              <a:t>층으로 신호 전달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466D0FF-E6F3-4013-AB00-3B6DA276AA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05" y="1536689"/>
            <a:ext cx="5082681" cy="3287807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C78787-BDFB-48D5-B23F-34A927342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pic>
        <p:nvPicPr>
          <p:cNvPr id="8" name="그림 7" descr="텍스트, 시계이(가) 표시된 사진&#10;&#10;자동 생성된 설명">
            <a:extLst>
              <a:ext uri="{FF2B5EF4-FFF2-40B4-BE49-F238E27FC236}">
                <a16:creationId xmlns:a16="http://schemas.microsoft.com/office/drawing/2014/main" id="{E116C7CC-BBB3-4B00-8DDA-FB2639CE86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068" y="958709"/>
            <a:ext cx="3162463" cy="495325"/>
          </a:xfrm>
          <a:prstGeom prst="rect">
            <a:avLst/>
          </a:prstGeom>
        </p:spPr>
      </p:pic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A48AA456-F17E-45F0-9B11-96A8600A9A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737" y="1536689"/>
            <a:ext cx="2413124" cy="43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811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FAADC-7EC4-437A-A6D5-6BF089A4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입력층에서 </a:t>
            </a:r>
            <a:r>
              <a:rPr lang="en-US" altLang="ko-KR" dirty="0"/>
              <a:t>1</a:t>
            </a:r>
            <a:r>
              <a:rPr lang="ko-KR" altLang="en-US" dirty="0"/>
              <a:t>층으로 신호전달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5A13BD-998E-4794-9C40-06C2AFCD1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7A5D8-B9D4-49A0-9C4E-7639D97F2C5A}"/>
              </a:ext>
            </a:extLst>
          </p:cNvPr>
          <p:cNvSpPr txBox="1"/>
          <p:nvPr/>
        </p:nvSpPr>
        <p:spPr>
          <a:xfrm>
            <a:off x="152130" y="965915"/>
            <a:ext cx="5303837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import </a:t>
            </a:r>
            <a:r>
              <a:rPr lang="en-US" altLang="ko-KR" sz="1600" dirty="0" err="1"/>
              <a:t>numpy</a:t>
            </a:r>
            <a:r>
              <a:rPr lang="en-US" altLang="ko-KR" sz="1600" dirty="0"/>
              <a:t> as np</a:t>
            </a:r>
          </a:p>
          <a:p>
            <a:endParaRPr lang="en-US" altLang="ko-KR" sz="1600" dirty="0"/>
          </a:p>
          <a:p>
            <a:r>
              <a:rPr lang="en-US" altLang="ko-KR" sz="1600" dirty="0"/>
              <a:t>X = </a:t>
            </a:r>
            <a:r>
              <a:rPr lang="en-US" altLang="ko-KR" sz="1600" dirty="0" err="1"/>
              <a:t>np.array</a:t>
            </a:r>
            <a:r>
              <a:rPr lang="en-US" altLang="ko-KR" sz="1600" dirty="0"/>
              <a:t>([1.0, 0.5])</a:t>
            </a:r>
          </a:p>
          <a:p>
            <a:r>
              <a:rPr lang="en-US" altLang="ko-KR" sz="1600" dirty="0"/>
              <a:t>W1 = </a:t>
            </a:r>
            <a:r>
              <a:rPr lang="en-US" altLang="ko-KR" sz="1600" dirty="0" err="1"/>
              <a:t>np.array</a:t>
            </a:r>
            <a:r>
              <a:rPr lang="en-US" altLang="ko-KR" sz="1600" dirty="0"/>
              <a:t>([[0.1, 0.3, 0.5], [0.2, 0.4, 0.6]])</a:t>
            </a:r>
          </a:p>
          <a:p>
            <a:r>
              <a:rPr lang="en-US" altLang="ko-KR" sz="1600" dirty="0"/>
              <a:t>B1 = </a:t>
            </a:r>
            <a:r>
              <a:rPr lang="en-US" altLang="ko-KR" sz="1600" dirty="0" err="1"/>
              <a:t>np.array</a:t>
            </a:r>
            <a:r>
              <a:rPr lang="en-US" altLang="ko-KR" sz="1600" dirty="0"/>
              <a:t>([0.1, 0.2, 0.3])</a:t>
            </a:r>
          </a:p>
          <a:p>
            <a:endParaRPr lang="en-US" altLang="ko-KR" sz="1600" dirty="0"/>
          </a:p>
          <a:p>
            <a:r>
              <a:rPr lang="en-US" altLang="ko-KR" sz="1600" dirty="0"/>
              <a:t>print(W1.shape)</a:t>
            </a:r>
          </a:p>
          <a:p>
            <a:r>
              <a:rPr lang="en-US" altLang="ko-KR" sz="1600" dirty="0"/>
              <a:t>print(B1.shape)</a:t>
            </a:r>
          </a:p>
          <a:p>
            <a:r>
              <a:rPr lang="en-US" altLang="ko-KR" sz="1600" dirty="0"/>
              <a:t>print(</a:t>
            </a:r>
            <a:r>
              <a:rPr lang="en-US" altLang="ko-KR" sz="1600" dirty="0" err="1"/>
              <a:t>X.shape</a:t>
            </a:r>
            <a:r>
              <a:rPr lang="en-US" altLang="ko-KR" sz="1600" dirty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/>
              <a:t>A1 = np.dot(X, W1) + B1</a:t>
            </a:r>
          </a:p>
          <a:p>
            <a:endParaRPr lang="en-US" altLang="ko-KR" sz="1600" dirty="0"/>
          </a:p>
          <a:p>
            <a:r>
              <a:rPr lang="en-US" altLang="ko-KR" sz="1600" dirty="0"/>
              <a:t>print(A1)</a:t>
            </a:r>
            <a:endParaRPr lang="ko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FED13F-E3E1-4B1C-AF09-3B47BFB5BD6C}"/>
              </a:ext>
            </a:extLst>
          </p:cNvPr>
          <p:cNvSpPr txBox="1"/>
          <p:nvPr/>
        </p:nvSpPr>
        <p:spPr>
          <a:xfrm>
            <a:off x="152130" y="4876711"/>
            <a:ext cx="46196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(2, 3)</a:t>
            </a:r>
          </a:p>
          <a:p>
            <a:r>
              <a:rPr lang="ko-KR" altLang="en-US" dirty="0"/>
              <a:t>(3,)</a:t>
            </a:r>
          </a:p>
          <a:p>
            <a:r>
              <a:rPr lang="ko-KR" altLang="en-US" dirty="0"/>
              <a:t>(2,)</a:t>
            </a:r>
          </a:p>
          <a:p>
            <a:r>
              <a:rPr lang="ko-KR" altLang="en-US" dirty="0"/>
              <a:t>[0.3 0.7 1.1]</a:t>
            </a:r>
          </a:p>
        </p:txBody>
      </p:sp>
      <p:pic>
        <p:nvPicPr>
          <p:cNvPr id="13" name="내용 개체 틀 5">
            <a:extLst>
              <a:ext uri="{FF2B5EF4-FFF2-40B4-BE49-F238E27FC236}">
                <a16:creationId xmlns:a16="http://schemas.microsoft.com/office/drawing/2014/main" id="{4D0FA36E-2822-4037-AF53-A525239E21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458" y="2216022"/>
            <a:ext cx="6217642" cy="4021973"/>
          </a:xfrm>
        </p:spPr>
      </p:pic>
    </p:spTree>
    <p:extLst>
      <p:ext uri="{BB962C8B-B14F-4D97-AF65-F5344CB8AC3E}">
        <p14:creationId xmlns:p14="http://schemas.microsoft.com/office/powerpoint/2010/main" val="13512272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55791-95D6-4EA7-946C-4E54A649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활성화 함수 추가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433DA4-434D-40B5-87AC-1A71A5D0C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0F9D91-B26A-472A-A1B9-710AB7136D9C}"/>
              </a:ext>
            </a:extLst>
          </p:cNvPr>
          <p:cNvSpPr txBox="1"/>
          <p:nvPr/>
        </p:nvSpPr>
        <p:spPr>
          <a:xfrm>
            <a:off x="152130" y="1486575"/>
            <a:ext cx="46196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def</a:t>
            </a:r>
            <a:r>
              <a:rPr lang="ko-KR" altLang="en-US" dirty="0"/>
              <a:t> </a:t>
            </a:r>
            <a:r>
              <a:rPr lang="ko-KR" altLang="en-US" dirty="0" err="1"/>
              <a:t>sigmoid</a:t>
            </a:r>
            <a:r>
              <a:rPr lang="ko-KR" altLang="en-US" dirty="0"/>
              <a:t>(</a:t>
            </a:r>
            <a:r>
              <a:rPr lang="ko-KR" altLang="en-US" dirty="0" err="1"/>
              <a:t>x</a:t>
            </a:r>
            <a:r>
              <a:rPr lang="ko-KR" altLang="en-US" dirty="0"/>
              <a:t>):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return</a:t>
            </a:r>
            <a:r>
              <a:rPr lang="ko-KR" altLang="en-US" dirty="0"/>
              <a:t> 1 / (1 + </a:t>
            </a:r>
            <a:r>
              <a:rPr lang="ko-KR" altLang="en-US" dirty="0" err="1"/>
              <a:t>np.exp</a:t>
            </a:r>
            <a:r>
              <a:rPr lang="ko-KR" altLang="en-US" dirty="0"/>
              <a:t>(-</a:t>
            </a:r>
            <a:r>
              <a:rPr lang="ko-KR" altLang="en-US" dirty="0" err="1"/>
              <a:t>x</a:t>
            </a:r>
            <a:r>
              <a:rPr lang="ko-KR" altLang="en-US" dirty="0"/>
              <a:t>))    </a:t>
            </a:r>
          </a:p>
          <a:p>
            <a:endParaRPr lang="ko-KR" altLang="en-US" dirty="0"/>
          </a:p>
          <a:p>
            <a:r>
              <a:rPr lang="ko-KR" altLang="en-US" dirty="0"/>
              <a:t>Z1 = </a:t>
            </a:r>
            <a:r>
              <a:rPr lang="ko-KR" altLang="en-US" dirty="0" err="1"/>
              <a:t>sigmoid</a:t>
            </a:r>
            <a:r>
              <a:rPr lang="ko-KR" altLang="en-US" dirty="0"/>
              <a:t>(A1)</a:t>
            </a:r>
          </a:p>
          <a:p>
            <a:endParaRPr lang="ko-KR" altLang="en-US" dirty="0"/>
          </a:p>
          <a:p>
            <a:r>
              <a:rPr lang="ko-KR" altLang="en-US" dirty="0" err="1"/>
              <a:t>print</a:t>
            </a:r>
            <a:r>
              <a:rPr lang="ko-KR" altLang="en-US" dirty="0"/>
              <a:t>(A1)</a:t>
            </a:r>
          </a:p>
          <a:p>
            <a:r>
              <a:rPr lang="ko-KR" altLang="en-US" dirty="0" err="1"/>
              <a:t>print</a:t>
            </a:r>
            <a:r>
              <a:rPr lang="ko-KR" altLang="en-US" dirty="0"/>
              <a:t>(Z1)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EF984F5-1AAE-44F3-9A94-DD400F9135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615" y="345074"/>
            <a:ext cx="2975157" cy="22830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E7D085-E986-4553-BF6D-98EE31E36793}"/>
              </a:ext>
            </a:extLst>
          </p:cNvPr>
          <p:cNvSpPr txBox="1"/>
          <p:nvPr/>
        </p:nvSpPr>
        <p:spPr>
          <a:xfrm>
            <a:off x="152130" y="3828696"/>
            <a:ext cx="4619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[0.3 0.7 1.1]</a:t>
            </a:r>
          </a:p>
          <a:p>
            <a:r>
              <a:rPr lang="ko-KR" altLang="en-US" dirty="0"/>
              <a:t>[0.57444 0.66818 0.75026]</a:t>
            </a:r>
          </a:p>
        </p:txBody>
      </p:sp>
      <p:pic>
        <p:nvPicPr>
          <p:cNvPr id="11" name="내용 개체 틀 5">
            <a:extLst>
              <a:ext uri="{FF2B5EF4-FFF2-40B4-BE49-F238E27FC236}">
                <a16:creationId xmlns:a16="http://schemas.microsoft.com/office/drawing/2014/main" id="{217A4122-6D1D-40F3-B26D-E47CE05635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871" y="2933997"/>
            <a:ext cx="4967151" cy="3646182"/>
          </a:xfrm>
        </p:spPr>
      </p:pic>
    </p:spTree>
    <p:extLst>
      <p:ext uri="{BB962C8B-B14F-4D97-AF65-F5344CB8AC3E}">
        <p14:creationId xmlns:p14="http://schemas.microsoft.com/office/powerpoint/2010/main" val="2201591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A22E8B-270B-483D-AD33-C722A60A2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층에서 </a:t>
            </a:r>
            <a:r>
              <a:rPr lang="en-US" altLang="ko-KR" dirty="0"/>
              <a:t>2</a:t>
            </a:r>
            <a:r>
              <a:rPr lang="ko-KR" altLang="en-US" dirty="0"/>
              <a:t>층으로 신호 전달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4927DE-F168-4A06-91AA-14D6E0DA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D73F9-0216-421D-89F8-9103CC26B570}"/>
              </a:ext>
            </a:extLst>
          </p:cNvPr>
          <p:cNvSpPr txBox="1"/>
          <p:nvPr/>
        </p:nvSpPr>
        <p:spPr>
          <a:xfrm>
            <a:off x="152130" y="1217543"/>
            <a:ext cx="461962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W2 = </a:t>
            </a:r>
            <a:r>
              <a:rPr lang="ko-KR" altLang="en-US" sz="1600" dirty="0" err="1"/>
              <a:t>np.array</a:t>
            </a:r>
            <a:r>
              <a:rPr lang="ko-KR" altLang="en-US" sz="1600" dirty="0"/>
              <a:t>([[0.1, 0.4], [0.2, 0.5], [0.3, 0.6]])</a:t>
            </a:r>
          </a:p>
          <a:p>
            <a:r>
              <a:rPr lang="ko-KR" altLang="en-US" sz="1600" dirty="0"/>
              <a:t>B2 = </a:t>
            </a:r>
            <a:r>
              <a:rPr lang="ko-KR" altLang="en-US" sz="1600" dirty="0" err="1"/>
              <a:t>np.array</a:t>
            </a:r>
            <a:r>
              <a:rPr lang="ko-KR" altLang="en-US" sz="1600" dirty="0"/>
              <a:t>([0.1, 0.2])</a:t>
            </a:r>
          </a:p>
          <a:p>
            <a:endParaRPr lang="ko-KR" altLang="en-US" sz="1600" dirty="0"/>
          </a:p>
          <a:p>
            <a:r>
              <a:rPr lang="ko-KR" altLang="en-US" sz="1600" dirty="0" err="1"/>
              <a:t>print</a:t>
            </a:r>
            <a:r>
              <a:rPr lang="ko-KR" altLang="en-US" sz="1600" dirty="0"/>
              <a:t>(Z1.shape)</a:t>
            </a:r>
          </a:p>
          <a:p>
            <a:r>
              <a:rPr lang="ko-KR" altLang="en-US" sz="1600" dirty="0" err="1"/>
              <a:t>print</a:t>
            </a:r>
            <a:r>
              <a:rPr lang="ko-KR" altLang="en-US" sz="1600" dirty="0"/>
              <a:t>(W2.shape)</a:t>
            </a:r>
          </a:p>
          <a:p>
            <a:r>
              <a:rPr lang="ko-KR" altLang="en-US" sz="1600" dirty="0" err="1"/>
              <a:t>print</a:t>
            </a:r>
            <a:r>
              <a:rPr lang="ko-KR" altLang="en-US" sz="1600" dirty="0"/>
              <a:t>(B2.shape)</a:t>
            </a:r>
          </a:p>
          <a:p>
            <a:endParaRPr lang="ko-KR" altLang="en-US" sz="1600" dirty="0"/>
          </a:p>
          <a:p>
            <a:r>
              <a:rPr lang="ko-KR" altLang="en-US" sz="1600" dirty="0"/>
              <a:t>A2 = </a:t>
            </a:r>
            <a:r>
              <a:rPr lang="ko-KR" altLang="en-US" sz="1600" dirty="0" err="1"/>
              <a:t>np.dot</a:t>
            </a:r>
            <a:r>
              <a:rPr lang="ko-KR" altLang="en-US" sz="1600" dirty="0"/>
              <a:t>(Z1, W2) + B2</a:t>
            </a:r>
          </a:p>
          <a:p>
            <a:r>
              <a:rPr lang="ko-KR" altLang="en-US" sz="1600" dirty="0"/>
              <a:t>Z2 = </a:t>
            </a:r>
            <a:r>
              <a:rPr lang="ko-KR" altLang="en-US" sz="1600" dirty="0" err="1"/>
              <a:t>sigmoid</a:t>
            </a:r>
            <a:r>
              <a:rPr lang="ko-KR" altLang="en-US" sz="1600" dirty="0"/>
              <a:t>(A2)</a:t>
            </a:r>
          </a:p>
          <a:p>
            <a:r>
              <a:rPr lang="ko-KR" altLang="en-US" sz="1600" dirty="0" err="1"/>
              <a:t>print</a:t>
            </a:r>
            <a:r>
              <a:rPr lang="ko-KR" altLang="en-US" sz="1600" dirty="0"/>
              <a:t>(Z2)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1A38F0-2A9E-4B44-B49D-C1D7AB69AD65}"/>
              </a:ext>
            </a:extLst>
          </p:cNvPr>
          <p:cNvSpPr txBox="1"/>
          <p:nvPr/>
        </p:nvSpPr>
        <p:spPr>
          <a:xfrm>
            <a:off x="152130" y="4321973"/>
            <a:ext cx="46196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(3,)</a:t>
            </a:r>
          </a:p>
          <a:p>
            <a:r>
              <a:rPr lang="ko-KR" altLang="en-US" dirty="0"/>
              <a:t>(3, 2)</a:t>
            </a:r>
          </a:p>
          <a:p>
            <a:r>
              <a:rPr lang="ko-KR" altLang="en-US" dirty="0"/>
              <a:t>(2,)</a:t>
            </a:r>
          </a:p>
          <a:p>
            <a:r>
              <a:rPr lang="ko-KR" altLang="en-US" dirty="0"/>
              <a:t>[0.62624937 0.7710107 ]</a:t>
            </a:r>
          </a:p>
        </p:txBody>
      </p:sp>
      <p:pic>
        <p:nvPicPr>
          <p:cNvPr id="9" name="내용 개체 틀 9">
            <a:extLst>
              <a:ext uri="{FF2B5EF4-FFF2-40B4-BE49-F238E27FC236}">
                <a16:creationId xmlns:a16="http://schemas.microsoft.com/office/drawing/2014/main" id="{B9B40DC0-8F8C-4C12-9209-55295F50EA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612" y="1629576"/>
            <a:ext cx="6176668" cy="4207019"/>
          </a:xfrm>
        </p:spPr>
      </p:pic>
    </p:spTree>
    <p:extLst>
      <p:ext uri="{BB962C8B-B14F-4D97-AF65-F5344CB8AC3E}">
        <p14:creationId xmlns:p14="http://schemas.microsoft.com/office/powerpoint/2010/main" val="2097891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5FFC0-5D0F-457D-A212-4FE39785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층에서 </a:t>
            </a:r>
            <a:r>
              <a:rPr lang="en-US" altLang="ko-KR" dirty="0"/>
              <a:t>3</a:t>
            </a:r>
            <a:r>
              <a:rPr lang="ko-KR" altLang="en-US" dirty="0"/>
              <a:t>층으로 신호전달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99BD017-8691-4F98-BF9C-6DE9D06FFB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46" y="1092066"/>
            <a:ext cx="8179220" cy="5207268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733801-8E8E-4AB7-92FF-1003ED400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94874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31DE34-6B73-4961-9B95-54E772963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층에서 </a:t>
            </a:r>
            <a:r>
              <a:rPr lang="en-US" altLang="ko-KR" dirty="0"/>
              <a:t>3</a:t>
            </a:r>
            <a:r>
              <a:rPr lang="ko-KR" altLang="en-US" dirty="0"/>
              <a:t>층으로 신호전달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FD2DD3-9DB1-4ADE-92CE-699E9000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9FFD6A-A8DC-4F18-9448-37FAD7FA4F8D}"/>
              </a:ext>
            </a:extLst>
          </p:cNvPr>
          <p:cNvSpPr txBox="1"/>
          <p:nvPr/>
        </p:nvSpPr>
        <p:spPr>
          <a:xfrm>
            <a:off x="271463" y="1333064"/>
            <a:ext cx="46196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def</a:t>
            </a:r>
            <a:r>
              <a:rPr lang="ko-KR" altLang="en-US" dirty="0"/>
              <a:t> </a:t>
            </a:r>
            <a:r>
              <a:rPr lang="ko-KR" altLang="en-US" dirty="0" err="1"/>
              <a:t>identity_function</a:t>
            </a:r>
            <a:r>
              <a:rPr lang="ko-KR" altLang="en-US" dirty="0"/>
              <a:t>(</a:t>
            </a:r>
            <a:r>
              <a:rPr lang="ko-KR" altLang="en-US" dirty="0" err="1"/>
              <a:t>x</a:t>
            </a:r>
            <a:r>
              <a:rPr lang="ko-KR" altLang="en-US" dirty="0"/>
              <a:t>):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return</a:t>
            </a:r>
            <a:r>
              <a:rPr lang="ko-KR" altLang="en-US" dirty="0"/>
              <a:t> </a:t>
            </a:r>
            <a:r>
              <a:rPr lang="ko-KR" altLang="en-US" dirty="0" err="1"/>
              <a:t>x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W3 = </a:t>
            </a:r>
            <a:r>
              <a:rPr lang="ko-KR" altLang="en-US" dirty="0" err="1"/>
              <a:t>np.array</a:t>
            </a:r>
            <a:r>
              <a:rPr lang="ko-KR" altLang="en-US" dirty="0"/>
              <a:t>([[0.1, 0.3], [0.2, 0.4]])</a:t>
            </a:r>
          </a:p>
          <a:p>
            <a:r>
              <a:rPr lang="ko-KR" altLang="en-US" dirty="0"/>
              <a:t>B3 = </a:t>
            </a:r>
            <a:r>
              <a:rPr lang="ko-KR" altLang="en-US" dirty="0" err="1"/>
              <a:t>np.array</a:t>
            </a:r>
            <a:r>
              <a:rPr lang="ko-KR" altLang="en-US" dirty="0"/>
              <a:t>([0.1, 0.2])</a:t>
            </a:r>
          </a:p>
          <a:p>
            <a:endParaRPr lang="ko-KR" altLang="en-US" dirty="0"/>
          </a:p>
          <a:p>
            <a:r>
              <a:rPr lang="ko-KR" altLang="en-US" dirty="0"/>
              <a:t>A3 = </a:t>
            </a:r>
            <a:r>
              <a:rPr lang="ko-KR" altLang="en-US" dirty="0" err="1"/>
              <a:t>np.dot</a:t>
            </a:r>
            <a:r>
              <a:rPr lang="ko-KR" altLang="en-US" dirty="0"/>
              <a:t>(Z2, W3) + B3</a:t>
            </a:r>
          </a:p>
          <a:p>
            <a:r>
              <a:rPr lang="ko-KR" altLang="en-US" dirty="0" err="1"/>
              <a:t>Y</a:t>
            </a:r>
            <a:r>
              <a:rPr lang="ko-KR" altLang="en-US" dirty="0"/>
              <a:t> = </a:t>
            </a:r>
            <a:r>
              <a:rPr lang="ko-KR" altLang="en-US" dirty="0" err="1"/>
              <a:t>identity_function</a:t>
            </a:r>
            <a:r>
              <a:rPr lang="ko-KR" altLang="en-US" dirty="0"/>
              <a:t>(A3)</a:t>
            </a:r>
          </a:p>
          <a:p>
            <a:r>
              <a:rPr lang="ko-KR" altLang="en-US" dirty="0" err="1"/>
              <a:t>print</a:t>
            </a:r>
            <a:r>
              <a:rPr lang="ko-KR" altLang="en-US" dirty="0"/>
              <a:t>(</a:t>
            </a:r>
            <a:r>
              <a:rPr lang="ko-KR" altLang="en-US" dirty="0" err="1"/>
              <a:t>Y</a:t>
            </a:r>
            <a:r>
              <a:rPr lang="ko-KR" altLang="en-US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9B8CD3-3BBC-4F32-8BD0-DC1C58382E49}"/>
              </a:ext>
            </a:extLst>
          </p:cNvPr>
          <p:cNvSpPr txBox="1"/>
          <p:nvPr/>
        </p:nvSpPr>
        <p:spPr>
          <a:xfrm>
            <a:off x="271463" y="4285536"/>
            <a:ext cx="4619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[0.31682708 0.69627909]</a:t>
            </a:r>
          </a:p>
        </p:txBody>
      </p:sp>
      <p:pic>
        <p:nvPicPr>
          <p:cNvPr id="11" name="내용 개체 틀 5">
            <a:extLst>
              <a:ext uri="{FF2B5EF4-FFF2-40B4-BE49-F238E27FC236}">
                <a16:creationId xmlns:a16="http://schemas.microsoft.com/office/drawing/2014/main" id="{9D98B00E-3ED2-4108-86A8-EBA30350AA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116" y="965915"/>
            <a:ext cx="4548421" cy="2895734"/>
          </a:xfrm>
        </p:spPr>
      </p:pic>
    </p:spTree>
    <p:extLst>
      <p:ext uri="{BB962C8B-B14F-4D97-AF65-F5344CB8AC3E}">
        <p14:creationId xmlns:p14="http://schemas.microsoft.com/office/powerpoint/2010/main" val="2064022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9C26F-3762-469E-A8CC-CCA8088A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657558-C2CC-4E2A-998B-866EA7BE8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E3AC88-A878-4047-B0B4-AD8CCF514E22}"/>
              </a:ext>
            </a:extLst>
          </p:cNvPr>
          <p:cNvSpPr txBox="1"/>
          <p:nvPr/>
        </p:nvSpPr>
        <p:spPr>
          <a:xfrm>
            <a:off x="96128" y="1438019"/>
            <a:ext cx="44304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def</a:t>
            </a:r>
            <a:r>
              <a:rPr lang="ko-KR" altLang="en-US" sz="1400" dirty="0"/>
              <a:t> </a:t>
            </a:r>
            <a:r>
              <a:rPr lang="ko-KR" altLang="en-US" sz="1400" dirty="0" err="1"/>
              <a:t>init_network</a:t>
            </a:r>
            <a:r>
              <a:rPr lang="ko-KR" altLang="en-US" sz="1400" dirty="0"/>
              <a:t>():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network</a:t>
            </a:r>
            <a:r>
              <a:rPr lang="ko-KR" altLang="en-US" sz="1400" dirty="0"/>
              <a:t> = {}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network</a:t>
            </a:r>
            <a:r>
              <a:rPr lang="ko-KR" altLang="en-US" sz="1400" dirty="0"/>
              <a:t>['W1'] = </a:t>
            </a:r>
            <a:r>
              <a:rPr lang="ko-KR" altLang="en-US" sz="1400" dirty="0" err="1"/>
              <a:t>np.array</a:t>
            </a:r>
            <a:r>
              <a:rPr lang="ko-KR" altLang="en-US" sz="1400" dirty="0"/>
              <a:t>([[0.1, 0.3, 0.5], [0.2, 0.4, 0.6]])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network</a:t>
            </a:r>
            <a:r>
              <a:rPr lang="ko-KR" altLang="en-US" sz="1400" dirty="0"/>
              <a:t>['b1'] = </a:t>
            </a:r>
            <a:r>
              <a:rPr lang="ko-KR" altLang="en-US" sz="1400" dirty="0" err="1"/>
              <a:t>np.array</a:t>
            </a:r>
            <a:r>
              <a:rPr lang="ko-KR" altLang="en-US" sz="1400" dirty="0"/>
              <a:t>([0.1, 0.2, 0.3])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network</a:t>
            </a:r>
            <a:r>
              <a:rPr lang="ko-KR" altLang="en-US" sz="1400" dirty="0"/>
              <a:t>['W2'] = </a:t>
            </a:r>
            <a:r>
              <a:rPr lang="ko-KR" altLang="en-US" sz="1400" dirty="0" err="1"/>
              <a:t>np.array</a:t>
            </a:r>
            <a:r>
              <a:rPr lang="ko-KR" altLang="en-US" sz="1400" dirty="0"/>
              <a:t>([[0.1, 0.4], [0.2, 0.5], [0.3, 0.6]])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network</a:t>
            </a:r>
            <a:r>
              <a:rPr lang="ko-KR" altLang="en-US" sz="1400" dirty="0"/>
              <a:t>['b2'] = </a:t>
            </a:r>
            <a:r>
              <a:rPr lang="ko-KR" altLang="en-US" sz="1400" dirty="0" err="1"/>
              <a:t>np.array</a:t>
            </a:r>
            <a:r>
              <a:rPr lang="ko-KR" altLang="en-US" sz="1400" dirty="0"/>
              <a:t>([0.1, 0.2])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network</a:t>
            </a:r>
            <a:r>
              <a:rPr lang="ko-KR" altLang="en-US" sz="1400" dirty="0"/>
              <a:t>['W3'] = </a:t>
            </a:r>
            <a:r>
              <a:rPr lang="ko-KR" altLang="en-US" sz="1400" dirty="0" err="1"/>
              <a:t>np.array</a:t>
            </a:r>
            <a:r>
              <a:rPr lang="ko-KR" altLang="en-US" sz="1400" dirty="0"/>
              <a:t>([[0.1, 0.3], [0.2, 0.4]])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network</a:t>
            </a:r>
            <a:r>
              <a:rPr lang="ko-KR" altLang="en-US" sz="1400" dirty="0"/>
              <a:t>['b3'] = </a:t>
            </a:r>
            <a:r>
              <a:rPr lang="ko-KR" altLang="en-US" sz="1400" dirty="0" err="1"/>
              <a:t>np.array</a:t>
            </a:r>
            <a:r>
              <a:rPr lang="ko-KR" altLang="en-US" sz="1400" dirty="0"/>
              <a:t>([0.1, 0.2])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return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network</a:t>
            </a:r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243B30-7BDF-4F70-9EE8-BA542E0A402B}"/>
              </a:ext>
            </a:extLst>
          </p:cNvPr>
          <p:cNvSpPr txBox="1"/>
          <p:nvPr/>
        </p:nvSpPr>
        <p:spPr>
          <a:xfrm>
            <a:off x="4477325" y="1296586"/>
            <a:ext cx="46196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def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forward</a:t>
            </a:r>
            <a:r>
              <a:rPr lang="ko-KR" altLang="en-US" sz="1400" dirty="0"/>
              <a:t>(</a:t>
            </a:r>
            <a:r>
              <a:rPr lang="ko-KR" altLang="en-US" sz="1400" dirty="0" err="1"/>
              <a:t>network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x</a:t>
            </a:r>
            <a:r>
              <a:rPr lang="ko-KR" altLang="en-US" sz="1400" dirty="0"/>
              <a:t>):</a:t>
            </a:r>
          </a:p>
          <a:p>
            <a:r>
              <a:rPr lang="ko-KR" altLang="en-US" sz="1400" dirty="0"/>
              <a:t>  W1, W2, W3 = </a:t>
            </a:r>
            <a:r>
              <a:rPr lang="ko-KR" altLang="en-US" sz="1400" dirty="0" err="1"/>
              <a:t>network</a:t>
            </a:r>
            <a:r>
              <a:rPr lang="ko-KR" altLang="en-US" sz="1400" dirty="0"/>
              <a:t>['W1'], </a:t>
            </a:r>
            <a:r>
              <a:rPr lang="ko-KR" altLang="en-US" sz="1400" dirty="0" err="1"/>
              <a:t>network</a:t>
            </a:r>
            <a:r>
              <a:rPr lang="ko-KR" altLang="en-US" sz="1400" dirty="0"/>
              <a:t>['W2'], </a:t>
            </a:r>
            <a:r>
              <a:rPr lang="ko-KR" altLang="en-US" sz="1400" dirty="0" err="1"/>
              <a:t>network</a:t>
            </a:r>
            <a:r>
              <a:rPr lang="ko-KR" altLang="en-US" sz="1400" dirty="0"/>
              <a:t>['W3']</a:t>
            </a:r>
          </a:p>
          <a:p>
            <a:r>
              <a:rPr lang="ko-KR" altLang="en-US" sz="1400" dirty="0"/>
              <a:t>  b1, b2, b3 = </a:t>
            </a:r>
            <a:r>
              <a:rPr lang="ko-KR" altLang="en-US" sz="1400" dirty="0" err="1"/>
              <a:t>network</a:t>
            </a:r>
            <a:r>
              <a:rPr lang="ko-KR" altLang="en-US" sz="1400" dirty="0"/>
              <a:t>['b1'], </a:t>
            </a:r>
            <a:r>
              <a:rPr lang="ko-KR" altLang="en-US" sz="1400" dirty="0" err="1"/>
              <a:t>network</a:t>
            </a:r>
            <a:r>
              <a:rPr lang="ko-KR" altLang="en-US" sz="1400" dirty="0"/>
              <a:t>['b2'], </a:t>
            </a:r>
            <a:r>
              <a:rPr lang="ko-KR" altLang="en-US" sz="1400" dirty="0" err="1"/>
              <a:t>network</a:t>
            </a:r>
            <a:r>
              <a:rPr lang="ko-KR" altLang="en-US" sz="1400" dirty="0"/>
              <a:t>['b3']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a1 = </a:t>
            </a:r>
            <a:r>
              <a:rPr lang="ko-KR" altLang="en-US" sz="1400" dirty="0" err="1"/>
              <a:t>np.dot</a:t>
            </a:r>
            <a:r>
              <a:rPr lang="ko-KR" altLang="en-US" sz="1400" dirty="0"/>
              <a:t>(</a:t>
            </a:r>
            <a:r>
              <a:rPr lang="ko-KR" altLang="en-US" sz="1400" dirty="0" err="1"/>
              <a:t>x</a:t>
            </a:r>
            <a:r>
              <a:rPr lang="ko-KR" altLang="en-US" sz="1400" dirty="0"/>
              <a:t>, W1) + b1</a:t>
            </a:r>
          </a:p>
          <a:p>
            <a:r>
              <a:rPr lang="ko-KR" altLang="en-US" sz="1400" dirty="0"/>
              <a:t>  z1 = </a:t>
            </a:r>
            <a:r>
              <a:rPr lang="ko-KR" altLang="en-US" sz="1400" dirty="0" err="1"/>
              <a:t>sigmoid</a:t>
            </a:r>
            <a:r>
              <a:rPr lang="ko-KR" altLang="en-US" sz="1400" dirty="0"/>
              <a:t>(a1)</a:t>
            </a:r>
          </a:p>
          <a:p>
            <a:r>
              <a:rPr lang="ko-KR" altLang="en-US" sz="1400" dirty="0"/>
              <a:t>  a2 = </a:t>
            </a:r>
            <a:r>
              <a:rPr lang="ko-KR" altLang="en-US" sz="1400" dirty="0" err="1"/>
              <a:t>np.dot</a:t>
            </a:r>
            <a:r>
              <a:rPr lang="ko-KR" altLang="en-US" sz="1400" dirty="0"/>
              <a:t>(z1, W2) + b2</a:t>
            </a:r>
          </a:p>
          <a:p>
            <a:r>
              <a:rPr lang="ko-KR" altLang="en-US" sz="1400" dirty="0"/>
              <a:t>  z2 = </a:t>
            </a:r>
            <a:r>
              <a:rPr lang="ko-KR" altLang="en-US" sz="1400" dirty="0" err="1"/>
              <a:t>sigmoid</a:t>
            </a:r>
            <a:r>
              <a:rPr lang="ko-KR" altLang="en-US" sz="1400" dirty="0"/>
              <a:t>(a2)</a:t>
            </a:r>
          </a:p>
          <a:p>
            <a:r>
              <a:rPr lang="ko-KR" altLang="en-US" sz="1400" dirty="0"/>
              <a:t>  a3 = </a:t>
            </a:r>
            <a:r>
              <a:rPr lang="ko-KR" altLang="en-US" sz="1400" dirty="0" err="1"/>
              <a:t>np.dot</a:t>
            </a:r>
            <a:r>
              <a:rPr lang="ko-KR" altLang="en-US" sz="1400" dirty="0"/>
              <a:t>(z2, W3) + b3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y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identity_function</a:t>
            </a:r>
            <a:r>
              <a:rPr lang="ko-KR" altLang="en-US" sz="1400" dirty="0"/>
              <a:t>(a3)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return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y</a:t>
            </a: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ECA5B8-5A55-4368-9EB3-408DE10AFAEB}"/>
              </a:ext>
            </a:extLst>
          </p:cNvPr>
          <p:cNvSpPr txBox="1"/>
          <p:nvPr/>
        </p:nvSpPr>
        <p:spPr>
          <a:xfrm>
            <a:off x="322263" y="4156893"/>
            <a:ext cx="46196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network</a:t>
            </a:r>
            <a:r>
              <a:rPr lang="ko-KR" altLang="en-US" dirty="0"/>
              <a:t> = </a:t>
            </a:r>
            <a:r>
              <a:rPr lang="ko-KR" altLang="en-US" dirty="0" err="1"/>
              <a:t>init_network</a:t>
            </a:r>
            <a:r>
              <a:rPr lang="ko-KR" altLang="en-US" dirty="0"/>
              <a:t>()</a:t>
            </a:r>
          </a:p>
          <a:p>
            <a:r>
              <a:rPr lang="ko-KR" altLang="en-US" dirty="0" err="1"/>
              <a:t>x</a:t>
            </a:r>
            <a:r>
              <a:rPr lang="ko-KR" altLang="en-US" dirty="0"/>
              <a:t> = </a:t>
            </a:r>
            <a:r>
              <a:rPr lang="ko-KR" altLang="en-US" dirty="0" err="1"/>
              <a:t>np.array</a:t>
            </a:r>
            <a:r>
              <a:rPr lang="ko-KR" altLang="en-US" dirty="0"/>
              <a:t>([1.0, 0.5])</a:t>
            </a:r>
          </a:p>
          <a:p>
            <a:r>
              <a:rPr lang="ko-KR" altLang="en-US" dirty="0" err="1"/>
              <a:t>y</a:t>
            </a:r>
            <a:r>
              <a:rPr lang="ko-KR" altLang="en-US" dirty="0"/>
              <a:t> = </a:t>
            </a:r>
            <a:r>
              <a:rPr lang="ko-KR" altLang="en-US" dirty="0" err="1"/>
              <a:t>forward</a:t>
            </a:r>
            <a:r>
              <a:rPr lang="ko-KR" altLang="en-US" dirty="0"/>
              <a:t>(</a:t>
            </a:r>
            <a:r>
              <a:rPr lang="ko-KR" altLang="en-US" dirty="0" err="1"/>
              <a:t>network</a:t>
            </a:r>
            <a:r>
              <a:rPr lang="ko-KR" altLang="en-US" dirty="0"/>
              <a:t>, </a:t>
            </a:r>
            <a:r>
              <a:rPr lang="ko-KR" altLang="en-US" dirty="0" err="1"/>
              <a:t>x</a:t>
            </a:r>
            <a:r>
              <a:rPr lang="ko-KR" altLang="en-US" dirty="0"/>
              <a:t>)</a:t>
            </a:r>
          </a:p>
          <a:p>
            <a:r>
              <a:rPr lang="ko-KR" altLang="en-US" dirty="0" err="1"/>
              <a:t>print</a:t>
            </a:r>
            <a:r>
              <a:rPr lang="ko-KR" altLang="en-US" dirty="0"/>
              <a:t>(</a:t>
            </a:r>
            <a:r>
              <a:rPr lang="ko-KR" altLang="en-US" dirty="0" err="1"/>
              <a:t>y</a:t>
            </a:r>
            <a:r>
              <a:rPr lang="ko-KR" altLang="en-US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D21482-251D-4509-9E58-541E1E5F0869}"/>
              </a:ext>
            </a:extLst>
          </p:cNvPr>
          <p:cNvSpPr txBox="1"/>
          <p:nvPr/>
        </p:nvSpPr>
        <p:spPr>
          <a:xfrm>
            <a:off x="322263" y="5687893"/>
            <a:ext cx="46196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[0.31682708 0.69627909]</a:t>
            </a:r>
          </a:p>
        </p:txBody>
      </p:sp>
    </p:spTree>
    <p:extLst>
      <p:ext uri="{BB962C8B-B14F-4D97-AF65-F5344CB8AC3E}">
        <p14:creationId xmlns:p14="http://schemas.microsoft.com/office/powerpoint/2010/main" val="83021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7A9E2F-3BF4-4374-9029-DF6576B7D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출력층</a:t>
            </a:r>
            <a:r>
              <a:rPr lang="ko-KR" altLang="en-US" dirty="0"/>
              <a:t> 설계하기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2EA457E-960F-4628-A27A-B6D9500F1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03" y="2050979"/>
            <a:ext cx="2057506" cy="2756042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3A367-EB9A-4AC3-BD5D-DE0E98CC0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5269908-F7BB-4D34-82E5-70463FFD7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346" y="2012877"/>
            <a:ext cx="2082907" cy="27941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2D3D0B-40BE-4460-8D31-03B73470419A}"/>
              </a:ext>
            </a:extLst>
          </p:cNvPr>
          <p:cNvSpPr txBox="1"/>
          <p:nvPr/>
        </p:nvSpPr>
        <p:spPr>
          <a:xfrm>
            <a:off x="1678913" y="54546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항등함수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7179A7-7A10-41CA-A7AF-1D7DC8676847}"/>
              </a:ext>
            </a:extLst>
          </p:cNvPr>
          <p:cNvSpPr txBox="1"/>
          <p:nvPr/>
        </p:nvSpPr>
        <p:spPr>
          <a:xfrm>
            <a:off x="5711163" y="5454650"/>
            <a:ext cx="185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소프트맥스</a:t>
            </a:r>
            <a:r>
              <a:rPr lang="ko-KR" altLang="en-US" dirty="0"/>
              <a:t> 함수</a:t>
            </a:r>
          </a:p>
        </p:txBody>
      </p:sp>
    </p:spTree>
    <p:extLst>
      <p:ext uri="{BB962C8B-B14F-4D97-AF65-F5344CB8AC3E}">
        <p14:creationId xmlns:p14="http://schemas.microsoft.com/office/powerpoint/2010/main" val="1573675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C2704-AF3E-4297-8063-71C1E92D9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소프트맥스</a:t>
            </a:r>
            <a:r>
              <a:rPr lang="ko-KR" altLang="en-US" dirty="0"/>
              <a:t> 함수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06D720C-9EF4-40E0-92C0-5230764D34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30" y="965915"/>
            <a:ext cx="2032104" cy="1092256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A30E99-E640-43F1-979F-8E6013A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D0A28C4-17F3-4857-B7A6-2F823F223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150" y="1980416"/>
            <a:ext cx="3202370" cy="2401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486362-C0F0-4A62-8135-BD86F196A875}"/>
              </a:ext>
            </a:extLst>
          </p:cNvPr>
          <p:cNvSpPr txBox="1"/>
          <p:nvPr/>
        </p:nvSpPr>
        <p:spPr>
          <a:xfrm>
            <a:off x="3244850" y="4522479"/>
            <a:ext cx="552888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지수함수의 특징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입력 값 </a:t>
            </a:r>
            <a:r>
              <a:rPr lang="ko-KR" altLang="en-US" sz="1400" dirty="0" err="1"/>
              <a:t>x에</a:t>
            </a:r>
            <a:r>
              <a:rPr lang="ko-KR" altLang="en-US" sz="1400" dirty="0"/>
              <a:t> 변화량에 비해 출력 값 </a:t>
            </a:r>
            <a:r>
              <a:rPr lang="ko-KR" altLang="en-US" sz="1400" dirty="0" err="1"/>
              <a:t>y의</a:t>
            </a:r>
            <a:r>
              <a:rPr lang="ko-KR" altLang="en-US" sz="1400" dirty="0"/>
              <a:t> 변화량이 더 큼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지주함수를 사용한 이유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차이가 얼마 나지 않아도 가장 큰 값이 확실하게 구별될 정도로 크게 나타나게 하기 위해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입력 벡터에서 차이가 k만큼 난다면 </a:t>
            </a:r>
            <a:r>
              <a:rPr lang="ko-KR" altLang="en-US" sz="1400" dirty="0" err="1"/>
              <a:t>softmax</a:t>
            </a:r>
            <a:r>
              <a:rPr lang="ko-KR" altLang="en-US" sz="1400" dirty="0"/>
              <a:t> 확률에서는 </a:t>
            </a:r>
            <a:r>
              <a:rPr lang="ko-KR" altLang="en-US" sz="1400" dirty="0" err="1"/>
              <a:t>e^k만큼</a:t>
            </a:r>
            <a:r>
              <a:rPr lang="ko-KR" altLang="en-US" sz="1400" dirty="0"/>
              <a:t> 차이가 남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29BCD97-1FAE-467B-A511-EE8F8B9DB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539" y="1029136"/>
            <a:ext cx="1655762" cy="65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467F1BB-E4AC-4492-BFB8-CA1863338B75}"/>
              </a:ext>
            </a:extLst>
          </p:cNvPr>
          <p:cNvSpPr txBox="1"/>
          <p:nvPr/>
        </p:nvSpPr>
        <p:spPr>
          <a:xfrm>
            <a:off x="186120" y="2228066"/>
            <a:ext cx="267138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def</a:t>
            </a:r>
            <a:r>
              <a:rPr lang="ko-KR" altLang="en-US" sz="1400" dirty="0"/>
              <a:t> </a:t>
            </a:r>
            <a:r>
              <a:rPr lang="ko-KR" altLang="en-US" sz="1400" dirty="0" err="1"/>
              <a:t>normalize</a:t>
            </a:r>
            <a:r>
              <a:rPr lang="ko-KR" altLang="en-US" sz="1400" dirty="0"/>
              <a:t>(</a:t>
            </a:r>
            <a:r>
              <a:rPr lang="ko-KR" altLang="en-US" sz="1400" dirty="0" err="1"/>
              <a:t>a</a:t>
            </a:r>
            <a:r>
              <a:rPr lang="ko-KR" altLang="en-US" sz="1400" dirty="0"/>
              <a:t>):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sum_exp_a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np.sum</a:t>
            </a:r>
            <a:r>
              <a:rPr lang="ko-KR" altLang="en-US" sz="1400" dirty="0"/>
              <a:t>(</a:t>
            </a:r>
            <a:r>
              <a:rPr lang="ko-KR" altLang="en-US" sz="1400" dirty="0" err="1"/>
              <a:t>a</a:t>
            </a:r>
            <a:r>
              <a:rPr lang="ko-KR" altLang="en-US" sz="1400" dirty="0"/>
              <a:t>)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y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a</a:t>
            </a:r>
            <a:r>
              <a:rPr lang="ko-KR" altLang="en-US" sz="1400" dirty="0"/>
              <a:t> / </a:t>
            </a:r>
            <a:r>
              <a:rPr lang="ko-KR" altLang="en-US" sz="1400" dirty="0" err="1"/>
              <a:t>sum_exp_a</a:t>
            </a:r>
            <a:endParaRPr lang="ko-KR" altLang="en-US" sz="1400" dirty="0"/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return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y</a:t>
            </a:r>
            <a:endParaRPr lang="ko-KR" altLang="en-US" sz="1400" dirty="0"/>
          </a:p>
          <a:p>
            <a:endParaRPr lang="ko-KR" altLang="en-US" sz="1400" dirty="0"/>
          </a:p>
          <a:p>
            <a:r>
              <a:rPr lang="ko-KR" altLang="en-US" sz="1400" dirty="0" err="1"/>
              <a:t>def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softmax</a:t>
            </a:r>
            <a:r>
              <a:rPr lang="ko-KR" altLang="en-US" sz="1400" dirty="0"/>
              <a:t>(</a:t>
            </a:r>
            <a:r>
              <a:rPr lang="ko-KR" altLang="en-US" sz="1400" dirty="0" err="1"/>
              <a:t>a</a:t>
            </a:r>
            <a:r>
              <a:rPr lang="ko-KR" altLang="en-US" sz="1400" dirty="0"/>
              <a:t>):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exp_a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np.exp</a:t>
            </a:r>
            <a:r>
              <a:rPr lang="ko-KR" altLang="en-US" sz="1400" dirty="0"/>
              <a:t>(</a:t>
            </a:r>
            <a:r>
              <a:rPr lang="ko-KR" altLang="en-US" sz="1400" dirty="0" err="1"/>
              <a:t>a</a:t>
            </a:r>
            <a:r>
              <a:rPr lang="ko-KR" altLang="en-US" sz="1400" dirty="0"/>
              <a:t>)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sum_exp_a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np.sum</a:t>
            </a:r>
            <a:r>
              <a:rPr lang="ko-KR" altLang="en-US" sz="1400" dirty="0"/>
              <a:t>(</a:t>
            </a:r>
            <a:r>
              <a:rPr lang="ko-KR" altLang="en-US" sz="1400" dirty="0" err="1"/>
              <a:t>exp_a</a:t>
            </a:r>
            <a:r>
              <a:rPr lang="ko-KR" altLang="en-US" sz="1400" dirty="0"/>
              <a:t>)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y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exp_a</a:t>
            </a:r>
            <a:r>
              <a:rPr lang="ko-KR" altLang="en-US" sz="1400" dirty="0"/>
              <a:t> / </a:t>
            </a:r>
            <a:r>
              <a:rPr lang="ko-KR" altLang="en-US" sz="1400" dirty="0" err="1"/>
              <a:t>sum_exp_a</a:t>
            </a:r>
            <a:endParaRPr lang="ko-KR" altLang="en-US" sz="1400" dirty="0"/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return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y</a:t>
            </a:r>
            <a:endParaRPr lang="ko-KR" altLang="en-US" sz="1400" dirty="0"/>
          </a:p>
          <a:p>
            <a:endParaRPr lang="ko-KR" altLang="en-US" sz="1400" dirty="0"/>
          </a:p>
          <a:p>
            <a:endParaRPr lang="ko-KR" altLang="en-US" sz="1400" dirty="0"/>
          </a:p>
          <a:p>
            <a:r>
              <a:rPr lang="ko-KR" altLang="en-US" sz="1400" dirty="0" err="1"/>
              <a:t>y</a:t>
            </a:r>
            <a:r>
              <a:rPr lang="ko-KR" altLang="en-US" sz="1400" dirty="0"/>
              <a:t> = [3,1,1,1]</a:t>
            </a:r>
          </a:p>
          <a:p>
            <a:r>
              <a:rPr lang="ko-KR" altLang="en-US" sz="1400" dirty="0" err="1"/>
              <a:t>print</a:t>
            </a:r>
            <a:r>
              <a:rPr lang="ko-KR" altLang="en-US" sz="1400" dirty="0"/>
              <a:t>(</a:t>
            </a:r>
            <a:r>
              <a:rPr lang="ko-KR" altLang="en-US" sz="1400" dirty="0" err="1"/>
              <a:t>normalize</a:t>
            </a:r>
            <a:r>
              <a:rPr lang="ko-KR" altLang="en-US" sz="1400" dirty="0"/>
              <a:t>(</a:t>
            </a:r>
            <a:r>
              <a:rPr lang="ko-KR" altLang="en-US" sz="1400" dirty="0" err="1"/>
              <a:t>y</a:t>
            </a:r>
            <a:r>
              <a:rPr lang="ko-KR" altLang="en-US" sz="1400" dirty="0"/>
              <a:t>))</a:t>
            </a:r>
          </a:p>
          <a:p>
            <a:r>
              <a:rPr lang="ko-KR" altLang="en-US" sz="1400" dirty="0" err="1"/>
              <a:t>print</a:t>
            </a:r>
            <a:r>
              <a:rPr lang="ko-KR" altLang="en-US" sz="1400" dirty="0"/>
              <a:t>(</a:t>
            </a:r>
            <a:r>
              <a:rPr lang="ko-KR" altLang="en-US" sz="1400" dirty="0" err="1"/>
              <a:t>softmax</a:t>
            </a:r>
            <a:r>
              <a:rPr lang="ko-KR" altLang="en-US" sz="1400" dirty="0"/>
              <a:t>(</a:t>
            </a:r>
            <a:r>
              <a:rPr lang="ko-KR" altLang="en-US" sz="1400" dirty="0" err="1"/>
              <a:t>y</a:t>
            </a:r>
            <a:r>
              <a:rPr lang="ko-KR" altLang="en-US" sz="1400" dirty="0"/>
              <a:t>))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CD2F48-52A3-4BFF-B424-E02EA43A7F01}"/>
              </a:ext>
            </a:extLst>
          </p:cNvPr>
          <p:cNvSpPr txBox="1"/>
          <p:nvPr/>
        </p:nvSpPr>
        <p:spPr>
          <a:xfrm>
            <a:off x="186120" y="5892085"/>
            <a:ext cx="24935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[0.5        0.16666 0.16666 0.16666]</a:t>
            </a:r>
          </a:p>
          <a:p>
            <a:r>
              <a:rPr lang="ko-KR" altLang="en-US" sz="1200" dirty="0"/>
              <a:t>[0.71123 0.09625 0.09625 0.09625]</a:t>
            </a:r>
          </a:p>
        </p:txBody>
      </p:sp>
    </p:spTree>
    <p:extLst>
      <p:ext uri="{BB962C8B-B14F-4D97-AF65-F5344CB8AC3E}">
        <p14:creationId xmlns:p14="http://schemas.microsoft.com/office/powerpoint/2010/main" val="20721516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867A6C-789A-49C1-AAA0-FFC0ABC0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소프트맥스</a:t>
            </a:r>
            <a:r>
              <a:rPr lang="ko-KR" altLang="en-US" dirty="0"/>
              <a:t>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2CE0B2-7305-4F9E-9037-26844766E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ko-KR" sz="1800" dirty="0"/>
              <a:t>e^10 &gt; 20000, e^100 &gt; 0</a:t>
            </a:r>
            <a:r>
              <a:rPr lang="ko-KR" altLang="en-US" sz="1800" dirty="0"/>
              <a:t>이 </a:t>
            </a:r>
            <a:r>
              <a:rPr lang="en-US" altLang="ko-KR" sz="1800" dirty="0"/>
              <a:t>40</a:t>
            </a:r>
            <a:r>
              <a:rPr lang="ko-KR" altLang="en-US" sz="1800" dirty="0"/>
              <a:t>개</a:t>
            </a:r>
            <a:r>
              <a:rPr lang="en-US" altLang="ko-KR" sz="1800" dirty="0"/>
              <a:t>, e^1000 = </a:t>
            </a:r>
            <a:r>
              <a:rPr lang="ko-KR" altLang="en-US" sz="1800" dirty="0"/>
              <a:t>무한대</a:t>
            </a:r>
            <a:endParaRPr lang="en-US" altLang="ko-KR" sz="1800" dirty="0"/>
          </a:p>
          <a:p>
            <a:pPr algn="just">
              <a:lnSpc>
                <a:spcPct val="100000"/>
              </a:lnSpc>
            </a:pPr>
            <a:r>
              <a:rPr lang="ko-KR" altLang="en-US" sz="1800" dirty="0"/>
              <a:t>큰 값끼리 나눗셈을 하면 결과가 불안정</a:t>
            </a:r>
            <a:endParaRPr lang="en-US" altLang="ko-KR" sz="1800" dirty="0"/>
          </a:p>
          <a:p>
            <a:pPr lvl="1" algn="just">
              <a:lnSpc>
                <a:spcPct val="100000"/>
              </a:lnSpc>
            </a:pPr>
            <a:r>
              <a:rPr lang="ko-KR" altLang="en-US" sz="1600" dirty="0"/>
              <a:t>컴퓨터는 수를 </a:t>
            </a:r>
            <a:r>
              <a:rPr lang="en-US" altLang="ko-KR" sz="1600" dirty="0"/>
              <a:t>4</a:t>
            </a:r>
            <a:r>
              <a:rPr lang="ko-KR" altLang="en-US" sz="1600" dirty="0"/>
              <a:t>바이트</a:t>
            </a:r>
            <a:r>
              <a:rPr lang="en-US" altLang="ko-KR" sz="1600" dirty="0"/>
              <a:t>, 8</a:t>
            </a:r>
            <a:r>
              <a:rPr lang="ko-KR" altLang="en-US" sz="1600" dirty="0"/>
              <a:t>바이트 등 유한한 공간으로 표현하므로 수의 범위가 한정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432E6B-CC33-4975-82DF-FE2E4B114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A09B391-B555-44E5-81A3-822616BEE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29" y="2538881"/>
            <a:ext cx="4065491" cy="3049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FB86F6D-A480-4B6B-92E6-5F7C09084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900" y="317500"/>
            <a:ext cx="2032104" cy="1092256"/>
          </a:xfrm>
          <a:prstGeom prst="rect">
            <a:avLst/>
          </a:prstGeom>
        </p:spPr>
      </p:pic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68ECCC8E-C15C-4E2B-B371-93DF8A65AC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388" y="2438238"/>
            <a:ext cx="4356324" cy="31497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25C65A-0B96-5E5F-F0F6-D5C4EEDF973E}"/>
              </a:ext>
            </a:extLst>
          </p:cNvPr>
          <p:cNvSpPr txBox="1"/>
          <p:nvPr/>
        </p:nvSpPr>
        <p:spPr>
          <a:xfrm>
            <a:off x="4217621" y="5678153"/>
            <a:ext cx="4666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지수함수에 어떤 정수를 더해도 결과는 동일</a:t>
            </a:r>
          </a:p>
        </p:txBody>
      </p:sp>
    </p:spTree>
    <p:extLst>
      <p:ext uri="{BB962C8B-B14F-4D97-AF65-F5344CB8AC3E}">
        <p14:creationId xmlns:p14="http://schemas.microsoft.com/office/powerpoint/2010/main" val="13542487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AA89B-88D0-92F1-5BD9-F1D84CD76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소프트맥스</a:t>
            </a:r>
            <a:r>
              <a:rPr lang="ko-KR" altLang="en-US" dirty="0"/>
              <a:t>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B537E-3295-4A9A-7398-F1D589A3C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E73817-9F50-54A5-08F7-DD2FFEEE6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5C8C62-3E9B-D8E7-6841-BE9C10F1D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430" y="1562910"/>
            <a:ext cx="6967373" cy="3975396"/>
          </a:xfrm>
          <a:prstGeom prst="rect">
            <a:avLst/>
          </a:prstGeom>
        </p:spPr>
      </p:pic>
      <p:pic>
        <p:nvPicPr>
          <p:cNvPr id="7" name="내용 개체 틀 5">
            <a:extLst>
              <a:ext uri="{FF2B5EF4-FFF2-40B4-BE49-F238E27FC236}">
                <a16:creationId xmlns:a16="http://schemas.microsoft.com/office/drawing/2014/main" id="{8B5DBF36-0B0D-1734-899D-5D33619CD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104" y="419787"/>
            <a:ext cx="2032104" cy="109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7188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27F97-A892-4A2D-83E7-4A12303C7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소프트맥스</a:t>
            </a:r>
            <a:r>
              <a:rPr lang="ko-KR" altLang="en-US" dirty="0"/>
              <a:t>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284FB7-D4F3-4783-AE2A-EF629B04E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32B486-8DDB-4D2C-B8F2-3F6F847B6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3CDAE-D87D-45EE-A7C8-A8180EBC18E5}"/>
              </a:ext>
            </a:extLst>
          </p:cNvPr>
          <p:cNvSpPr txBox="1"/>
          <p:nvPr/>
        </p:nvSpPr>
        <p:spPr>
          <a:xfrm>
            <a:off x="426836" y="3567499"/>
            <a:ext cx="34178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def</a:t>
            </a:r>
            <a:r>
              <a:rPr lang="ko-KR" altLang="en-US" dirty="0"/>
              <a:t> </a:t>
            </a:r>
            <a:r>
              <a:rPr lang="ko-KR" altLang="en-US" dirty="0" err="1"/>
              <a:t>softmax</a:t>
            </a:r>
            <a:r>
              <a:rPr lang="ko-KR" altLang="en-US" dirty="0"/>
              <a:t>(</a:t>
            </a:r>
            <a:r>
              <a:rPr lang="ko-KR" altLang="en-US" dirty="0" err="1"/>
              <a:t>a</a:t>
            </a:r>
            <a:r>
              <a:rPr lang="ko-KR" altLang="en-US" dirty="0"/>
              <a:t>):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exp_a</a:t>
            </a:r>
            <a:r>
              <a:rPr lang="ko-KR" altLang="en-US" dirty="0"/>
              <a:t> = </a:t>
            </a:r>
            <a:r>
              <a:rPr lang="ko-KR" altLang="en-US" dirty="0" err="1"/>
              <a:t>np.exp</a:t>
            </a:r>
            <a:r>
              <a:rPr lang="ko-KR" altLang="en-US" dirty="0"/>
              <a:t>(</a:t>
            </a:r>
            <a:r>
              <a:rPr lang="ko-KR" altLang="en-US" dirty="0" err="1"/>
              <a:t>a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sum_exp_a</a:t>
            </a:r>
            <a:r>
              <a:rPr lang="ko-KR" altLang="en-US" dirty="0"/>
              <a:t> = </a:t>
            </a:r>
            <a:r>
              <a:rPr lang="ko-KR" altLang="en-US" dirty="0" err="1"/>
              <a:t>np.sum</a:t>
            </a:r>
            <a:r>
              <a:rPr lang="ko-KR" altLang="en-US" dirty="0"/>
              <a:t>(</a:t>
            </a:r>
            <a:r>
              <a:rPr lang="ko-KR" altLang="en-US" dirty="0" err="1"/>
              <a:t>exp_a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y</a:t>
            </a:r>
            <a:r>
              <a:rPr lang="ko-KR" altLang="en-US" dirty="0"/>
              <a:t> = </a:t>
            </a:r>
            <a:r>
              <a:rPr lang="ko-KR" altLang="en-US" dirty="0" err="1"/>
              <a:t>exp_a</a:t>
            </a:r>
            <a:r>
              <a:rPr lang="ko-KR" altLang="en-US" dirty="0"/>
              <a:t> / </a:t>
            </a:r>
            <a:r>
              <a:rPr lang="ko-KR" altLang="en-US" dirty="0" err="1"/>
              <a:t>sum_exp_a</a:t>
            </a:r>
            <a:endParaRPr lang="ko-KR" altLang="en-US" dirty="0"/>
          </a:p>
          <a:p>
            <a:r>
              <a:rPr lang="ko-KR" altLang="en-US" dirty="0"/>
              <a:t>  </a:t>
            </a:r>
            <a:r>
              <a:rPr lang="ko-KR" altLang="en-US" dirty="0" err="1"/>
              <a:t>return</a:t>
            </a:r>
            <a:r>
              <a:rPr lang="ko-KR" altLang="en-US" dirty="0"/>
              <a:t> </a:t>
            </a:r>
            <a:r>
              <a:rPr lang="ko-KR" altLang="en-US" dirty="0" err="1"/>
              <a:t>y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6FA9F1-0692-4C4F-8AF7-030EA0D304E7}"/>
              </a:ext>
            </a:extLst>
          </p:cNvPr>
          <p:cNvSpPr txBox="1"/>
          <p:nvPr/>
        </p:nvSpPr>
        <p:spPr>
          <a:xfrm>
            <a:off x="4801795" y="3429000"/>
            <a:ext cx="35260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def</a:t>
            </a:r>
            <a:r>
              <a:rPr lang="ko-KR" altLang="en-US" dirty="0"/>
              <a:t> </a:t>
            </a:r>
            <a:r>
              <a:rPr lang="ko-KR" altLang="en-US" dirty="0" err="1"/>
              <a:t>softmax</a:t>
            </a:r>
            <a:r>
              <a:rPr lang="ko-KR" altLang="en-US" dirty="0"/>
              <a:t>(</a:t>
            </a:r>
            <a:r>
              <a:rPr lang="ko-KR" altLang="en-US" dirty="0" err="1"/>
              <a:t>a</a:t>
            </a:r>
            <a:r>
              <a:rPr lang="ko-KR" altLang="en-US" dirty="0"/>
              <a:t>):</a:t>
            </a:r>
          </a:p>
          <a:p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c = </a:t>
            </a:r>
            <a:r>
              <a:rPr lang="ko-KR" altLang="en-US" dirty="0" err="1">
                <a:solidFill>
                  <a:srgbClr val="FF0000"/>
                </a:solidFill>
              </a:rPr>
              <a:t>np.max</a:t>
            </a:r>
            <a:r>
              <a:rPr lang="ko-KR" altLang="en-US" dirty="0">
                <a:solidFill>
                  <a:srgbClr val="FF0000"/>
                </a:solidFill>
              </a:rPr>
              <a:t>(</a:t>
            </a:r>
            <a:r>
              <a:rPr lang="ko-KR" altLang="en-US" dirty="0" err="1">
                <a:solidFill>
                  <a:srgbClr val="FF0000"/>
                </a:solidFill>
              </a:rPr>
              <a:t>a</a:t>
            </a:r>
            <a:r>
              <a:rPr lang="ko-KR" altLang="en-US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exp_a</a:t>
            </a:r>
            <a:r>
              <a:rPr lang="ko-KR" altLang="en-US" dirty="0"/>
              <a:t> = </a:t>
            </a:r>
            <a:r>
              <a:rPr lang="ko-KR" altLang="en-US" dirty="0" err="1"/>
              <a:t>np.exp</a:t>
            </a:r>
            <a:r>
              <a:rPr lang="ko-KR" altLang="en-US" dirty="0"/>
              <a:t>(</a:t>
            </a:r>
            <a:r>
              <a:rPr lang="ko-KR" altLang="en-US" dirty="0" err="1"/>
              <a:t>a</a:t>
            </a:r>
            <a:r>
              <a:rPr lang="ko-KR" altLang="en-US" dirty="0"/>
              <a:t> - </a:t>
            </a:r>
            <a:r>
              <a:rPr lang="ko-KR" altLang="en-US" dirty="0">
                <a:solidFill>
                  <a:srgbClr val="FF0000"/>
                </a:solidFill>
              </a:rPr>
              <a:t>c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sum_exp_a</a:t>
            </a:r>
            <a:r>
              <a:rPr lang="ko-KR" altLang="en-US" dirty="0"/>
              <a:t> = </a:t>
            </a:r>
            <a:r>
              <a:rPr lang="ko-KR" altLang="en-US" dirty="0" err="1"/>
              <a:t>np.sum</a:t>
            </a:r>
            <a:r>
              <a:rPr lang="ko-KR" altLang="en-US" dirty="0"/>
              <a:t>(</a:t>
            </a:r>
            <a:r>
              <a:rPr lang="ko-KR" altLang="en-US" dirty="0" err="1"/>
              <a:t>exp_a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y</a:t>
            </a:r>
            <a:r>
              <a:rPr lang="ko-KR" altLang="en-US" dirty="0"/>
              <a:t> = </a:t>
            </a:r>
            <a:r>
              <a:rPr lang="ko-KR" altLang="en-US" dirty="0" err="1"/>
              <a:t>exp_a</a:t>
            </a:r>
            <a:r>
              <a:rPr lang="ko-KR" altLang="en-US" dirty="0"/>
              <a:t> / </a:t>
            </a:r>
            <a:r>
              <a:rPr lang="ko-KR" altLang="en-US" dirty="0" err="1"/>
              <a:t>sum_exp_a</a:t>
            </a:r>
            <a:endParaRPr lang="ko-KR" altLang="en-US" dirty="0"/>
          </a:p>
          <a:p>
            <a:r>
              <a:rPr lang="ko-KR" altLang="en-US" dirty="0"/>
              <a:t>  </a:t>
            </a:r>
            <a:r>
              <a:rPr lang="ko-KR" altLang="en-US" dirty="0" err="1"/>
              <a:t>return</a:t>
            </a:r>
            <a:r>
              <a:rPr lang="ko-KR" altLang="en-US" dirty="0"/>
              <a:t> </a:t>
            </a:r>
            <a:r>
              <a:rPr lang="ko-KR" altLang="en-US" dirty="0" err="1"/>
              <a:t>y</a:t>
            </a:r>
            <a:endParaRPr lang="ko-KR" altLang="en-US" dirty="0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E9AD119B-0174-B09F-219B-89CA7C31065D}"/>
              </a:ext>
            </a:extLst>
          </p:cNvPr>
          <p:cNvSpPr/>
          <p:nvPr/>
        </p:nvSpPr>
        <p:spPr>
          <a:xfrm>
            <a:off x="3649144" y="399980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2923AD33-9611-6E33-F58F-2530AAF65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963" y="96387"/>
            <a:ext cx="4356324" cy="314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349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07608-EB9A-9DF7-B19F-DEA21C94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소프트맥스</a:t>
            </a:r>
            <a:r>
              <a:rPr lang="ko-KR" altLang="en-US" dirty="0"/>
              <a:t> 함수의 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0440BA-9DF5-74E4-9281-32A7425EE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ko-KR" dirty="0"/>
              <a:t> </a:t>
            </a:r>
            <a:r>
              <a:rPr lang="ko-KR" altLang="en-US" dirty="0" err="1"/>
              <a:t>소프트맥스</a:t>
            </a:r>
            <a:r>
              <a:rPr lang="ko-KR" altLang="en-US" dirty="0"/>
              <a:t> 출력의 총합은 </a:t>
            </a:r>
            <a:r>
              <a:rPr lang="en-US" altLang="ko-KR" dirty="0"/>
              <a:t>1 </a:t>
            </a:r>
            <a:r>
              <a:rPr lang="en-US" altLang="ko-KR" dirty="0">
                <a:sym typeface="Wingdings" panose="05000000000000000000" pitchFamily="2" charset="2"/>
              </a:rPr>
              <a:t> ‘</a:t>
            </a:r>
            <a:r>
              <a:rPr lang="ko-KR" altLang="en-US" dirty="0">
                <a:sym typeface="Wingdings" panose="05000000000000000000" pitchFamily="2" charset="2"/>
              </a:rPr>
              <a:t>확률</a:t>
            </a:r>
            <a:r>
              <a:rPr lang="en-US" altLang="ko-KR" dirty="0">
                <a:sym typeface="Wingdings" panose="05000000000000000000" pitchFamily="2" charset="2"/>
              </a:rPr>
              <a:t>’</a:t>
            </a:r>
            <a:r>
              <a:rPr lang="ko-KR" altLang="en-US" dirty="0">
                <a:sym typeface="Wingdings" panose="05000000000000000000" pitchFamily="2" charset="2"/>
              </a:rPr>
              <a:t>로 해석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ct val="1100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ct val="1100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ct val="1100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ct val="1100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ct val="1100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ct val="110000"/>
              </a:lnSpc>
            </a:pPr>
            <a:r>
              <a:rPr lang="ko-KR" altLang="en-US" dirty="0" err="1"/>
              <a:t>소프트맥스</a:t>
            </a:r>
            <a:r>
              <a:rPr lang="ko-KR" altLang="en-US" dirty="0"/>
              <a:t> 함수를 적용해도 각 원소의 대소 관계는 변하지 않음</a:t>
            </a:r>
            <a:endParaRPr lang="en-US" altLang="ko-KR" dirty="0"/>
          </a:p>
          <a:p>
            <a:pPr>
              <a:lnSpc>
                <a:spcPct val="110000"/>
              </a:lnSpc>
            </a:pPr>
            <a:endParaRPr lang="en-US" altLang="ko-KR" dirty="0"/>
          </a:p>
          <a:p>
            <a:pPr>
              <a:lnSpc>
                <a:spcPct val="110000"/>
              </a:lnSpc>
            </a:pPr>
            <a:r>
              <a:rPr lang="en-US" altLang="ko-KR" dirty="0"/>
              <a:t>‘</a:t>
            </a:r>
            <a:r>
              <a:rPr lang="ko-KR" altLang="en-US" dirty="0"/>
              <a:t>추론</a:t>
            </a:r>
            <a:r>
              <a:rPr lang="en-US" altLang="ko-KR" dirty="0"/>
              <a:t>‘ </a:t>
            </a:r>
            <a:r>
              <a:rPr lang="ko-KR" altLang="en-US" dirty="0"/>
              <a:t>단계에서는 출력층의 </a:t>
            </a:r>
            <a:r>
              <a:rPr lang="ko-KR" altLang="en-US" dirty="0" err="1"/>
              <a:t>소프트맥스</a:t>
            </a:r>
            <a:r>
              <a:rPr lang="ko-KR" altLang="en-US" dirty="0"/>
              <a:t> 함수를 생략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ko-KR" altLang="en-US" dirty="0"/>
              <a:t>지수함수 계산에 드는 자원 낭비를 줄이고자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31D3B4-5939-3170-088F-3AE55E57B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E078500-E9F8-A56F-4442-5FA0831BA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60" y="1449343"/>
            <a:ext cx="2950312" cy="218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2943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3200" dirty="0"/>
              <a:t>THE MNIST DATABASE of handwritten digits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ko-KR" sz="2000" dirty="0">
                <a:hlinkClick r:id="rId2"/>
              </a:rPr>
              <a:t>http://yann.lecun.com/exdb/mnist/</a:t>
            </a:r>
            <a:endParaRPr lang="en-US" altLang="ko-KR" sz="2000" dirty="0"/>
          </a:p>
          <a:p>
            <a:pPr algn="just"/>
            <a:r>
              <a:rPr lang="en-US" altLang="ko-KR" sz="2000" dirty="0"/>
              <a:t>a training set of 55,000 examples, and a test set of 10,000 examples</a:t>
            </a:r>
          </a:p>
          <a:p>
            <a:pPr algn="just"/>
            <a:endParaRPr lang="en-US" altLang="ko-KR" sz="2000" dirty="0"/>
          </a:p>
          <a:p>
            <a:pPr algn="just"/>
            <a:r>
              <a:rPr lang="en-US" altLang="ko-KR" sz="1050" dirty="0"/>
              <a:t>train-images-idx3-ubyte.gz:  training set images (9M bytes)</a:t>
            </a:r>
          </a:p>
          <a:p>
            <a:pPr algn="just"/>
            <a:r>
              <a:rPr lang="en-US" altLang="ko-KR" sz="1050" dirty="0"/>
              <a:t>train-labels-idx1-ubyte.gz:  training set labels (28K bytes)</a:t>
            </a:r>
          </a:p>
          <a:p>
            <a:pPr algn="just"/>
            <a:r>
              <a:rPr lang="en-US" altLang="ko-KR" sz="1050" dirty="0"/>
              <a:t>t10k-images-idx3-ubyte.gz:   test set images (1M bytes)</a:t>
            </a:r>
          </a:p>
          <a:p>
            <a:pPr algn="just"/>
            <a:r>
              <a:rPr lang="en-US" altLang="ko-KR" sz="1050" dirty="0"/>
              <a:t>t10k-labels-idx1-ubyte.gz:   test set labels (4K bytes)</a:t>
            </a:r>
            <a:endParaRPr lang="ko-KR" altLang="en-US" sz="1050" dirty="0"/>
          </a:p>
        </p:txBody>
      </p:sp>
      <p:pic>
        <p:nvPicPr>
          <p:cNvPr id="5" name="Picture 5" descr="mnist에 대한 이미지 검색결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163" y="1854930"/>
            <a:ext cx="3514075" cy="260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pic>
        <p:nvPicPr>
          <p:cNvPr id="7" name="Picture 2" descr="https://docs.ncloud.com/ko/tensorflow/images/tensorflow-1-3-102.png">
            <a:extLst>
              <a:ext uri="{FF2B5EF4-FFF2-40B4-BE49-F238E27FC236}">
                <a16:creationId xmlns:a16="http://schemas.microsoft.com/office/drawing/2014/main" id="{94F4FE9D-5F42-4D06-9DD1-666B274DB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163" y="4717155"/>
            <a:ext cx="3895725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s://tensorflowkorea.gitbooks.io/tensorflow-kr/content/g3doc/images/mnist-train-xs.png">
            <a:extLst>
              <a:ext uri="{FF2B5EF4-FFF2-40B4-BE49-F238E27FC236}">
                <a16:creationId xmlns:a16="http://schemas.microsoft.com/office/drawing/2014/main" id="{6E389F5D-2034-44AF-BD90-403BB55E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838" y="3840384"/>
            <a:ext cx="3032545" cy="137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3736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2504D-B3B1-4ED8-B9D5-83CE0211B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MNIST</a:t>
            </a:r>
            <a:r>
              <a:rPr lang="ko-KR" altLang="en-US" dirty="0"/>
              <a:t>에 대한 인공신경망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5BCD02-9BD6-4353-823E-8F67520FE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051E14-D8B1-42C0-80E8-2747E505C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055" y="1511465"/>
            <a:ext cx="6981889" cy="404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449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F5E05D-D5B5-0A99-22DF-3FE8529E9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MNIST </a:t>
            </a:r>
            <a:r>
              <a:rPr lang="ko-KR" altLang="en-US" dirty="0"/>
              <a:t>데이터셋 로드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5BF945-52F6-0AA1-BA00-4C1B65200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CA2F48-6866-2B42-FBF2-32E1DB7A0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4DA7433-35C3-8404-B91B-B3B54237B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674" y="1571353"/>
            <a:ext cx="6251724" cy="4249767"/>
          </a:xfrm>
          <a:prstGeom prst="rect">
            <a:avLst/>
          </a:prstGeom>
        </p:spPr>
      </p:pic>
      <p:pic>
        <p:nvPicPr>
          <p:cNvPr id="7" name="Picture 2" descr="https://tensorflowkorea.gitbooks.io/tensorflow-kr/content/g3doc/images/mnist-train-xs.png">
            <a:extLst>
              <a:ext uri="{FF2B5EF4-FFF2-40B4-BE49-F238E27FC236}">
                <a16:creationId xmlns:a16="http://schemas.microsoft.com/office/drawing/2014/main" id="{87B6514B-E452-AEEE-E262-B822DE458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81" y="4493655"/>
            <a:ext cx="3032545" cy="137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56522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717B8D-6328-4F65-8403-009523D10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MNIST </a:t>
            </a:r>
            <a:r>
              <a:rPr lang="ko-KR" altLang="en-US" dirty="0"/>
              <a:t>이미지 로드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15F1F6-B488-4ED5-BA74-7F5D4605C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F042F39-6A64-4ECA-A22A-CF27BA9FC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335" y="107548"/>
            <a:ext cx="2620203" cy="301978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ED655F4-2900-9CF8-CBE2-D32F0CFDF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57" y="1167319"/>
            <a:ext cx="5083618" cy="491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7462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AEC94-B4D5-1BD9-54AD-CFAD6B85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MNIST </a:t>
            </a:r>
            <a:r>
              <a:rPr lang="ko-KR" altLang="en-US" dirty="0"/>
              <a:t>이미지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149284-6416-8C15-2203-77A3847C2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9D1ED5-7B74-C970-7162-E1DFC2100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EF088B-E824-5C6C-13BE-4A3495466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87" y="1238033"/>
            <a:ext cx="6635432" cy="491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6137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DAD0B-2B02-7ECA-D39F-CBB86C111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MNIST </a:t>
            </a:r>
            <a:r>
              <a:rPr lang="ko-KR" altLang="en-US" dirty="0"/>
              <a:t>이미지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FE7A3A3-2CCB-B85F-06E7-F89911C80B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077" y="2948224"/>
            <a:ext cx="8850313" cy="3077319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C591C4-5E79-2A88-0BAA-32E5C7DF9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197249D-D2DA-8BE4-45F0-D7D3B74D8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2" y="1352021"/>
            <a:ext cx="5521058" cy="148284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FCFFEAF-E971-043A-5314-24F123BB47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059"/>
          <a:stretch/>
        </p:blipFill>
        <p:spPr>
          <a:xfrm>
            <a:off x="6518315" y="525294"/>
            <a:ext cx="2272250" cy="209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3029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02940-B87F-4E46-9A58-640748AC9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신경망 추론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C7821E-F2BB-4EBE-8059-764AEE8A3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E21335-73DC-E9F4-8C5D-45C9A4446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6" y="1104835"/>
            <a:ext cx="6965004" cy="464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6445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CBE40-06A5-4318-9EB0-96D13AB7D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신경망 추론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906B41-9776-4114-B0D4-DAC1A28D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E7EACE-5E5F-C88B-9C1C-3D2FBBE08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446" y="1044101"/>
            <a:ext cx="5517457" cy="559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7110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D00E79-1ADA-4876-B820-BAC18F61A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배치 처리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FF006F-E21D-42BB-A4A2-D2CBC0A46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2BE7F81-F13F-436C-A479-BE56D1183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79" y="965915"/>
            <a:ext cx="4614702" cy="508756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506B3CF-5732-44E9-8FBE-6B02FC8EFA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426" y="2468159"/>
            <a:ext cx="5327215" cy="1041539"/>
          </a:xfrm>
          <a:prstGeom prst="rect">
            <a:avLst/>
          </a:prstGeom>
        </p:spPr>
      </p:pic>
      <p:pic>
        <p:nvPicPr>
          <p:cNvPr id="12" name="그림 11" descr="텍스트이(가) 표시된 사진&#10;&#10;자동 생성된 설명">
            <a:extLst>
              <a:ext uri="{FF2B5EF4-FFF2-40B4-BE49-F238E27FC236}">
                <a16:creationId xmlns:a16="http://schemas.microsoft.com/office/drawing/2014/main" id="{BC013F59-92C8-4C12-AE32-145E496A15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426" y="4495913"/>
            <a:ext cx="5607254" cy="9706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7AFAEC8-2AD4-4F2E-B42B-DE47EB0EEF3F}"/>
              </a:ext>
            </a:extLst>
          </p:cNvPr>
          <p:cNvSpPr txBox="1"/>
          <p:nvPr/>
        </p:nvSpPr>
        <p:spPr>
          <a:xfrm>
            <a:off x="4132823" y="1992942"/>
            <a:ext cx="2704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신경망 각 층의 배열 형상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A54F08-D422-4A10-9830-2E852B917162}"/>
              </a:ext>
            </a:extLst>
          </p:cNvPr>
          <p:cNvSpPr txBox="1"/>
          <p:nvPr/>
        </p:nvSpPr>
        <p:spPr>
          <a:xfrm>
            <a:off x="2234106" y="4012421"/>
            <a:ext cx="707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배치 처리를 위한 배열들의 형상</a:t>
            </a:r>
            <a:r>
              <a:rPr lang="en-US" altLang="ko-KR" dirty="0"/>
              <a:t>: 100</a:t>
            </a:r>
            <a:r>
              <a:rPr lang="ko-KR" altLang="en-US" dirty="0"/>
              <a:t>장을 하나의 입력 데이터로 표현</a:t>
            </a:r>
          </a:p>
        </p:txBody>
      </p:sp>
      <p:pic>
        <p:nvPicPr>
          <p:cNvPr id="11" name="내용 개체 틀 5">
            <a:extLst>
              <a:ext uri="{FF2B5EF4-FFF2-40B4-BE49-F238E27FC236}">
                <a16:creationId xmlns:a16="http://schemas.microsoft.com/office/drawing/2014/main" id="{0E954687-7306-86F3-2F67-4318AA4DA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903" y="170411"/>
            <a:ext cx="2882811" cy="1591008"/>
          </a:xfrm>
        </p:spPr>
      </p:pic>
    </p:spTree>
    <p:extLst>
      <p:ext uri="{BB962C8B-B14F-4D97-AF65-F5344CB8AC3E}">
        <p14:creationId xmlns:p14="http://schemas.microsoft.com/office/powerpoint/2010/main" val="3836385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9AC2A-AF2D-48E4-AFD2-BE03F717A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배치 처리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AA4559-EDE6-44B9-AB20-01AF8EE5D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4B1451-3DD4-48C3-BB72-47F4AD7FD1AE}"/>
              </a:ext>
            </a:extLst>
          </p:cNvPr>
          <p:cNvSpPr txBox="1"/>
          <p:nvPr/>
        </p:nvSpPr>
        <p:spPr>
          <a:xfrm>
            <a:off x="152130" y="965915"/>
            <a:ext cx="513107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batch_size</a:t>
            </a:r>
            <a:r>
              <a:rPr lang="ko-KR" altLang="en-US" dirty="0">
                <a:solidFill>
                  <a:srgbClr val="FF0000"/>
                </a:solidFill>
              </a:rPr>
              <a:t> = 100</a:t>
            </a:r>
          </a:p>
          <a:p>
            <a:r>
              <a:rPr lang="ko-KR" altLang="en-US" dirty="0" err="1"/>
              <a:t>accuracy_cnt</a:t>
            </a:r>
            <a:r>
              <a:rPr lang="ko-KR" altLang="en-US" dirty="0"/>
              <a:t> = 0</a:t>
            </a:r>
          </a:p>
          <a:p>
            <a:r>
              <a:rPr lang="ko-KR" altLang="en-US" dirty="0" err="1"/>
              <a:t>for</a:t>
            </a:r>
            <a:r>
              <a:rPr lang="ko-KR" altLang="en-US" dirty="0"/>
              <a:t> </a:t>
            </a:r>
            <a:r>
              <a:rPr lang="ko-KR" altLang="en-US" dirty="0" err="1"/>
              <a:t>i</a:t>
            </a:r>
            <a:r>
              <a:rPr lang="ko-KR" altLang="en-US" dirty="0"/>
              <a:t> </a:t>
            </a:r>
            <a:r>
              <a:rPr lang="ko-KR" altLang="en-US" dirty="0" err="1"/>
              <a:t>in</a:t>
            </a:r>
            <a:r>
              <a:rPr lang="ko-KR" altLang="en-US" dirty="0"/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range</a:t>
            </a:r>
            <a:r>
              <a:rPr lang="ko-KR" altLang="en-US" dirty="0">
                <a:solidFill>
                  <a:srgbClr val="FF0000"/>
                </a:solidFill>
              </a:rPr>
              <a:t>(0, </a:t>
            </a:r>
            <a:r>
              <a:rPr lang="ko-KR" altLang="en-US" dirty="0" err="1">
                <a:solidFill>
                  <a:srgbClr val="FF0000"/>
                </a:solidFill>
              </a:rPr>
              <a:t>len</a:t>
            </a:r>
            <a:r>
              <a:rPr lang="ko-KR" altLang="en-US" dirty="0">
                <a:solidFill>
                  <a:srgbClr val="FF0000"/>
                </a:solidFill>
              </a:rPr>
              <a:t>(</a:t>
            </a:r>
            <a:r>
              <a:rPr lang="ko-KR" altLang="en-US" dirty="0" err="1">
                <a:solidFill>
                  <a:srgbClr val="FF0000"/>
                </a:solidFill>
              </a:rPr>
              <a:t>x</a:t>
            </a:r>
            <a:r>
              <a:rPr lang="ko-KR" altLang="en-US" dirty="0">
                <a:solidFill>
                  <a:srgbClr val="FF0000"/>
                </a:solidFill>
              </a:rPr>
              <a:t>), </a:t>
            </a:r>
            <a:r>
              <a:rPr lang="ko-KR" altLang="en-US" dirty="0" err="1">
                <a:solidFill>
                  <a:srgbClr val="FF0000"/>
                </a:solidFill>
              </a:rPr>
              <a:t>batch_size</a:t>
            </a:r>
            <a:r>
              <a:rPr lang="ko-KR" altLang="en-US" dirty="0">
                <a:solidFill>
                  <a:srgbClr val="FF0000"/>
                </a:solidFill>
              </a:rPr>
              <a:t>)</a:t>
            </a:r>
            <a:r>
              <a:rPr lang="ko-KR" altLang="en-US" dirty="0"/>
              <a:t>:</a:t>
            </a:r>
          </a:p>
          <a:p>
            <a:r>
              <a:rPr lang="ko-KR" altLang="en-US" dirty="0"/>
              <a:t>  </a:t>
            </a:r>
            <a:r>
              <a:rPr lang="ko-KR" altLang="en-US" dirty="0" err="1">
                <a:solidFill>
                  <a:srgbClr val="FF0000"/>
                </a:solidFill>
              </a:rPr>
              <a:t>x_batch</a:t>
            </a:r>
            <a:r>
              <a:rPr lang="ko-KR" altLang="en-US" dirty="0">
                <a:solidFill>
                  <a:srgbClr val="FF0000"/>
                </a:solidFill>
              </a:rPr>
              <a:t> = </a:t>
            </a:r>
            <a:r>
              <a:rPr lang="ko-KR" altLang="en-US" dirty="0" err="1">
                <a:solidFill>
                  <a:srgbClr val="FF0000"/>
                </a:solidFill>
              </a:rPr>
              <a:t>x</a:t>
            </a:r>
            <a:r>
              <a:rPr lang="ko-KR" altLang="en-US" dirty="0">
                <a:solidFill>
                  <a:srgbClr val="FF0000"/>
                </a:solidFill>
              </a:rPr>
              <a:t>[</a:t>
            </a:r>
            <a:r>
              <a:rPr lang="ko-KR" altLang="en-US" dirty="0" err="1">
                <a:solidFill>
                  <a:srgbClr val="FF0000"/>
                </a:solidFill>
              </a:rPr>
              <a:t>i:i+batch_size</a:t>
            </a:r>
            <a:r>
              <a:rPr lang="ko-KR" altLang="en-US" dirty="0">
                <a:solidFill>
                  <a:srgbClr val="FF0000"/>
                </a:solidFill>
              </a:rPr>
              <a:t>]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y_batch</a:t>
            </a:r>
            <a:r>
              <a:rPr lang="ko-KR" altLang="en-US" dirty="0"/>
              <a:t> = </a:t>
            </a:r>
            <a:r>
              <a:rPr lang="ko-KR" altLang="en-US" dirty="0" err="1"/>
              <a:t>predict</a:t>
            </a:r>
            <a:r>
              <a:rPr lang="ko-KR" altLang="en-US" dirty="0"/>
              <a:t>(</a:t>
            </a:r>
            <a:r>
              <a:rPr lang="ko-KR" altLang="en-US" dirty="0" err="1"/>
              <a:t>network</a:t>
            </a:r>
            <a:r>
              <a:rPr lang="ko-KR" altLang="en-US" dirty="0"/>
              <a:t>, </a:t>
            </a:r>
            <a:r>
              <a:rPr lang="ko-KR" altLang="en-US" dirty="0" err="1">
                <a:solidFill>
                  <a:srgbClr val="FF0000"/>
                </a:solidFill>
              </a:rPr>
              <a:t>x_batch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p</a:t>
            </a:r>
            <a:r>
              <a:rPr lang="ko-KR" altLang="en-US" dirty="0"/>
              <a:t>= </a:t>
            </a:r>
            <a:r>
              <a:rPr lang="ko-KR" altLang="en-US" dirty="0" err="1"/>
              <a:t>np.argmax</a:t>
            </a:r>
            <a:r>
              <a:rPr lang="ko-KR" altLang="en-US" dirty="0"/>
              <a:t>(</a:t>
            </a:r>
            <a:r>
              <a:rPr lang="ko-KR" altLang="en-US" dirty="0" err="1"/>
              <a:t>y_batch</a:t>
            </a:r>
            <a:r>
              <a:rPr lang="ko-KR" altLang="en-US" dirty="0"/>
              <a:t>, </a:t>
            </a:r>
            <a:r>
              <a:rPr lang="ko-KR" altLang="en-US" dirty="0" err="1"/>
              <a:t>axis</a:t>
            </a:r>
            <a:r>
              <a:rPr lang="ko-KR" altLang="en-US" dirty="0"/>
              <a:t> = 1)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accuracy_cnt</a:t>
            </a:r>
            <a:r>
              <a:rPr lang="ko-KR" altLang="en-US" dirty="0"/>
              <a:t> += </a:t>
            </a:r>
            <a:r>
              <a:rPr lang="ko-KR" altLang="en-US" dirty="0" err="1"/>
              <a:t>np.sum</a:t>
            </a:r>
            <a:r>
              <a:rPr lang="ko-KR" altLang="en-US" dirty="0"/>
              <a:t>(</a:t>
            </a:r>
            <a:r>
              <a:rPr lang="ko-KR" altLang="en-US" dirty="0" err="1"/>
              <a:t>p</a:t>
            </a:r>
            <a:r>
              <a:rPr lang="ko-KR" altLang="en-US" dirty="0"/>
              <a:t> == </a:t>
            </a:r>
            <a:r>
              <a:rPr lang="ko-KR" altLang="en-US" dirty="0" err="1"/>
              <a:t>t</a:t>
            </a:r>
            <a:r>
              <a:rPr lang="ko-KR" altLang="en-US" dirty="0"/>
              <a:t>[</a:t>
            </a:r>
            <a:r>
              <a:rPr lang="ko-KR" altLang="en-US" dirty="0" err="1"/>
              <a:t>i:i+batch_size</a:t>
            </a:r>
            <a:r>
              <a:rPr lang="ko-KR" altLang="en-US" dirty="0"/>
              <a:t>])</a:t>
            </a:r>
          </a:p>
          <a:p>
            <a:endParaRPr lang="ko-KR" altLang="en-US" dirty="0"/>
          </a:p>
          <a:p>
            <a:r>
              <a:rPr lang="ko-KR" altLang="en-US" dirty="0" err="1"/>
              <a:t>print</a:t>
            </a:r>
            <a:r>
              <a:rPr lang="ko-KR" altLang="en-US" dirty="0"/>
              <a:t>("</a:t>
            </a:r>
            <a:r>
              <a:rPr lang="ko-KR" altLang="en-US" dirty="0" err="1"/>
              <a:t>Accuracy</a:t>
            </a:r>
            <a:r>
              <a:rPr lang="ko-KR" altLang="en-US" dirty="0"/>
              <a:t>:" + </a:t>
            </a:r>
            <a:r>
              <a:rPr lang="ko-KR" altLang="en-US" dirty="0" err="1"/>
              <a:t>str</a:t>
            </a:r>
            <a:r>
              <a:rPr lang="ko-KR" altLang="en-US" dirty="0"/>
              <a:t>(</a:t>
            </a:r>
            <a:r>
              <a:rPr lang="ko-KR" altLang="en-US" dirty="0" err="1"/>
              <a:t>float</a:t>
            </a:r>
            <a:r>
              <a:rPr lang="ko-KR" altLang="en-US" dirty="0"/>
              <a:t>(</a:t>
            </a:r>
            <a:r>
              <a:rPr lang="ko-KR" altLang="en-US" dirty="0" err="1"/>
              <a:t>accuracy_cnt</a:t>
            </a:r>
            <a:r>
              <a:rPr lang="ko-KR" altLang="en-US" dirty="0"/>
              <a:t>) / </a:t>
            </a:r>
            <a:r>
              <a:rPr lang="ko-KR" altLang="en-US" dirty="0" err="1"/>
              <a:t>len</a:t>
            </a:r>
            <a:r>
              <a:rPr lang="ko-KR" altLang="en-US" dirty="0"/>
              <a:t>(</a:t>
            </a:r>
            <a:r>
              <a:rPr lang="ko-KR" altLang="en-US" dirty="0" err="1"/>
              <a:t>x</a:t>
            </a:r>
            <a:r>
              <a:rPr lang="ko-KR" altLang="en-US" dirty="0"/>
              <a:t>)))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3E4306A-D057-4124-BB54-E9F83A2890AA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3274979" y="1433276"/>
            <a:ext cx="1556694" cy="11186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6908CCE-4CC5-485D-8688-C9A916F13EC4}"/>
              </a:ext>
            </a:extLst>
          </p:cNvPr>
          <p:cNvCxnSpPr>
            <a:cxnSpLocks/>
          </p:cNvCxnSpPr>
          <p:nvPr/>
        </p:nvCxnSpPr>
        <p:spPr>
          <a:xfrm>
            <a:off x="3022600" y="2914650"/>
            <a:ext cx="1428750" cy="18931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9B8DAA2-149B-4B70-9E4B-CD71BEC88035}"/>
              </a:ext>
            </a:extLst>
          </p:cNvPr>
          <p:cNvCxnSpPr>
            <a:cxnSpLocks/>
          </p:cNvCxnSpPr>
          <p:nvPr/>
        </p:nvCxnSpPr>
        <p:spPr>
          <a:xfrm flipH="1">
            <a:off x="1393893" y="1784350"/>
            <a:ext cx="1323773" cy="27559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BCD86900-267D-1CEB-0727-8AF8B8D90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673" y="75888"/>
            <a:ext cx="4093523" cy="27147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5367F61-468C-15DD-0AD9-2C9E4DFE4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350" y="4327863"/>
            <a:ext cx="1800991" cy="168524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5BF7A8A-73CC-9C0B-BC99-905BA82A5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31" y="4540250"/>
            <a:ext cx="2362034" cy="179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192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17378</TotalTime>
  <Words>1437</Words>
  <Application>Microsoft Office PowerPoint</Application>
  <PresentationFormat>화면 슬라이드 쇼(4:3)</PresentationFormat>
  <Paragraphs>261</Paragraphs>
  <Slides>44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1" baseType="lpstr">
      <vt:lpstr>맑은 고딕</vt:lpstr>
      <vt:lpstr>Arial</vt:lpstr>
      <vt:lpstr>Calibri</vt:lpstr>
      <vt:lpstr>Calibri Light</vt:lpstr>
      <vt:lpstr>Cambria Math</vt:lpstr>
      <vt:lpstr>Wingdings</vt:lpstr>
      <vt:lpstr>Office 테마</vt:lpstr>
      <vt:lpstr>신경망</vt:lpstr>
      <vt:lpstr>신경망의 예</vt:lpstr>
      <vt:lpstr>편향을 명시한 퍼셉트론</vt:lpstr>
      <vt:lpstr>활성화 함수</vt:lpstr>
      <vt:lpstr>계단함수</vt:lpstr>
      <vt:lpstr>계단함수</vt:lpstr>
      <vt:lpstr>시그모이드(Sigmoid) 함수</vt:lpstr>
      <vt:lpstr>시그모이드(Sigmoid) 함수</vt:lpstr>
      <vt:lpstr>시그모이도와 계단 함수 비교</vt:lpstr>
      <vt:lpstr>선형 함수</vt:lpstr>
      <vt:lpstr>비선형 함수</vt:lpstr>
      <vt:lpstr>활성화 함수로 선형함수를 사용?</vt:lpstr>
      <vt:lpstr>ReLU(Rectified Linear Unit)</vt:lpstr>
      <vt:lpstr>다차원 배열의 계산</vt:lpstr>
      <vt:lpstr>행렬의 곱</vt:lpstr>
      <vt:lpstr>행렬의 곱</vt:lpstr>
      <vt:lpstr>행렬의 곱</vt:lpstr>
      <vt:lpstr>행렬의 곱</vt:lpstr>
      <vt:lpstr>신경망에서의 행렬 곱</vt:lpstr>
      <vt:lpstr>3층 신경망 구현하기</vt:lpstr>
      <vt:lpstr>표기법</vt:lpstr>
      <vt:lpstr>입력층에서 1층으로 신호 전달</vt:lpstr>
      <vt:lpstr>입력층에서 1층으로 신호전달</vt:lpstr>
      <vt:lpstr>활성화 함수 추가</vt:lpstr>
      <vt:lpstr>1층에서 2층으로 신호 전달</vt:lpstr>
      <vt:lpstr>2층에서 3층으로 신호전달</vt:lpstr>
      <vt:lpstr>2층에서 3층으로 신호전달</vt:lpstr>
      <vt:lpstr>정리</vt:lpstr>
      <vt:lpstr>출력층 설계하기</vt:lpstr>
      <vt:lpstr>소프트맥스 함수</vt:lpstr>
      <vt:lpstr>소프트맥스 함수</vt:lpstr>
      <vt:lpstr>소프트맥스 함수</vt:lpstr>
      <vt:lpstr>소프트맥스 함수</vt:lpstr>
      <vt:lpstr>소프트맥스 함수의 특징</vt:lpstr>
      <vt:lpstr>THE MNIST DATABASE of handwritten digits</vt:lpstr>
      <vt:lpstr>MNIST에 대한 인공신경망</vt:lpstr>
      <vt:lpstr>MNIST 데이터셋 로드</vt:lpstr>
      <vt:lpstr>MNIST 이미지 로드</vt:lpstr>
      <vt:lpstr>MNIST 이미지</vt:lpstr>
      <vt:lpstr>MNIST 이미지</vt:lpstr>
      <vt:lpstr>신경망 추론</vt:lpstr>
      <vt:lpstr>신경망 추론</vt:lpstr>
      <vt:lpstr>배치 처리</vt:lpstr>
      <vt:lpstr>배치 처리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Techniques for 2-hop Labeling of Dynamic Directed Acyclic Graphs</dc:title>
  <dc:creator>Windows 사용자</dc:creator>
  <cp:lastModifiedBy>안진현</cp:lastModifiedBy>
  <cp:revision>640</cp:revision>
  <cp:lastPrinted>2016-10-13T23:42:19Z</cp:lastPrinted>
  <dcterms:created xsi:type="dcterms:W3CDTF">2016-09-30T16:23:03Z</dcterms:created>
  <dcterms:modified xsi:type="dcterms:W3CDTF">2026-09-08T02:42:05Z</dcterms:modified>
</cp:coreProperties>
</file>